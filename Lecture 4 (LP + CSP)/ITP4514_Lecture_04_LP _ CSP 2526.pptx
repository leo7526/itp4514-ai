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3"/>
  </p:notesMasterIdLst>
  <p:sldIdLst>
    <p:sldId id="261" r:id="rId2"/>
    <p:sldId id="350" r:id="rId3"/>
    <p:sldId id="269" r:id="rId4"/>
    <p:sldId id="342" r:id="rId5"/>
    <p:sldId id="343" r:id="rId6"/>
    <p:sldId id="344" r:id="rId7"/>
    <p:sldId id="345" r:id="rId8"/>
    <p:sldId id="346" r:id="rId9"/>
    <p:sldId id="290" r:id="rId10"/>
    <p:sldId id="347" r:id="rId11"/>
    <p:sldId id="348" r:id="rId12"/>
    <p:sldId id="349" r:id="rId13"/>
    <p:sldId id="351" r:id="rId14"/>
    <p:sldId id="352" r:id="rId15"/>
    <p:sldId id="295" r:id="rId16"/>
    <p:sldId id="296" r:id="rId17"/>
    <p:sldId id="298" r:id="rId18"/>
    <p:sldId id="297" r:id="rId19"/>
    <p:sldId id="291" r:id="rId20"/>
    <p:sldId id="292" r:id="rId21"/>
    <p:sldId id="293" r:id="rId22"/>
    <p:sldId id="310" r:id="rId23"/>
    <p:sldId id="300" r:id="rId24"/>
    <p:sldId id="301" r:id="rId25"/>
    <p:sldId id="359" r:id="rId26"/>
    <p:sldId id="304" r:id="rId27"/>
    <p:sldId id="305" r:id="rId28"/>
    <p:sldId id="306" r:id="rId29"/>
    <p:sldId id="307" r:id="rId30"/>
    <p:sldId id="308" r:id="rId31"/>
    <p:sldId id="309" r:id="rId32"/>
    <p:sldId id="273" r:id="rId33"/>
    <p:sldId id="353" r:id="rId34"/>
    <p:sldId id="311" r:id="rId35"/>
    <p:sldId id="317" r:id="rId36"/>
    <p:sldId id="318" r:id="rId37"/>
    <p:sldId id="320" r:id="rId38"/>
    <p:sldId id="354" r:id="rId39"/>
    <p:sldId id="355" r:id="rId40"/>
    <p:sldId id="358" r:id="rId41"/>
    <p:sldId id="356" r:id="rId42"/>
    <p:sldId id="357" r:id="rId43"/>
    <p:sldId id="329" r:id="rId44"/>
    <p:sldId id="335" r:id="rId45"/>
    <p:sldId id="336" r:id="rId46"/>
    <p:sldId id="337" r:id="rId47"/>
    <p:sldId id="338" r:id="rId48"/>
    <p:sldId id="339" r:id="rId49"/>
    <p:sldId id="340" r:id="rId50"/>
    <p:sldId id="312" r:id="rId51"/>
    <p:sldId id="321" r:id="rId52"/>
    <p:sldId id="322" r:id="rId53"/>
    <p:sldId id="323" r:id="rId54"/>
    <p:sldId id="360" r:id="rId55"/>
    <p:sldId id="361" r:id="rId56"/>
    <p:sldId id="362" r:id="rId57"/>
    <p:sldId id="324" r:id="rId58"/>
    <p:sldId id="325" r:id="rId59"/>
    <p:sldId id="270" r:id="rId60"/>
    <p:sldId id="266" r:id="rId61"/>
    <p:sldId id="275" r:id="rId62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549"/>
    <a:srgbClr val="DBB7FF"/>
    <a:srgbClr val="CC99FF"/>
    <a:srgbClr val="E701FF"/>
    <a:srgbClr val="6C1A00"/>
    <a:srgbClr val="C79E37"/>
    <a:srgbClr val="202E54"/>
    <a:srgbClr val="1D3A00"/>
    <a:srgbClr val="007033"/>
    <a:srgbClr val="5EE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25" autoAdjust="0"/>
  </p:normalViewPr>
  <p:slideViewPr>
    <p:cSldViewPr>
      <p:cViewPr varScale="1">
        <p:scale>
          <a:sx n="150" d="100"/>
          <a:sy n="150" d="100"/>
        </p:scale>
        <p:origin x="396" y="-2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640"/>
    </p:cViewPr>
  </p:sorterViewPr>
  <p:gridSpacing cx="152705" cy="1527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" userId="4f9b9414-db4c-428a-a76a-046e7c2b65fb" providerId="ADAL" clId="{38576F5A-8E5F-4C8B-BD9E-0B52862CD7BB}"/>
    <pc:docChg chg="custSel modSld">
      <pc:chgData name="David HO" userId="4f9b9414-db4c-428a-a76a-046e7c2b65fb" providerId="ADAL" clId="{38576F5A-8E5F-4C8B-BD9E-0B52862CD7BB}" dt="2025-09-22T11:38:28.469" v="6" actId="478"/>
      <pc:docMkLst>
        <pc:docMk/>
      </pc:docMkLst>
      <pc:sldChg chg="modSp mod">
        <pc:chgData name="David HO" userId="4f9b9414-db4c-428a-a76a-046e7c2b65fb" providerId="ADAL" clId="{38576F5A-8E5F-4C8B-BD9E-0B52862CD7BB}" dt="2025-09-22T11:38:05.543" v="3" actId="20577"/>
        <pc:sldMkLst>
          <pc:docMk/>
          <pc:sldMk cId="2819291526" sldId="261"/>
        </pc:sldMkLst>
        <pc:spChg chg="mod">
          <ac:chgData name="David HO" userId="4f9b9414-db4c-428a-a76a-046e7c2b65fb" providerId="ADAL" clId="{38576F5A-8E5F-4C8B-BD9E-0B52862CD7BB}" dt="2025-09-22T11:38:05.543" v="3" actId="20577"/>
          <ac:spMkLst>
            <pc:docMk/>
            <pc:sldMk cId="2819291526" sldId="261"/>
            <ac:spMk id="3" creationId="{00000000-0000-0000-0000-000000000000}"/>
          </ac:spMkLst>
        </pc:spChg>
      </pc:sldChg>
      <pc:sldChg chg="delSp mod">
        <pc:chgData name="David HO" userId="4f9b9414-db4c-428a-a76a-046e7c2b65fb" providerId="ADAL" clId="{38576F5A-8E5F-4C8B-BD9E-0B52862CD7BB}" dt="2025-09-22T11:38:24.474" v="4" actId="478"/>
        <pc:sldMkLst>
          <pc:docMk/>
          <pc:sldMk cId="1109496830" sldId="321"/>
        </pc:sldMkLst>
        <pc:picChg chg="del">
          <ac:chgData name="David HO" userId="4f9b9414-db4c-428a-a76a-046e7c2b65fb" providerId="ADAL" clId="{38576F5A-8E5F-4C8B-BD9E-0B52862CD7BB}" dt="2025-09-22T11:38:24.474" v="4" actId="478"/>
          <ac:picMkLst>
            <pc:docMk/>
            <pc:sldMk cId="1109496830" sldId="321"/>
            <ac:picMk id="7" creationId="{DDCD7DBC-FC3B-9D99-298E-36817B4A8947}"/>
          </ac:picMkLst>
        </pc:picChg>
      </pc:sldChg>
      <pc:sldChg chg="delSp mod">
        <pc:chgData name="David HO" userId="4f9b9414-db4c-428a-a76a-046e7c2b65fb" providerId="ADAL" clId="{38576F5A-8E5F-4C8B-BD9E-0B52862CD7BB}" dt="2025-09-22T11:38:26.787" v="5" actId="478"/>
        <pc:sldMkLst>
          <pc:docMk/>
          <pc:sldMk cId="481854109" sldId="322"/>
        </pc:sldMkLst>
        <pc:picChg chg="del">
          <ac:chgData name="David HO" userId="4f9b9414-db4c-428a-a76a-046e7c2b65fb" providerId="ADAL" clId="{38576F5A-8E5F-4C8B-BD9E-0B52862CD7BB}" dt="2025-09-22T11:38:26.787" v="5" actId="478"/>
          <ac:picMkLst>
            <pc:docMk/>
            <pc:sldMk cId="481854109" sldId="322"/>
            <ac:picMk id="5" creationId="{9403A036-1D1D-D18F-62E9-7D1EEC34B63B}"/>
          </ac:picMkLst>
        </pc:picChg>
      </pc:sldChg>
      <pc:sldChg chg="delSp mod">
        <pc:chgData name="David HO" userId="4f9b9414-db4c-428a-a76a-046e7c2b65fb" providerId="ADAL" clId="{38576F5A-8E5F-4C8B-BD9E-0B52862CD7BB}" dt="2025-09-22T11:38:28.469" v="6" actId="478"/>
        <pc:sldMkLst>
          <pc:docMk/>
          <pc:sldMk cId="3913159361" sldId="323"/>
        </pc:sldMkLst>
        <pc:picChg chg="del">
          <ac:chgData name="David HO" userId="4f9b9414-db4c-428a-a76a-046e7c2b65fb" providerId="ADAL" clId="{38576F5A-8E5F-4C8B-BD9E-0B52862CD7BB}" dt="2025-09-22T11:38:28.469" v="6" actId="478"/>
          <ac:picMkLst>
            <pc:docMk/>
            <pc:sldMk cId="3913159361" sldId="323"/>
            <ac:picMk id="5" creationId="{931A043F-ABEA-ACAF-1547-EFEDBB37D3FB}"/>
          </ac:picMkLst>
        </pc:picChg>
      </pc:sldChg>
    </pc:docChg>
  </pc:docChgLst>
  <pc:docChgLst>
    <pc:chgData name="David HO" userId="4f9b9414-db4c-428a-a76a-046e7c2b65fb" providerId="ADAL" clId="{CB1E2FA5-E2CB-40AB-8F84-9CF8110486A9}"/>
    <pc:docChg chg="undo custSel addSld delSld modSld">
      <pc:chgData name="David HO" userId="4f9b9414-db4c-428a-a76a-046e7c2b65fb" providerId="ADAL" clId="{CB1E2FA5-E2CB-40AB-8F84-9CF8110486A9}" dt="2024-10-24T00:16:06.503" v="129" actId="20577"/>
      <pc:docMkLst>
        <pc:docMk/>
      </pc:docMkLst>
      <pc:sldChg chg="modSp mod">
        <pc:chgData name="David HO" userId="4f9b9414-db4c-428a-a76a-046e7c2b65fb" providerId="ADAL" clId="{CB1E2FA5-E2CB-40AB-8F84-9CF8110486A9}" dt="2024-10-01T18:08:40.687" v="3" actId="20577"/>
        <pc:sldMkLst>
          <pc:docMk/>
          <pc:sldMk cId="2819291526" sldId="261"/>
        </pc:sldMkLst>
      </pc:sldChg>
      <pc:sldChg chg="modSp mod">
        <pc:chgData name="David HO" userId="4f9b9414-db4c-428a-a76a-046e7c2b65fb" providerId="ADAL" clId="{CB1E2FA5-E2CB-40AB-8F84-9CF8110486A9}" dt="2024-10-02T08:24:01.690" v="6" actId="255"/>
        <pc:sldMkLst>
          <pc:docMk/>
          <pc:sldMk cId="2451501687" sldId="298"/>
        </pc:sldMkLst>
      </pc:sldChg>
      <pc:sldChg chg="addSp delSp modSp mod">
        <pc:chgData name="David HO" userId="4f9b9414-db4c-428a-a76a-046e7c2b65fb" providerId="ADAL" clId="{CB1E2FA5-E2CB-40AB-8F84-9CF8110486A9}" dt="2024-10-02T17:30:54.837" v="16" actId="14100"/>
        <pc:sldMkLst>
          <pc:docMk/>
          <pc:sldMk cId="783788402" sldId="301"/>
        </pc:sldMkLst>
      </pc:sldChg>
      <pc:sldChg chg="addSp modSp mod">
        <pc:chgData name="David HO" userId="4f9b9414-db4c-428a-a76a-046e7c2b65fb" providerId="ADAL" clId="{CB1E2FA5-E2CB-40AB-8F84-9CF8110486A9}" dt="2024-10-03T00:00:28.764" v="81" actId="1076"/>
        <pc:sldMkLst>
          <pc:docMk/>
          <pc:sldMk cId="1109496830" sldId="321"/>
        </pc:sldMkLst>
      </pc:sldChg>
      <pc:sldChg chg="addSp modSp mod modNotesTx">
        <pc:chgData name="David HO" userId="4f9b9414-db4c-428a-a76a-046e7c2b65fb" providerId="ADAL" clId="{CB1E2FA5-E2CB-40AB-8F84-9CF8110486A9}" dt="2024-10-24T00:16:06.503" v="129" actId="20577"/>
        <pc:sldMkLst>
          <pc:docMk/>
          <pc:sldMk cId="481854109" sldId="322"/>
        </pc:sldMkLst>
      </pc:sldChg>
      <pc:sldChg chg="addSp modSp mod">
        <pc:chgData name="David HO" userId="4f9b9414-db4c-428a-a76a-046e7c2b65fb" providerId="ADAL" clId="{CB1E2FA5-E2CB-40AB-8F84-9CF8110486A9}" dt="2024-10-03T00:02:52.363" v="86" actId="1076"/>
        <pc:sldMkLst>
          <pc:docMk/>
          <pc:sldMk cId="3913159361" sldId="323"/>
        </pc:sldMkLst>
      </pc:sldChg>
      <pc:sldChg chg="addSp delSp modSp new mod">
        <pc:chgData name="David HO" userId="4f9b9414-db4c-428a-a76a-046e7c2b65fb" providerId="ADAL" clId="{CB1E2FA5-E2CB-40AB-8F84-9CF8110486A9}" dt="2024-10-03T03:13:36.823" v="102" actId="1076"/>
        <pc:sldMkLst>
          <pc:docMk/>
          <pc:sldMk cId="3782465770" sldId="359"/>
        </pc:sldMkLst>
      </pc:sldChg>
      <pc:sldChg chg="modSp new del mod">
        <pc:chgData name="David HO" userId="4f9b9414-db4c-428a-a76a-046e7c2b65fb" providerId="ADAL" clId="{CB1E2FA5-E2CB-40AB-8F84-9CF8110486A9}" dt="2024-10-03T00:19:38.283" v="90" actId="47"/>
        <pc:sldMkLst>
          <pc:docMk/>
          <pc:sldMk cId="366171418" sldId="360"/>
        </pc:sldMkLst>
      </pc:sldChg>
      <pc:sldChg chg="addSp delSp modSp new mod">
        <pc:chgData name="David HO" userId="4f9b9414-db4c-428a-a76a-046e7c2b65fb" providerId="ADAL" clId="{CB1E2FA5-E2CB-40AB-8F84-9CF8110486A9}" dt="2024-10-24T00:13:19.888" v="111" actId="1076"/>
        <pc:sldMkLst>
          <pc:docMk/>
          <pc:sldMk cId="1287579223" sldId="360"/>
        </pc:sldMkLst>
      </pc:sldChg>
      <pc:sldChg chg="addSp modSp new mod">
        <pc:chgData name="David HO" userId="4f9b9414-db4c-428a-a76a-046e7c2b65fb" providerId="ADAL" clId="{CB1E2FA5-E2CB-40AB-8F84-9CF8110486A9}" dt="2024-10-24T00:14:19.222" v="115" actId="732"/>
        <pc:sldMkLst>
          <pc:docMk/>
          <pc:sldMk cId="1543191676" sldId="361"/>
        </pc:sldMkLst>
      </pc:sldChg>
      <pc:sldChg chg="addSp delSp modSp new mod">
        <pc:chgData name="David HO" userId="4f9b9414-db4c-428a-a76a-046e7c2b65fb" providerId="ADAL" clId="{CB1E2FA5-E2CB-40AB-8F84-9CF8110486A9}" dt="2024-10-24T00:15:30.825" v="119" actId="14100"/>
        <pc:sldMkLst>
          <pc:docMk/>
          <pc:sldMk cId="3765558435" sldId="3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8D18E60-4300-4729-A0D7-6AB984C3922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61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5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1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94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61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67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56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71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01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0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73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231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32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050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326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pp.52 - 55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91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36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010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814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4841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091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170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0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8965" y="2113635"/>
            <a:ext cx="8246070" cy="137434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lang="en-US" sz="3600" b="1" i="1" kern="1200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C:\Users\johnnyc\AppData\Local\Microsoft\Windows\INetCache\Content.Word\vtc.jpg">
            <a:extLst>
              <a:ext uri="{FF2B5EF4-FFF2-40B4-BE49-F238E27FC236}">
                <a16:creationId xmlns:a16="http://schemas.microsoft.com/office/drawing/2014/main" id="{39BB3CF6-6063-4B98-966B-D61F1A1EBF6E}"/>
              </a:ext>
            </a:extLst>
          </p:cNvPr>
          <p:cNvPicPr/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2742" y1="55182" x2="24516" y2="73109"/>
                        <a14:foregroundMark x1="46935" y1="52661" x2="60645" y2="52661"/>
                        <a14:foregroundMark x1="53710" y1="53221" x2="51452" y2="82913"/>
                        <a14:foregroundMark x1="24355" y1="61905" x2="26613" y2="78151"/>
                        <a14:foregroundMark x1="67742" y1="57703" x2="80806" y2="50140"/>
                        <a14:foregroundMark x1="67258" y1="62185" x2="68226" y2="82633"/>
                        <a14:foregroundMark x1="71290" y1="82353" x2="78548" y2="83193"/>
                        <a14:foregroundMark x1="43871" y1="25490" x2="46935" y2="13725"/>
                        <a14:foregroundMark x1="37258" y1="49020" x2="42258" y2="31092"/>
                        <a14:foregroundMark x1="37903" y1="56863" x2="42581" y2="44818"/>
                        <a14:foregroundMark x1="34516" y1="54622" x2="37258" y2="324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295" y="-1"/>
            <a:ext cx="2290575" cy="121379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 userDrawn="1"/>
        </p:nvSpPr>
        <p:spPr>
          <a:xfrm>
            <a:off x="1517900" y="1282638"/>
            <a:ext cx="7626100" cy="83099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400" b="1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623009" y="1282637"/>
            <a:ext cx="7072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ITP4514 </a:t>
            </a:r>
          </a:p>
          <a:p>
            <a:pPr algn="r"/>
            <a:r>
              <a:rPr lang="en-US" sz="2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Artificial Intelligence &amp; Machine Learning 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448965" y="3487979"/>
            <a:ext cx="8246070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E701FF"/>
                </a:solidFill>
                <a:effectLst/>
              </a:defRPr>
            </a:lvl1pPr>
          </a:lstStyle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AY 2021-22</a:t>
            </a:r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891995"/>
            <a:ext cx="8246070" cy="763526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655520"/>
            <a:ext cx="8246070" cy="3206803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413609" cy="725349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1106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317" y="891995"/>
            <a:ext cx="8093365" cy="763525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55519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127916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19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27916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199" y="4767263"/>
            <a:ext cx="151881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39540" y="4767263"/>
            <a:ext cx="36649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20690" y="4767263"/>
            <a:ext cx="13661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ITP4514</a:t>
            </a:r>
            <a:r>
              <a:rPr lang="en-US" sz="1400" baseline="0" dirty="0">
                <a:solidFill>
                  <a:schemeClr val="bg1">
                    <a:lumMod val="65000"/>
                  </a:schemeClr>
                </a:solidFill>
              </a:rPr>
              <a:t> – Artificial Intelligence and Machine Learning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gi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artificial-intelligence-tutorial" TargetMode="External"/><Relationship Id="rId7" Type="http://schemas.openxmlformats.org/officeDocument/2006/relationships/hyperlink" Target="http://labix.org/doc/constraint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pypi.org/project/python-constraint/" TargetMode="External"/><Relationship Id="rId5" Type="http://schemas.openxmlformats.org/officeDocument/2006/relationships/hyperlink" Target="https://github.com/brandonwillard/kanren" TargetMode="External"/><Relationship Id="rId4" Type="http://schemas.openxmlformats.org/officeDocument/2006/relationships/hyperlink" Target="http://artint.info/AIPyth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 4</a:t>
            </a:r>
            <a:br>
              <a:rPr lang="en-US" dirty="0"/>
            </a:br>
            <a:r>
              <a:rPr lang="en-US" dirty="0"/>
              <a:t>Logic Programming &amp; CSP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AY 2025-26</a:t>
            </a:r>
          </a:p>
        </p:txBody>
      </p:sp>
    </p:spTree>
    <p:extLst>
      <p:ext uri="{BB962C8B-B14F-4D97-AF65-F5344CB8AC3E}">
        <p14:creationId xmlns:p14="http://schemas.microsoft.com/office/powerpoint/2010/main" val="281929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60C6-BA42-4C7E-8483-1C393E30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Constraint Satisfaction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B55E0-76A7-4784-8035-D9629ECF4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Constraint-Satisfaction Problem</a:t>
            </a:r>
          </a:p>
          <a:p>
            <a:r>
              <a:rPr lang="en-US" dirty="0"/>
              <a:t>CSP Components</a:t>
            </a:r>
          </a:p>
          <a:p>
            <a:r>
              <a:rPr lang="en-US" dirty="0"/>
              <a:t>Representations</a:t>
            </a:r>
          </a:p>
          <a:p>
            <a:r>
              <a:rPr lang="en-US" dirty="0"/>
              <a:t>Code Implementations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13D0E-7F56-4332-BBD9-65BC5680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2FC7C-6573-44CF-8B6B-17692EB43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CD87D-6BCE-4E32-B272-3CD191DC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14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800" dirty="0"/>
              <a:t>Constraint Satisfaction Problem (CSP)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69858"/>
          </a:xfrm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2000" dirty="0"/>
              <a:t>Constraint Satisfaction Problems (CSPs) are a class of problems in computer science and artificial intelligence that involve finding solutions that satisfy a set of constraints.</a:t>
            </a:r>
          </a:p>
          <a:p>
            <a:pPr>
              <a:spcBef>
                <a:spcPts val="500"/>
              </a:spcBef>
            </a:pPr>
            <a:r>
              <a:rPr lang="en-US" sz="2000" dirty="0"/>
              <a:t>A problem is solved when each variable has a value that satisfies all the constraints on the variable.</a:t>
            </a:r>
          </a:p>
          <a:p>
            <a:pPr>
              <a:spcBef>
                <a:spcPts val="500"/>
              </a:spcBef>
            </a:pPr>
            <a:r>
              <a:rPr lang="en-US" sz="2000" dirty="0"/>
              <a:t>The main idea is to eliminate large portions of the search space all at once by </a:t>
            </a:r>
            <a:r>
              <a:rPr lang="en-US" sz="2000" i="1" dirty="0">
                <a:solidFill>
                  <a:srgbClr val="FF0000"/>
                </a:solidFill>
              </a:rPr>
              <a:t>identifying variable/value combinations that violate the constraints</a:t>
            </a:r>
            <a:r>
              <a:rPr lang="en-US" sz="2000" dirty="0"/>
              <a:t>.</a:t>
            </a:r>
          </a:p>
          <a:p>
            <a:pPr>
              <a:spcBef>
                <a:spcPts val="500"/>
              </a:spcBef>
            </a:pPr>
            <a:endParaRPr lang="en-US" sz="2000" dirty="0"/>
          </a:p>
          <a:p>
            <a:pPr>
              <a:spcBef>
                <a:spcPts val="500"/>
              </a:spcBef>
            </a:pPr>
            <a:endParaRPr 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3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BD49-C5FB-4330-B3D4-1BFAB428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CSP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67332-97AD-4B1B-863E-B0C2238CD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  <a:p>
            <a:r>
              <a:rPr lang="en-US" dirty="0"/>
              <a:t>Domains</a:t>
            </a:r>
          </a:p>
          <a:p>
            <a:r>
              <a:rPr lang="en-US" dirty="0"/>
              <a:t>Constraints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9A78A-DE01-4016-BAE9-2E824129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19554-00E3-477B-AC76-CA6A13769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3AA25-1259-4818-914F-DDE1380B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8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CB4B-31A6-4E2F-B2BF-395C7E71A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6E17F-CD82-4BDE-B35E-3C2E93F59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A variable represents an entity or a quantity that we want to assign a value to in order to find a solution that satisfies the given constraints. </a:t>
            </a:r>
          </a:p>
          <a:p>
            <a:r>
              <a:rPr lang="en-US" sz="2000" dirty="0"/>
              <a:t>can take different forms depending on the nature of the problem.</a:t>
            </a:r>
          </a:p>
          <a:p>
            <a:pPr lvl="1"/>
            <a:r>
              <a:rPr lang="en-US" sz="2000" dirty="0"/>
              <a:t>They can represent discrete quantities, such as numbers, colors, or symbols, or they can represent continuous quantities with specified ranges or intervals.</a:t>
            </a:r>
          </a:p>
          <a:p>
            <a:endParaRPr lang="en-US" sz="2000" dirty="0"/>
          </a:p>
          <a:p>
            <a:r>
              <a:rPr lang="en-US" sz="2000" dirty="0"/>
              <a:t>For example, </a:t>
            </a:r>
            <a:r>
              <a:rPr lang="en-US" sz="2000" b="1" i="1" u="sng" dirty="0">
                <a:solidFill>
                  <a:srgbClr val="0070C0"/>
                </a:solidFill>
              </a:rPr>
              <a:t>each cell in sudoku </a:t>
            </a:r>
            <a:r>
              <a:rPr lang="en-US" sz="2000" dirty="0"/>
              <a:t>represents a variable.</a:t>
            </a:r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8E656-1021-442E-A700-1E9901A2A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60D1D-0BC3-4DB3-97CC-6D82F4893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97B9B-409F-460D-96F2-5739C2D9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140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C360E-46FC-44A8-871D-67C3AE006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E7A51-91F1-4947-B9E4-C67CE2FC4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Each variable in a CSP has an associated domain, which is a set of possible values that the variable can take. </a:t>
            </a:r>
          </a:p>
          <a:p>
            <a:r>
              <a:rPr lang="en-US" sz="2000" dirty="0"/>
              <a:t>The domain represents the range of valid options for the variable.</a:t>
            </a:r>
          </a:p>
          <a:p>
            <a:endParaRPr lang="en-US" sz="2000" dirty="0"/>
          </a:p>
          <a:p>
            <a:r>
              <a:rPr lang="en-US" sz="2000" dirty="0"/>
              <a:t>In sudoku puzzle, the </a:t>
            </a:r>
            <a:r>
              <a:rPr lang="en-US" sz="2000" b="1" i="1" dirty="0">
                <a:solidFill>
                  <a:srgbClr val="FF2549"/>
                </a:solidFill>
              </a:rPr>
              <a:t>domain</a:t>
            </a:r>
            <a:r>
              <a:rPr lang="en-US" sz="2000" dirty="0"/>
              <a:t> of each variable is </a:t>
            </a:r>
            <a:r>
              <a:rPr lang="en-US" sz="2000" b="1" i="1" dirty="0">
                <a:solidFill>
                  <a:schemeClr val="accent1"/>
                </a:solidFill>
              </a:rPr>
              <a:t>the set of numbers from 1 to 9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C1683-E41C-40AF-BCD5-55D79771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37B72-3A27-41DB-BC29-042AE0B8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0C504-1A60-4983-A8D0-9842DE8AF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17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B05C-7ABB-4163-A38C-D4FFF662F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40EEA-4EE7-4901-89DE-947EABF97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Constraints define rules and conditions that restrict the possible combinations of values for the variables.</a:t>
            </a:r>
          </a:p>
          <a:p>
            <a:endParaRPr lang="en-US" dirty="0"/>
          </a:p>
          <a:p>
            <a:r>
              <a:rPr lang="en-US" dirty="0"/>
              <a:t>In sudoku, some </a:t>
            </a:r>
            <a:r>
              <a:rPr lang="en-US" b="1" u="sng" dirty="0"/>
              <a:t>example constraints </a:t>
            </a:r>
            <a:r>
              <a:rPr lang="en-US" dirty="0"/>
              <a:t>are:</a:t>
            </a:r>
          </a:p>
          <a:p>
            <a:pPr lvl="1"/>
            <a:r>
              <a:rPr lang="en-US" dirty="0"/>
              <a:t>Row constraint: each row in sudoku must contain all digits from 1 to 9; none of these digits could be repeated</a:t>
            </a:r>
          </a:p>
          <a:p>
            <a:pPr lvl="1"/>
            <a:r>
              <a:rPr lang="en-US" dirty="0"/>
              <a:t>Column constraint;</a:t>
            </a:r>
          </a:p>
          <a:p>
            <a:pPr lvl="1"/>
            <a:r>
              <a:rPr lang="en-US" dirty="0"/>
              <a:t>Box/ Square constraint: Each 3x3 box in Sudoku grid must contain all the digits from 1 to 9 exactly once; none of these digits could be repeated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766B2-6923-4A7D-920F-2BD970EE1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88E66-1815-48C1-B561-71980F6FD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74F56-E5E3-4E2D-973E-718F4FE1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05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7F7E8-F710-446A-9B61-6BF6AA18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Constraint: Some variations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1035B-3646-4FFF-BE2B-8F99E182C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Constraints can take various forms depending on the nature of the problem.</a:t>
            </a:r>
          </a:p>
          <a:p>
            <a:endParaRPr lang="en-US" dirty="0"/>
          </a:p>
          <a:p>
            <a:r>
              <a:rPr lang="en-US" dirty="0"/>
              <a:t>Some common types of constraints include:</a:t>
            </a:r>
          </a:p>
          <a:p>
            <a:pPr lvl="1"/>
            <a:r>
              <a:rPr lang="en-US" b="1" dirty="0"/>
              <a:t>Unary constraints </a:t>
            </a:r>
            <a:r>
              <a:rPr lang="en-US" dirty="0"/>
              <a:t>- involves a single variable only (e.g., the value of “x” must be even.)</a:t>
            </a:r>
          </a:p>
          <a:p>
            <a:pPr lvl="1"/>
            <a:r>
              <a:rPr lang="en-US" b="1" dirty="0"/>
              <a:t>Binary Constraints </a:t>
            </a:r>
            <a:r>
              <a:rPr lang="en-US" dirty="0"/>
              <a:t>– the restrictions involve two variables (e.g., “x” and “y” must be different)</a:t>
            </a:r>
          </a:p>
          <a:p>
            <a:pPr lvl="1"/>
            <a:r>
              <a:rPr lang="en-US" b="1" dirty="0"/>
              <a:t>Global Constraints </a:t>
            </a:r>
            <a:r>
              <a:rPr lang="en-US" dirty="0"/>
              <a:t>– involves multiple variables (e.g., “all-different constraint” – as its name implies, all the variables in the problem must be different.)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78CDB-2150-4DC5-B4B5-F07948B8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CC210-ACC4-49B3-993E-4C5E035B5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A274F-F1C1-44BE-BD7F-6C34B0330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48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Components: Representations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69858"/>
          </a:xfrm>
        </p:spPr>
        <p:txBody>
          <a:bodyPr>
            <a:noAutofit/>
          </a:bodyPr>
          <a:lstStyle/>
          <a:p>
            <a:r>
              <a:rPr lang="en-US" dirty="0"/>
              <a:t>In representation, the components of CSPs could be represented in the follow ways:</a:t>
            </a:r>
          </a:p>
          <a:p>
            <a:pPr marL="808038" lvl="1" indent="-446088">
              <a:buFont typeface="+mj-lt"/>
              <a:buAutoNum type="arabicPeriod"/>
            </a:pP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/>
              <a:t> denotes a set of </a:t>
            </a:r>
            <a:r>
              <a:rPr lang="en-US" i="1" dirty="0">
                <a:solidFill>
                  <a:srgbClr val="FF0000"/>
                </a:solidFill>
              </a:rPr>
              <a:t>variables</a:t>
            </a:r>
            <a:r>
              <a:rPr lang="en-US" dirty="0"/>
              <a:t>, </a:t>
            </a:r>
            <a:r>
              <a:rPr lang="en-US" i="1" dirty="0">
                <a:solidFill>
                  <a:srgbClr val="FF0000"/>
                </a:solidFill>
              </a:rPr>
              <a:t>{X</a:t>
            </a:r>
            <a:r>
              <a:rPr lang="en-US" i="1" baseline="-10000" dirty="0">
                <a:solidFill>
                  <a:srgbClr val="FF0000"/>
                </a:solidFill>
              </a:rPr>
              <a:t>1</a:t>
            </a:r>
            <a:r>
              <a:rPr lang="en-US" i="1" dirty="0">
                <a:solidFill>
                  <a:srgbClr val="FF0000"/>
                </a:solidFill>
              </a:rPr>
              <a:t>, . . . ,</a:t>
            </a:r>
            <a:r>
              <a:rPr lang="en-US" i="1" dirty="0" err="1">
                <a:solidFill>
                  <a:srgbClr val="FF0000"/>
                </a:solidFill>
              </a:rPr>
              <a:t>X</a:t>
            </a:r>
            <a:r>
              <a:rPr lang="en-US" i="1" baseline="-10000" dirty="0" err="1">
                <a:solidFill>
                  <a:srgbClr val="FF0000"/>
                </a:solidFill>
              </a:rPr>
              <a:t>n</a:t>
            </a:r>
            <a:r>
              <a:rPr lang="en-US" i="1" dirty="0">
                <a:solidFill>
                  <a:srgbClr val="FF0000"/>
                </a:solidFill>
              </a:rPr>
              <a:t>}</a:t>
            </a:r>
            <a:r>
              <a:rPr lang="en-US" dirty="0"/>
              <a:t>.</a:t>
            </a:r>
          </a:p>
          <a:p>
            <a:pPr marL="808038" lvl="1" indent="-446088">
              <a:buFont typeface="+mj-lt"/>
              <a:buAutoNum type="arabicPeriod"/>
            </a:pPr>
            <a:r>
              <a:rPr lang="en-US" i="1" dirty="0">
                <a:solidFill>
                  <a:srgbClr val="FF0000"/>
                </a:solidFill>
              </a:rPr>
              <a:t>D</a:t>
            </a:r>
            <a:r>
              <a:rPr lang="en-US" dirty="0"/>
              <a:t> denotes a set of </a:t>
            </a:r>
            <a:r>
              <a:rPr lang="en-US" i="1" dirty="0">
                <a:solidFill>
                  <a:srgbClr val="FF0000"/>
                </a:solidFill>
              </a:rPr>
              <a:t>domains</a:t>
            </a:r>
            <a:r>
              <a:rPr lang="en-US" dirty="0"/>
              <a:t>, </a:t>
            </a:r>
            <a:r>
              <a:rPr lang="en-US" i="1" dirty="0">
                <a:solidFill>
                  <a:srgbClr val="FF0000"/>
                </a:solidFill>
              </a:rPr>
              <a:t>{D</a:t>
            </a:r>
            <a:r>
              <a:rPr lang="en-US" i="1" baseline="-10000" dirty="0">
                <a:solidFill>
                  <a:srgbClr val="FF0000"/>
                </a:solidFill>
              </a:rPr>
              <a:t>1</a:t>
            </a:r>
            <a:r>
              <a:rPr lang="en-US" i="1" dirty="0">
                <a:solidFill>
                  <a:srgbClr val="FF0000"/>
                </a:solidFill>
              </a:rPr>
              <a:t>, . . . ,</a:t>
            </a:r>
            <a:r>
              <a:rPr lang="en-US" i="1" dirty="0" err="1">
                <a:solidFill>
                  <a:srgbClr val="FF0000"/>
                </a:solidFill>
              </a:rPr>
              <a:t>D</a:t>
            </a:r>
            <a:r>
              <a:rPr lang="en-US" i="1" baseline="-10000" dirty="0" err="1">
                <a:solidFill>
                  <a:srgbClr val="FF0000"/>
                </a:solidFill>
              </a:rPr>
              <a:t>n</a:t>
            </a:r>
            <a:r>
              <a:rPr lang="en-US" i="1" dirty="0">
                <a:solidFill>
                  <a:srgbClr val="FF0000"/>
                </a:solidFill>
              </a:rPr>
              <a:t>}</a:t>
            </a:r>
            <a:r>
              <a:rPr lang="en-US" dirty="0"/>
              <a:t>, one for each variable.</a:t>
            </a:r>
          </a:p>
          <a:p>
            <a:pPr marL="808038" lvl="1" indent="-446088">
              <a:buFont typeface="+mj-lt"/>
              <a:buAutoNum type="arabicPeriod"/>
            </a:pPr>
            <a:r>
              <a:rPr lang="en-US" i="1" dirty="0">
                <a:solidFill>
                  <a:srgbClr val="FF0000"/>
                </a:solidFill>
              </a:rPr>
              <a:t>C</a:t>
            </a:r>
            <a:r>
              <a:rPr lang="en-US" dirty="0"/>
              <a:t> denotes a set of </a:t>
            </a:r>
            <a:r>
              <a:rPr lang="en-US" i="1" dirty="0">
                <a:solidFill>
                  <a:srgbClr val="FF0000"/>
                </a:solidFill>
              </a:rPr>
              <a:t>constraints</a:t>
            </a:r>
            <a:r>
              <a:rPr lang="en-US" dirty="0"/>
              <a:t> that specify allowable combinations of values.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L4 – Logic Programming &amp; CSP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ound Diagonal Corner Rectangle 6"/>
          <p:cNvSpPr/>
          <p:nvPr/>
        </p:nvSpPr>
        <p:spPr>
          <a:xfrm>
            <a:off x="621727" y="2113635"/>
            <a:ext cx="1506993" cy="1477327"/>
          </a:xfrm>
          <a:prstGeom prst="round2Diag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CSP =</a:t>
            </a:r>
          </a:p>
          <a:p>
            <a:r>
              <a:rPr lang="en-US" dirty="0"/>
              <a:t>Variables +</a:t>
            </a:r>
          </a:p>
          <a:p>
            <a:r>
              <a:rPr lang="en-US" dirty="0"/>
              <a:t>Domains +</a:t>
            </a:r>
          </a:p>
          <a:p>
            <a:r>
              <a:rPr lang="en-US" dirty="0"/>
              <a:t>Constraints</a:t>
            </a:r>
          </a:p>
        </p:txBody>
      </p:sp>
    </p:spTree>
    <p:extLst>
      <p:ext uri="{BB962C8B-B14F-4D97-AF65-F5344CB8AC3E}">
        <p14:creationId xmlns:p14="http://schemas.microsoft.com/office/powerpoint/2010/main" val="2191012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8C6F-557F-4089-BB7C-B0355CD0F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393D7-EB2D-4F15-8E2B-AA5182B68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Problem: Suppose we are required to find all the combinations of two integers (0~9) where one is twice of the other.</a:t>
            </a:r>
          </a:p>
          <a:p>
            <a:endParaRPr lang="en-US" sz="2000" dirty="0"/>
          </a:p>
          <a:p>
            <a:r>
              <a:rPr lang="en-US" sz="2000" dirty="0"/>
              <a:t>X: two integers (“a” &amp; “b” for example)</a:t>
            </a:r>
          </a:p>
          <a:p>
            <a:r>
              <a:rPr lang="en-US" sz="2000" dirty="0"/>
              <a:t>D: 0 – 9</a:t>
            </a:r>
          </a:p>
          <a:p>
            <a:r>
              <a:rPr lang="en-US" sz="2000" dirty="0"/>
              <a:t>C: b is 2 times of a / “a = b / 2”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EE4DE-0E6D-44B5-8D6B-12FADB1F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E37AD-01E3-44FB-9D35-85583F414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A045B-98A8-4802-BECB-DDBC364A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15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767CD-41E8-40A1-937E-768F38FD8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Another Example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DF683-D951-4250-9A0E-3F658BC44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Problem: suppose we want to generate a 4 x 4 magic square.</a:t>
            </a:r>
          </a:p>
          <a:p>
            <a:endParaRPr lang="en-US" sz="1400" i="1" dirty="0"/>
          </a:p>
          <a:p>
            <a:r>
              <a:rPr lang="en-US" sz="1400" i="1" dirty="0"/>
              <a:t>***A 4x4 magic square is a square grid of 4 rows and 4 columns filled with distinct numbers from 1 to 16, where the sum of numbers in each row, column, and diagonal is the same. In other words, the sum of the numbers in each row, column, and diagonal of a 4x4 magic square is equal to the magic constant.***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C5FF0-9947-4471-8AAB-75DA8D22E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832F1-76C6-48C1-917B-524F5E8CA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348F4-4267-43B3-8168-5EB15F82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88B1E22-720F-4B33-A01B-5ABD7223C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142" y="2974386"/>
            <a:ext cx="2022187" cy="202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709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11B8-4026-4DCA-9C69-BBB8F4A26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Another Example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728C8-E978-46FD-8ED2-0CB8B7A6F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X: 16 cells in the 4x4 magic square</a:t>
            </a:r>
          </a:p>
          <a:p>
            <a:r>
              <a:rPr lang="en-US" dirty="0"/>
              <a:t>D: 1 – 16</a:t>
            </a:r>
          </a:p>
          <a:p>
            <a:r>
              <a:rPr lang="en-US" dirty="0"/>
              <a:t>C:</a:t>
            </a:r>
          </a:p>
          <a:p>
            <a:pPr lvl="1"/>
            <a:r>
              <a:rPr lang="en-US" dirty="0"/>
              <a:t>“all-different constraint”;</a:t>
            </a:r>
          </a:p>
          <a:p>
            <a:pPr lvl="1"/>
            <a:r>
              <a:rPr lang="en-US" dirty="0"/>
              <a:t>The sum of diagonals equals 34;</a:t>
            </a:r>
          </a:p>
          <a:p>
            <a:pPr lvl="1"/>
            <a:r>
              <a:rPr lang="en-US" dirty="0"/>
              <a:t>The sum of rows equals 34;</a:t>
            </a:r>
          </a:p>
          <a:p>
            <a:pPr lvl="1"/>
            <a:r>
              <a:rPr lang="en-US" dirty="0"/>
              <a:t>The sum of columns equals 34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36AB8-50C4-45F6-B2D4-D41C5EE3A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CA77A-BC2D-48D6-A2E1-E27D4CD2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3DA5C-F4FD-4FD9-B078-336A541F0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56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60CFD-AFBD-4880-8587-61FCA9CF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Code 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2F1A2-6C1A-4973-971D-B0666450E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could implement the constraint satisfaction problems with </a:t>
            </a:r>
            <a:r>
              <a:rPr lang="en-US" dirty="0">
                <a:solidFill>
                  <a:srgbClr val="FF0000"/>
                </a:solidFill>
              </a:rPr>
              <a:t>python-constraint</a:t>
            </a:r>
            <a:r>
              <a:rPr lang="en-US" dirty="0"/>
              <a:t> package.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502E8-1248-48D7-BE3C-B9BECDA49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83DF2-3FB6-43FA-858D-7B77D4EE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CE2AC-724E-400A-8449-43F2536F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3B4905-0863-4C93-A7C2-D5227879DC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646"/>
          <a:stretch/>
        </p:blipFill>
        <p:spPr>
          <a:xfrm>
            <a:off x="6557164" y="2023505"/>
            <a:ext cx="1985165" cy="30176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AD5892-7850-4E07-A693-0C5045CA7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0" y="2025291"/>
            <a:ext cx="4209070" cy="268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44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732C-D109-4BD8-BE63-A18CE85F8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Python Lambda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7A55C-99A9-4368-BFB1-26A0E5BA5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 Python, a lambda expression (also known as lambda function or anonymous function) is a way to create small, anonymous functions without explicitly defining a function using the def keyword.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6CC0D-B5CB-4394-9456-A94FD4754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22266-A243-43DD-8A77-DF9CE4368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1F84A-3296-455E-9624-6905D3B8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36CF5A-FC80-459C-8472-2E6FD2A91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63" y="2368751"/>
            <a:ext cx="8364074" cy="1200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6B4DA4-39CD-4EA3-AC4F-DBE21307D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20" y="3552697"/>
            <a:ext cx="8561917" cy="119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081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179018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/>
              <a:t>Examples (1)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31886"/>
            <a:ext cx="6304935" cy="3635378"/>
          </a:xfrm>
        </p:spPr>
        <p:txBody>
          <a:bodyPr>
            <a:noAutofit/>
          </a:bodyPr>
          <a:lstStyle/>
          <a:p>
            <a:r>
              <a:rPr lang="en-US" sz="2200" u="sng" dirty="0">
                <a:solidFill>
                  <a:srgbClr val="FF0000"/>
                </a:solidFill>
              </a:rPr>
              <a:t>Example 1</a:t>
            </a:r>
            <a:r>
              <a:rPr lang="en-US" sz="2200" dirty="0"/>
              <a:t>: Find all possible combinations of two integers (0~9) where one is twice of the other.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305" y="2113635"/>
            <a:ext cx="6017495" cy="216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929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D7567412-E635-4DB2-B615-E4D9F42DD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70" y="1655520"/>
            <a:ext cx="6013630" cy="3165416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20400" y="190469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Examples (2)</a:t>
            </a:r>
            <a:endParaRPr lang="en-US" altLang="zh-TW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31886"/>
            <a:ext cx="6304935" cy="3635378"/>
          </a:xfrm>
        </p:spPr>
        <p:txBody>
          <a:bodyPr>
            <a:noAutofit/>
          </a:bodyPr>
          <a:lstStyle/>
          <a:p>
            <a:r>
              <a:rPr lang="en-US" sz="2200" u="sng" dirty="0">
                <a:solidFill>
                  <a:srgbClr val="FF0000"/>
                </a:solidFill>
              </a:rPr>
              <a:t>Example 2</a:t>
            </a:r>
            <a:r>
              <a:rPr lang="en-US" sz="2200" dirty="0"/>
              <a:t>: Generate all 4 </a:t>
            </a:r>
            <a:r>
              <a:rPr lang="en-US" sz="2200" dirty="0">
                <a:sym typeface="Symbol" panose="05050102010706020507" pitchFamily="18" charset="2"/>
              </a:rPr>
              <a:t> 4 </a:t>
            </a:r>
            <a:r>
              <a:rPr lang="en-US" sz="2200" dirty="0"/>
              <a:t>magic square</a:t>
            </a:r>
            <a:r>
              <a:rPr lang="en-US" sz="2200" dirty="0">
                <a:sym typeface="Symbol" panose="05050102010706020507" pitchFamily="18" charset="2"/>
              </a:rPr>
              <a:t>.</a:t>
            </a:r>
            <a:endParaRPr lang="en-US" sz="2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7F9C9CD-17CA-4EE2-92F4-0E2229C8F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88" y="2532984"/>
            <a:ext cx="1820512" cy="175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428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206957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Examples (3)</a:t>
            </a:r>
            <a:endParaRPr lang="en-US" altLang="zh-TW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044700"/>
            <a:ext cx="6304935" cy="3722564"/>
          </a:xfrm>
        </p:spPr>
        <p:txBody>
          <a:bodyPr>
            <a:noAutofit/>
          </a:bodyPr>
          <a:lstStyle/>
          <a:p>
            <a:r>
              <a:rPr lang="en-US" sz="1400" u="sng" dirty="0">
                <a:solidFill>
                  <a:srgbClr val="FF0000"/>
                </a:solidFill>
              </a:rPr>
              <a:t>Example 3</a:t>
            </a:r>
            <a:r>
              <a:rPr lang="en-US" sz="1400" dirty="0"/>
              <a:t>: The goal of the N-Queens problem is to place n queens on an n x n chessboard such that no two queens threaten each other. This means no two queens can be in the same row, column, or diagonal.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BE071F-091D-4F3D-B0A1-92C3FB34D2BD}"/>
              </a:ext>
            </a:extLst>
          </p:cNvPr>
          <p:cNvGraphicFramePr>
            <a:graphicFrameLocks noGrp="1"/>
          </p:cNvGraphicFramePr>
          <p:nvPr/>
        </p:nvGraphicFramePr>
        <p:xfrm>
          <a:off x="4431884" y="2389822"/>
          <a:ext cx="2583396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0566">
                  <a:extLst>
                    <a:ext uri="{9D8B030D-6E8A-4147-A177-3AD203B41FA5}">
                      <a16:colId xmlns:a16="http://schemas.microsoft.com/office/drawing/2014/main" val="168892668"/>
                    </a:ext>
                  </a:extLst>
                </a:gridCol>
                <a:gridCol w="430566">
                  <a:extLst>
                    <a:ext uri="{9D8B030D-6E8A-4147-A177-3AD203B41FA5}">
                      <a16:colId xmlns:a16="http://schemas.microsoft.com/office/drawing/2014/main" val="965186382"/>
                    </a:ext>
                  </a:extLst>
                </a:gridCol>
                <a:gridCol w="430566">
                  <a:extLst>
                    <a:ext uri="{9D8B030D-6E8A-4147-A177-3AD203B41FA5}">
                      <a16:colId xmlns:a16="http://schemas.microsoft.com/office/drawing/2014/main" val="43583948"/>
                    </a:ext>
                  </a:extLst>
                </a:gridCol>
                <a:gridCol w="430566">
                  <a:extLst>
                    <a:ext uri="{9D8B030D-6E8A-4147-A177-3AD203B41FA5}">
                      <a16:colId xmlns:a16="http://schemas.microsoft.com/office/drawing/2014/main" val="118539048"/>
                    </a:ext>
                  </a:extLst>
                </a:gridCol>
                <a:gridCol w="430566">
                  <a:extLst>
                    <a:ext uri="{9D8B030D-6E8A-4147-A177-3AD203B41FA5}">
                      <a16:colId xmlns:a16="http://schemas.microsoft.com/office/drawing/2014/main" val="3949950542"/>
                    </a:ext>
                  </a:extLst>
                </a:gridCol>
                <a:gridCol w="430566">
                  <a:extLst>
                    <a:ext uri="{9D8B030D-6E8A-4147-A177-3AD203B41FA5}">
                      <a16:colId xmlns:a16="http://schemas.microsoft.com/office/drawing/2014/main" val="264809838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41618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Q</a:t>
                      </a:r>
                      <a:endParaRPr 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17546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76235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Q</a:t>
                      </a:r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93682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Q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90129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Q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976127"/>
                  </a:ext>
                </a:extLst>
              </a:tr>
            </a:tbl>
          </a:graphicData>
        </a:graphic>
      </p:graphicFrame>
      <p:grpSp>
        <p:nvGrpSpPr>
          <p:cNvPr id="40" name="Group 39">
            <a:extLst>
              <a:ext uri="{FF2B5EF4-FFF2-40B4-BE49-F238E27FC236}">
                <a16:creationId xmlns:a16="http://schemas.microsoft.com/office/drawing/2014/main" id="{84614E4E-7A48-4B91-B45F-A8A55474735D}"/>
              </a:ext>
            </a:extLst>
          </p:cNvPr>
          <p:cNvGrpSpPr/>
          <p:nvPr/>
        </p:nvGrpSpPr>
        <p:grpSpPr>
          <a:xfrm>
            <a:off x="5085678" y="1739707"/>
            <a:ext cx="1737360" cy="1260659"/>
            <a:chOff x="5083587" y="1616500"/>
            <a:chExt cx="1737360" cy="1260659"/>
          </a:xfrm>
        </p:grpSpPr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DCEE42B1-1E93-4252-B6DC-B645AFEACEB4}"/>
                </a:ext>
              </a:extLst>
            </p:cNvPr>
            <p:cNvSpPr/>
            <p:nvPr/>
          </p:nvSpPr>
          <p:spPr>
            <a:xfrm>
              <a:off x="5083589" y="2025554"/>
              <a:ext cx="458116" cy="458115"/>
            </a:xfrm>
            <a:prstGeom prst="arc">
              <a:avLst>
                <a:gd name="adj1" fmla="val 10846255"/>
                <a:gd name="adj2" fmla="val 0"/>
              </a:avLst>
            </a:prstGeom>
            <a:ln w="1905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B4E0F0B9-4489-4435-B476-6EA02B918473}"/>
                </a:ext>
              </a:extLst>
            </p:cNvPr>
            <p:cNvSpPr/>
            <p:nvPr/>
          </p:nvSpPr>
          <p:spPr>
            <a:xfrm>
              <a:off x="5083589" y="1890342"/>
              <a:ext cx="862756" cy="681407"/>
            </a:xfrm>
            <a:prstGeom prst="arc">
              <a:avLst>
                <a:gd name="adj1" fmla="val 10846255"/>
                <a:gd name="adj2" fmla="val 0"/>
              </a:avLst>
            </a:prstGeom>
            <a:ln w="1905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4A78019E-38C4-4A33-B4A8-7CCDA6C6579A}"/>
                </a:ext>
              </a:extLst>
            </p:cNvPr>
            <p:cNvSpPr/>
            <p:nvPr/>
          </p:nvSpPr>
          <p:spPr>
            <a:xfrm>
              <a:off x="5083588" y="1751711"/>
              <a:ext cx="1320871" cy="972744"/>
            </a:xfrm>
            <a:prstGeom prst="arc">
              <a:avLst>
                <a:gd name="adj1" fmla="val 10846255"/>
                <a:gd name="adj2" fmla="val 0"/>
              </a:avLst>
            </a:prstGeom>
            <a:ln w="1905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E5807CEB-8AF5-4BEF-B08A-52FB2005EC73}"/>
                </a:ext>
              </a:extLst>
            </p:cNvPr>
            <p:cNvSpPr/>
            <p:nvPr/>
          </p:nvSpPr>
          <p:spPr>
            <a:xfrm>
              <a:off x="5083587" y="1616500"/>
              <a:ext cx="1737360" cy="1260659"/>
            </a:xfrm>
            <a:prstGeom prst="arc">
              <a:avLst>
                <a:gd name="adj1" fmla="val 10846255"/>
                <a:gd name="adj2" fmla="val 0"/>
              </a:avLst>
            </a:prstGeom>
            <a:ln w="1905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400F75D-7E8C-4800-A79D-E12BE7468CC9}"/>
              </a:ext>
            </a:extLst>
          </p:cNvPr>
          <p:cNvGrpSpPr/>
          <p:nvPr/>
        </p:nvGrpSpPr>
        <p:grpSpPr>
          <a:xfrm>
            <a:off x="5517058" y="3080400"/>
            <a:ext cx="1320871" cy="972744"/>
            <a:chOff x="1755106" y="2571749"/>
            <a:chExt cx="1320871" cy="972744"/>
          </a:xfrm>
        </p:grpSpPr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7521EA25-70B6-4B1E-B985-FA7199B2069B}"/>
                </a:ext>
              </a:extLst>
            </p:cNvPr>
            <p:cNvSpPr/>
            <p:nvPr/>
          </p:nvSpPr>
          <p:spPr>
            <a:xfrm>
              <a:off x="1755107" y="2845592"/>
              <a:ext cx="458116" cy="458115"/>
            </a:xfrm>
            <a:prstGeom prst="arc">
              <a:avLst>
                <a:gd name="adj1" fmla="val 10846255"/>
                <a:gd name="adj2" fmla="val 0"/>
              </a:avLst>
            </a:prstGeom>
            <a:ln w="1905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2B6EA7DD-7753-470E-B95C-CD77ACAC97AC}"/>
                </a:ext>
              </a:extLst>
            </p:cNvPr>
            <p:cNvSpPr/>
            <p:nvPr/>
          </p:nvSpPr>
          <p:spPr>
            <a:xfrm>
              <a:off x="1755107" y="2710380"/>
              <a:ext cx="862756" cy="681407"/>
            </a:xfrm>
            <a:prstGeom prst="arc">
              <a:avLst>
                <a:gd name="adj1" fmla="val 10846255"/>
                <a:gd name="adj2" fmla="val 0"/>
              </a:avLst>
            </a:prstGeom>
            <a:ln w="1905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F73F2767-CE57-41A6-BD35-CDF9B4621C26}"/>
                </a:ext>
              </a:extLst>
            </p:cNvPr>
            <p:cNvSpPr/>
            <p:nvPr/>
          </p:nvSpPr>
          <p:spPr>
            <a:xfrm>
              <a:off x="1755106" y="2571749"/>
              <a:ext cx="1320871" cy="972744"/>
            </a:xfrm>
            <a:prstGeom prst="arc">
              <a:avLst>
                <a:gd name="adj1" fmla="val 10846255"/>
                <a:gd name="adj2" fmla="val 0"/>
              </a:avLst>
            </a:prstGeom>
            <a:ln w="1905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E935D17-E532-4AC9-9A81-4287554B1723}"/>
              </a:ext>
            </a:extLst>
          </p:cNvPr>
          <p:cNvGrpSpPr/>
          <p:nvPr/>
        </p:nvGrpSpPr>
        <p:grpSpPr>
          <a:xfrm>
            <a:off x="5916563" y="3620571"/>
            <a:ext cx="862756" cy="681407"/>
            <a:chOff x="1790576" y="2686495"/>
            <a:chExt cx="862756" cy="681407"/>
          </a:xfrm>
        </p:grpSpPr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7B713A76-751A-4661-B885-07D423AF2F66}"/>
                </a:ext>
              </a:extLst>
            </p:cNvPr>
            <p:cNvSpPr/>
            <p:nvPr/>
          </p:nvSpPr>
          <p:spPr>
            <a:xfrm>
              <a:off x="1790576" y="2821707"/>
              <a:ext cx="458116" cy="458115"/>
            </a:xfrm>
            <a:prstGeom prst="arc">
              <a:avLst>
                <a:gd name="adj1" fmla="val 10846255"/>
                <a:gd name="adj2" fmla="val 0"/>
              </a:avLst>
            </a:prstGeom>
            <a:ln w="1905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A6D487D5-3326-4642-836C-C6B125E2B719}"/>
                </a:ext>
              </a:extLst>
            </p:cNvPr>
            <p:cNvSpPr/>
            <p:nvPr/>
          </p:nvSpPr>
          <p:spPr>
            <a:xfrm>
              <a:off x="1790576" y="2686495"/>
              <a:ext cx="862756" cy="681407"/>
            </a:xfrm>
            <a:prstGeom prst="arc">
              <a:avLst>
                <a:gd name="adj1" fmla="val 10846255"/>
                <a:gd name="adj2" fmla="val 0"/>
              </a:avLst>
            </a:prstGeom>
            <a:ln w="1905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9" name="Arc 38">
            <a:extLst>
              <a:ext uri="{FF2B5EF4-FFF2-40B4-BE49-F238E27FC236}">
                <a16:creationId xmlns:a16="http://schemas.microsoft.com/office/drawing/2014/main" id="{3803DCE3-0873-4091-A13B-F999BA259C05}"/>
              </a:ext>
            </a:extLst>
          </p:cNvPr>
          <p:cNvSpPr/>
          <p:nvPr/>
        </p:nvSpPr>
        <p:spPr>
          <a:xfrm>
            <a:off x="6347941" y="4142168"/>
            <a:ext cx="458116" cy="458115"/>
          </a:xfrm>
          <a:prstGeom prst="arc">
            <a:avLst>
              <a:gd name="adj1" fmla="val 10846255"/>
              <a:gd name="adj2" fmla="val 0"/>
            </a:avLst>
          </a:prstGeom>
          <a:ln w="1905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35CBF3C-DF2C-4024-B8A9-6473BD5685B4}"/>
                  </a:ext>
                </a:extLst>
              </p:cNvPr>
              <p:cNvSpPr txBox="1"/>
              <p:nvPr/>
            </p:nvSpPr>
            <p:spPr>
              <a:xfrm>
                <a:off x="515078" y="2111569"/>
                <a:ext cx="2568586" cy="1865126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600" dirty="0"/>
                  <a:t>Two Types of Constraints: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1600" b="1" dirty="0">
                    <a:solidFill>
                      <a:srgbClr val="7030A0"/>
                    </a:solidFill>
                  </a:rPr>
                  <a:t>(1) Not diagonal</a:t>
                </a:r>
              </a:p>
              <a:p>
                <a:pPr>
                  <a:lnSpc>
                    <a:spcPct val="120000"/>
                  </a:lnSpc>
                  <a:tabLst>
                    <a:tab pos="344488" algn="l"/>
                  </a:tabLst>
                </a:pPr>
                <a:r>
                  <a:rPr lang="en-US" sz="1600" dirty="0">
                    <a:solidFill>
                      <a:srgbClr val="C00000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6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d>
                      <m:dPr>
                        <m:begChr m:val="|"/>
                        <m:endChr m:val="|"/>
                        <m:ctrlP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sz="1600" dirty="0">
                  <a:solidFill>
                    <a:srgbClr val="C0000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sz="1600" i="1" dirty="0"/>
                  <a:t>and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1600" b="1" dirty="0">
                    <a:solidFill>
                      <a:srgbClr val="7030A0"/>
                    </a:solidFill>
                  </a:rPr>
                  <a:t>(2) Not same row</a:t>
                </a:r>
              </a:p>
              <a:p>
                <a:pPr>
                  <a:lnSpc>
                    <a:spcPct val="120000"/>
                  </a:lnSpc>
                  <a:tabLst>
                    <a:tab pos="401638" algn="l"/>
                  </a:tabLst>
                </a:pPr>
                <a:r>
                  <a:rPr lang="en-US" sz="1600" i="1" dirty="0"/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1≠</m:t>
                    </m:r>
                    <m:r>
                      <a:rPr lang="en-US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35CBF3C-DF2C-4024-B8A9-6473BD568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78" y="2111569"/>
                <a:ext cx="2568586" cy="1865126"/>
              </a:xfrm>
              <a:prstGeom prst="rect">
                <a:avLst/>
              </a:prstGeom>
              <a:blipFill>
                <a:blip r:embed="rId3"/>
                <a:stretch>
                  <a:fillRect l="-941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7C063F7-B6B5-4F55-B4A3-204DC4BB6804}"/>
                  </a:ext>
                </a:extLst>
              </p:cNvPr>
              <p:cNvSpPr txBox="1"/>
              <p:nvPr/>
            </p:nvSpPr>
            <p:spPr>
              <a:xfrm>
                <a:off x="515078" y="4176256"/>
                <a:ext cx="3140692" cy="424027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600" dirty="0"/>
                  <a:t>* </a:t>
                </a:r>
                <a:r>
                  <a:rPr lang="en-US" sz="1600" i="1" dirty="0"/>
                  <a:t>There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/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sPre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600" i="1" dirty="0"/>
                  <a:t> constraints.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7C063F7-B6B5-4F55-B4A3-204DC4BB6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78" y="4176256"/>
                <a:ext cx="3140692" cy="424027"/>
              </a:xfrm>
              <a:prstGeom prst="rect">
                <a:avLst/>
              </a:prstGeom>
              <a:blipFill>
                <a:blip r:embed="rId4"/>
                <a:stretch>
                  <a:fillRect l="-771" b="-6849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1501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206957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Examples (4)</a:t>
            </a:r>
            <a:endParaRPr lang="en-US" altLang="zh-TW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31886"/>
            <a:ext cx="6304935" cy="3635378"/>
          </a:xfrm>
        </p:spPr>
        <p:txBody>
          <a:bodyPr>
            <a:noAutofit/>
          </a:bodyPr>
          <a:lstStyle/>
          <a:p>
            <a:r>
              <a:rPr lang="en-US" sz="2200" u="sng" dirty="0">
                <a:solidFill>
                  <a:srgbClr val="FF0000"/>
                </a:solidFill>
              </a:rPr>
              <a:t>Example 3</a:t>
            </a:r>
            <a:r>
              <a:rPr lang="en-US" sz="2200" dirty="0"/>
              <a:t>: Generate all possible solutions of </a:t>
            </a:r>
            <a:r>
              <a:rPr lang="en-US" sz="2200" i="1" dirty="0">
                <a:solidFill>
                  <a:srgbClr val="FF0000"/>
                </a:solidFill>
              </a:rPr>
              <a:t>N-Queens Problem</a:t>
            </a:r>
            <a:r>
              <a:rPr lang="en-US" sz="2200" dirty="0"/>
              <a:t> with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n = 5</a:t>
            </a:r>
            <a:r>
              <a:rPr lang="en-US" sz="2200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669" y="1785454"/>
            <a:ext cx="6172657" cy="3255653"/>
          </a:xfrm>
          <a:prstGeom prst="rect">
            <a:avLst/>
          </a:prstGeom>
        </p:spPr>
      </p:pic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102380C8-7631-4188-88FA-94853988F281}"/>
              </a:ext>
            </a:extLst>
          </p:cNvPr>
          <p:cNvSpPr/>
          <p:nvPr/>
        </p:nvSpPr>
        <p:spPr>
          <a:xfrm>
            <a:off x="7519020" y="2266340"/>
            <a:ext cx="1518815" cy="396000"/>
          </a:xfrm>
          <a:prstGeom prst="round2DiagRect">
            <a:avLst>
              <a:gd name="adj1" fmla="val 30415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AI_CSP.ipynb</a:t>
            </a:r>
            <a:endParaRPr lang="en-US" i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CD0BF3-81D7-459A-AB53-12C8C8104D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04" y="2266340"/>
            <a:ext cx="1803825" cy="180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54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CSP Use Cases (1)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044700"/>
            <a:ext cx="6413609" cy="3722563"/>
          </a:xfrm>
        </p:spPr>
        <p:txBody>
          <a:bodyPr>
            <a:no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US" i="1" dirty="0">
                <a:solidFill>
                  <a:srgbClr val="FF0000"/>
                </a:solidFill>
              </a:rPr>
              <a:t>Example problem 1: Map coloring</a:t>
            </a:r>
          </a:p>
          <a:p>
            <a:pPr>
              <a:spcBef>
                <a:spcPts val="500"/>
              </a:spcBef>
            </a:pPr>
            <a:r>
              <a:rPr lang="en-US" dirty="0"/>
              <a:t>Consider a map of Australia showing each of its states and territories: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720" y="2224886"/>
            <a:ext cx="6155147" cy="267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14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CSP Use Cases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044700"/>
            <a:ext cx="6413609" cy="3722563"/>
          </a:xfrm>
        </p:spPr>
        <p:txBody>
          <a:bodyPr>
            <a:no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US" i="1" dirty="0">
                <a:solidFill>
                  <a:srgbClr val="FF0000"/>
                </a:solidFill>
              </a:rPr>
              <a:t>Example problem 1: Map coloring (2)</a:t>
            </a:r>
          </a:p>
          <a:p>
            <a:pPr>
              <a:spcBef>
                <a:spcPts val="500"/>
              </a:spcBef>
            </a:pPr>
            <a:r>
              <a:rPr lang="en-US" dirty="0"/>
              <a:t>We are given the task of coloring each region either red, green, or blue in such a way that no neighboring regions have the same color.</a:t>
            </a:r>
          </a:p>
          <a:p>
            <a:pPr>
              <a:spcBef>
                <a:spcPts val="500"/>
              </a:spcBef>
            </a:pPr>
            <a:r>
              <a:rPr lang="en-US" dirty="0"/>
              <a:t>To formulate this as a CSP, we define the </a:t>
            </a:r>
            <a:r>
              <a:rPr lang="en-US" i="1" dirty="0">
                <a:solidFill>
                  <a:srgbClr val="FF0000"/>
                </a:solidFill>
              </a:rPr>
              <a:t>variables</a:t>
            </a:r>
            <a:r>
              <a:rPr lang="en-US" dirty="0"/>
              <a:t> to be the regions</a:t>
            </a:r>
          </a:p>
          <a:p>
            <a:pPr marL="712788" lvl="1" indent="0">
              <a:spcBef>
                <a:spcPts val="500"/>
              </a:spcBef>
              <a:buNone/>
            </a:pPr>
            <a:r>
              <a:rPr lang="en-US" dirty="0"/>
              <a:t>X = {WA, NT, Q, NSW, V, SA, T} .</a:t>
            </a:r>
          </a:p>
          <a:p>
            <a:pPr>
              <a:spcBef>
                <a:spcPts val="500"/>
              </a:spcBef>
            </a:pPr>
            <a:r>
              <a:rPr lang="en-US" dirty="0"/>
              <a:t>The </a:t>
            </a:r>
            <a:r>
              <a:rPr lang="en-US" i="1" dirty="0">
                <a:solidFill>
                  <a:srgbClr val="FF0000"/>
                </a:solidFill>
              </a:rPr>
              <a:t>domain</a:t>
            </a:r>
            <a:r>
              <a:rPr lang="en-US" dirty="0"/>
              <a:t> of each variable is the set</a:t>
            </a:r>
          </a:p>
          <a:p>
            <a:pPr marL="712788" lvl="1" indent="0">
              <a:spcBef>
                <a:spcPts val="500"/>
              </a:spcBef>
              <a:buNone/>
            </a:pPr>
            <a:r>
              <a:rPr lang="en-US" dirty="0"/>
              <a:t>D</a:t>
            </a:r>
            <a:r>
              <a:rPr lang="en-US" baseline="-10000" dirty="0"/>
              <a:t>i</a:t>
            </a:r>
            <a:r>
              <a:rPr lang="en-US" dirty="0"/>
              <a:t> = {red , green, blue} 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20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CSP Use Cases (3)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044700"/>
            <a:ext cx="6558080" cy="3722563"/>
          </a:xfrm>
        </p:spPr>
        <p:txBody>
          <a:bodyPr>
            <a:no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US" i="1" dirty="0">
                <a:solidFill>
                  <a:srgbClr val="FF0000"/>
                </a:solidFill>
              </a:rPr>
              <a:t>Example problem 1: Map coloring (3)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The </a:t>
            </a:r>
            <a:r>
              <a:rPr lang="en-US" sz="2200" i="1" dirty="0">
                <a:solidFill>
                  <a:srgbClr val="FF0000"/>
                </a:solidFill>
              </a:rPr>
              <a:t>constraints</a:t>
            </a:r>
            <a:r>
              <a:rPr lang="en-US" sz="2200" dirty="0"/>
              <a:t> require neighboring regions to have distinct colors.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Since there are nine places where regions border, there are nine constraints:</a:t>
            </a:r>
          </a:p>
          <a:p>
            <a:pPr marL="712788" lvl="1" indent="0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sz="2200" dirty="0">
                <a:solidFill>
                  <a:srgbClr val="7030A0"/>
                </a:solidFill>
              </a:rPr>
              <a:t>C = {SA </a:t>
            </a:r>
            <a:r>
              <a:rPr lang="en-US" sz="2200" dirty="0">
                <a:solidFill>
                  <a:srgbClr val="7030A0"/>
                </a:solidFill>
                <a:sym typeface="Symbol" panose="05050102010706020507" pitchFamily="18" charset="2"/>
              </a:rPr>
              <a:t></a:t>
            </a:r>
            <a:r>
              <a:rPr lang="en-US" sz="2200" dirty="0">
                <a:solidFill>
                  <a:srgbClr val="7030A0"/>
                </a:solidFill>
              </a:rPr>
              <a:t> WA, SA </a:t>
            </a:r>
            <a:r>
              <a:rPr lang="en-US" sz="2200" dirty="0">
                <a:solidFill>
                  <a:srgbClr val="7030A0"/>
                </a:solidFill>
                <a:sym typeface="Symbol" panose="05050102010706020507" pitchFamily="18" charset="2"/>
              </a:rPr>
              <a:t></a:t>
            </a:r>
            <a:r>
              <a:rPr lang="en-US" sz="2200" dirty="0">
                <a:solidFill>
                  <a:srgbClr val="7030A0"/>
                </a:solidFill>
              </a:rPr>
              <a:t> NT, SA </a:t>
            </a:r>
            <a:r>
              <a:rPr lang="en-US" sz="2200" dirty="0">
                <a:solidFill>
                  <a:srgbClr val="7030A0"/>
                </a:solidFill>
                <a:sym typeface="Symbol" panose="05050102010706020507" pitchFamily="18" charset="2"/>
              </a:rPr>
              <a:t></a:t>
            </a:r>
            <a:r>
              <a:rPr lang="en-US" sz="2200" dirty="0">
                <a:solidFill>
                  <a:srgbClr val="7030A0"/>
                </a:solidFill>
              </a:rPr>
              <a:t> Q, SA </a:t>
            </a:r>
            <a:r>
              <a:rPr lang="en-US" sz="2200" dirty="0">
                <a:solidFill>
                  <a:srgbClr val="7030A0"/>
                </a:solidFill>
                <a:sym typeface="Symbol" panose="05050102010706020507" pitchFamily="18" charset="2"/>
              </a:rPr>
              <a:t></a:t>
            </a:r>
            <a:r>
              <a:rPr lang="en-US" sz="2200" dirty="0">
                <a:solidFill>
                  <a:srgbClr val="7030A0"/>
                </a:solidFill>
              </a:rPr>
              <a:t> NSW, SA </a:t>
            </a:r>
            <a:r>
              <a:rPr lang="en-US" sz="2200" dirty="0">
                <a:solidFill>
                  <a:srgbClr val="7030A0"/>
                </a:solidFill>
                <a:sym typeface="Symbol" panose="05050102010706020507" pitchFamily="18" charset="2"/>
              </a:rPr>
              <a:t></a:t>
            </a:r>
            <a:r>
              <a:rPr lang="en-US" sz="2200" dirty="0">
                <a:solidFill>
                  <a:srgbClr val="7030A0"/>
                </a:solidFill>
              </a:rPr>
              <a:t> V, WA </a:t>
            </a:r>
            <a:r>
              <a:rPr lang="en-US" sz="2200" dirty="0">
                <a:solidFill>
                  <a:srgbClr val="7030A0"/>
                </a:solidFill>
                <a:sym typeface="Symbol" panose="05050102010706020507" pitchFamily="18" charset="2"/>
              </a:rPr>
              <a:t></a:t>
            </a:r>
            <a:r>
              <a:rPr lang="en-US" sz="2200" dirty="0">
                <a:solidFill>
                  <a:srgbClr val="7030A0"/>
                </a:solidFill>
              </a:rPr>
              <a:t> NT, NT </a:t>
            </a:r>
            <a:r>
              <a:rPr lang="en-US" sz="2200" dirty="0">
                <a:solidFill>
                  <a:srgbClr val="7030A0"/>
                </a:solidFill>
                <a:sym typeface="Symbol" panose="05050102010706020507" pitchFamily="18" charset="2"/>
              </a:rPr>
              <a:t></a:t>
            </a:r>
            <a:r>
              <a:rPr lang="en-US" sz="2200" dirty="0">
                <a:solidFill>
                  <a:srgbClr val="7030A0"/>
                </a:solidFill>
              </a:rPr>
              <a:t> Q, Q </a:t>
            </a:r>
            <a:r>
              <a:rPr lang="en-US" sz="2200" dirty="0">
                <a:solidFill>
                  <a:srgbClr val="7030A0"/>
                </a:solidFill>
                <a:sym typeface="Symbol" panose="05050102010706020507" pitchFamily="18" charset="2"/>
              </a:rPr>
              <a:t></a:t>
            </a:r>
            <a:r>
              <a:rPr lang="en-US" sz="2200" dirty="0">
                <a:solidFill>
                  <a:srgbClr val="7030A0"/>
                </a:solidFill>
              </a:rPr>
              <a:t> NSW, NSW </a:t>
            </a:r>
            <a:r>
              <a:rPr lang="en-US" sz="2200" dirty="0">
                <a:solidFill>
                  <a:srgbClr val="7030A0"/>
                </a:solidFill>
                <a:sym typeface="Symbol" panose="05050102010706020507" pitchFamily="18" charset="2"/>
              </a:rPr>
              <a:t></a:t>
            </a:r>
            <a:r>
              <a:rPr lang="en-US" sz="2200" dirty="0">
                <a:solidFill>
                  <a:srgbClr val="7030A0"/>
                </a:solidFill>
              </a:rPr>
              <a:t> V }</a:t>
            </a:r>
            <a:r>
              <a:rPr lang="en-US" sz="2200" dirty="0"/>
              <a:t> .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There are many possible </a:t>
            </a:r>
            <a:r>
              <a:rPr lang="en-US" sz="2200" i="1" dirty="0">
                <a:solidFill>
                  <a:srgbClr val="FF0000"/>
                </a:solidFill>
              </a:rPr>
              <a:t>solutions</a:t>
            </a:r>
            <a:r>
              <a:rPr lang="en-US" sz="2200" dirty="0"/>
              <a:t> to this problem, such as</a:t>
            </a:r>
          </a:p>
          <a:p>
            <a:pPr marL="712788" lvl="1" indent="0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sz="2200" dirty="0">
                <a:solidFill>
                  <a:srgbClr val="7030A0"/>
                </a:solidFill>
              </a:rPr>
              <a:t>{WA = red, NT = green, Q = red, NSW = green, V = red, SA = blue, T = red} </a:t>
            </a:r>
            <a:r>
              <a:rPr lang="en-US" sz="2200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66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CSP Use Cases (4)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044700"/>
            <a:ext cx="6558080" cy="3722563"/>
          </a:xfrm>
        </p:spPr>
        <p:txBody>
          <a:bodyPr>
            <a:no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US" i="1" dirty="0">
                <a:solidFill>
                  <a:srgbClr val="FF0000"/>
                </a:solidFill>
              </a:rPr>
              <a:t>Map coloring: Implementation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720" y="1502815"/>
            <a:ext cx="6091661" cy="366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72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160357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CSP Use Cases (5)</a:t>
            </a:r>
            <a:endParaRPr lang="en-US" altLang="zh-TW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31886"/>
            <a:ext cx="6304935" cy="3635378"/>
          </a:xfrm>
        </p:spPr>
        <p:txBody>
          <a:bodyPr>
            <a:no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Example problem 2: SEND + MORE = MONEY</a:t>
            </a:r>
            <a:endParaRPr lang="en-US" sz="2400" dirty="0"/>
          </a:p>
          <a:p>
            <a:pPr>
              <a:spcBef>
                <a:spcPts val="500"/>
              </a:spcBef>
            </a:pPr>
            <a:r>
              <a:rPr lang="en-US" sz="2400" dirty="0"/>
              <a:t>Consider the problem of finding a digit (0~9) for each of the following letters:</a:t>
            </a:r>
          </a:p>
          <a:p>
            <a:pPr marL="719138" indent="0">
              <a:spcBef>
                <a:spcPts val="300"/>
              </a:spcBef>
              <a:buNone/>
            </a:pPr>
            <a:r>
              <a:rPr lang="en-US" sz="2200" dirty="0">
                <a:solidFill>
                  <a:srgbClr val="0070C0"/>
                </a:solidFill>
                <a:latin typeface="Consolas" panose="020B0609020204030204" pitchFamily="49" charset="0"/>
              </a:rPr>
              <a:t>  S E N D</a:t>
            </a:r>
          </a:p>
          <a:p>
            <a:pPr marL="719138" indent="0">
              <a:spcBef>
                <a:spcPts val="300"/>
              </a:spcBef>
              <a:buNone/>
            </a:pPr>
            <a:r>
              <a:rPr lang="en-US" sz="2200" u="sng" dirty="0">
                <a:solidFill>
                  <a:srgbClr val="0070C0"/>
                </a:solidFill>
                <a:latin typeface="Consolas" panose="020B0609020204030204" pitchFamily="49" charset="0"/>
              </a:rPr>
              <a:t>+ M O R E</a:t>
            </a:r>
          </a:p>
          <a:p>
            <a:pPr marL="719138" indent="0">
              <a:spcBef>
                <a:spcPts val="300"/>
              </a:spcBef>
              <a:buNone/>
            </a:pPr>
            <a:r>
              <a:rPr lang="en-US" sz="2200" dirty="0">
                <a:solidFill>
                  <a:srgbClr val="0070C0"/>
                </a:solidFill>
                <a:latin typeface="Consolas" panose="020B0609020204030204" pitchFamily="49" charset="0"/>
              </a:rPr>
              <a:t>M O N E Y</a:t>
            </a:r>
          </a:p>
          <a:p>
            <a:pPr>
              <a:spcBef>
                <a:spcPts val="500"/>
              </a:spcBef>
            </a:pPr>
            <a:r>
              <a:rPr lang="en-US" sz="2400" dirty="0"/>
              <a:t>Different letters should represent different digits.</a:t>
            </a:r>
          </a:p>
          <a:p>
            <a:pPr>
              <a:spcBef>
                <a:spcPts val="500"/>
              </a:spcBef>
            </a:pPr>
            <a:r>
              <a:rPr lang="en-US" sz="2400" dirty="0"/>
              <a:t>How can we use CSP to solve this problem?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664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160357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CSP Use Cases (6)</a:t>
            </a:r>
            <a:endParaRPr lang="en-US" altLang="zh-TW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102380C8-7631-4188-88FA-94853988F281}"/>
              </a:ext>
            </a:extLst>
          </p:cNvPr>
          <p:cNvSpPr/>
          <p:nvPr/>
        </p:nvSpPr>
        <p:spPr>
          <a:xfrm>
            <a:off x="7167985" y="596287"/>
            <a:ext cx="1911851" cy="396000"/>
          </a:xfrm>
          <a:prstGeom prst="round2DiagRect">
            <a:avLst>
              <a:gd name="adj1" fmla="val 30415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CSP_SEND.ipynb</a:t>
            </a:r>
            <a:endParaRPr lang="en-US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3A002D-DE6A-19A3-D01A-64567C326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69" y="102392"/>
            <a:ext cx="6566315" cy="50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88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0D1C-E3C4-F928-E761-ACCCE98F9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54DEE-F550-C105-723E-B42C8B8A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B51D0-9F9A-4A56-9181-6C8007602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FDC1D-FCD3-BDD5-A977-EA627A71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7E9CC6-733B-77BA-94D7-5B15FFD12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2" y="225208"/>
            <a:ext cx="4580222" cy="7253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62DAAF-76EA-BFF1-9FD9-BC26AF2B4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65" y="950556"/>
            <a:ext cx="5722504" cy="9171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50C46A-868D-51CF-1DA4-1620144BC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785" y="1938986"/>
            <a:ext cx="5705498" cy="9171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1408EE-3C03-E0BF-2821-95E7ABCC7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310" y="2952858"/>
            <a:ext cx="6251755" cy="9057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EA5422-20D7-F0BB-0809-14D0714EE5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7754" y="3731226"/>
            <a:ext cx="6319645" cy="96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65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160357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CSP Use Cases (7)</a:t>
            </a:r>
            <a:endParaRPr lang="en-US" altLang="zh-TW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38374" y="3029862"/>
            <a:ext cx="2205776" cy="1679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i="1" dirty="0">
                <a:solidFill>
                  <a:srgbClr val="7030A0"/>
                </a:solidFill>
              </a:rPr>
              <a:t>What digit should be filled in each of the missing cell?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50358" y="1180564"/>
          <a:ext cx="4733856" cy="352905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25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211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117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11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117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117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117"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117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117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117"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8374" y="2031543"/>
            <a:ext cx="2092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Example problem 3: Sudoku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898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160357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CSP Use Cases (8)</a:t>
            </a:r>
            <a:endParaRPr lang="en-US" altLang="zh-TW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01856"/>
            <a:ext cx="6304935" cy="3665408"/>
          </a:xfrm>
        </p:spPr>
        <p:txBody>
          <a:bodyPr>
            <a:noAutofit/>
          </a:bodyPr>
          <a:lstStyle/>
          <a:p>
            <a:pPr marL="360363" indent="-360363">
              <a:buFont typeface="+mj-lt"/>
              <a:buAutoNum type="arabicPeriod"/>
            </a:pPr>
            <a:r>
              <a:rPr lang="en-US" sz="2400" dirty="0"/>
              <a:t>Define variables and domains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76015" y="1610976"/>
            <a:ext cx="6710785" cy="3133165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ROWS = '</a:t>
            </a:r>
            <a:r>
              <a:rPr lang="en-US" sz="1600" dirty="0" err="1">
                <a:latin typeface="Consolas" panose="020B0609020204030204" pitchFamily="49" charset="0"/>
              </a:rPr>
              <a:t>abcdefghi</a:t>
            </a:r>
            <a:r>
              <a:rPr lang="en-US" sz="1600" dirty="0">
                <a:latin typeface="Consolas" panose="020B0609020204030204" pitchFamily="49" charset="0"/>
              </a:rPr>
              <a:t>'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COLS = '123456789'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DIGITS = range(1, 10)</a:t>
            </a:r>
          </a:p>
          <a:p>
            <a:pPr>
              <a:lnSpc>
                <a:spcPct val="95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VARS = [row + col for row in ROWS for col in COLS]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ROWGROUPS = [[row + col for col in COLS] for row in ROWS]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COLGROUPS = [[row + col for row in ROWS] for col in COLS]</a:t>
            </a:r>
          </a:p>
          <a:p>
            <a:pPr>
              <a:lnSpc>
                <a:spcPct val="95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SQUAREGROUPS = [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[ROWS[3 * </a:t>
            </a:r>
            <a:r>
              <a:rPr lang="en-US" sz="1600" dirty="0" err="1">
                <a:latin typeface="Consolas" panose="020B0609020204030204" pitchFamily="49" charset="0"/>
              </a:rPr>
              <a:t>rowgroup</a:t>
            </a:r>
            <a:r>
              <a:rPr lang="en-US" sz="1600" dirty="0">
                <a:latin typeface="Consolas" panose="020B0609020204030204" pitchFamily="49" charset="0"/>
              </a:rPr>
              <a:t> + k] + COLS[3 * </a:t>
            </a:r>
            <a:r>
              <a:rPr lang="en-US" sz="1600" dirty="0" err="1">
                <a:latin typeface="Consolas" panose="020B0609020204030204" pitchFamily="49" charset="0"/>
              </a:rPr>
              <a:t>colgroup</a:t>
            </a:r>
            <a:r>
              <a:rPr lang="en-US" sz="1600" dirty="0">
                <a:latin typeface="Consolas" panose="020B0609020204030204" pitchFamily="49" charset="0"/>
              </a:rPr>
              <a:t> + j]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 for j in range(3) for k in range(3)]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for </a:t>
            </a:r>
            <a:r>
              <a:rPr lang="en-US" sz="1600" dirty="0" err="1">
                <a:latin typeface="Consolas" panose="020B0609020204030204" pitchFamily="49" charset="0"/>
              </a:rPr>
              <a:t>colgroup</a:t>
            </a:r>
            <a:r>
              <a:rPr lang="en-US" sz="1600" dirty="0">
                <a:latin typeface="Consolas" panose="020B0609020204030204" pitchFamily="49" charset="0"/>
              </a:rPr>
              <a:t> in range(3) for </a:t>
            </a:r>
            <a:r>
              <a:rPr lang="en-US" sz="1600" dirty="0" err="1">
                <a:latin typeface="Consolas" panose="020B0609020204030204" pitchFamily="49" charset="0"/>
              </a:rPr>
              <a:t>rowgroup</a:t>
            </a:r>
            <a:r>
              <a:rPr lang="en-US" sz="1600" dirty="0">
                <a:latin typeface="Consolas" panose="020B0609020204030204" pitchFamily="49" charset="0"/>
              </a:rPr>
              <a:t> in range(3)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102380C8-7631-4188-88FA-94853988F281}"/>
              </a:ext>
            </a:extLst>
          </p:cNvPr>
          <p:cNvSpPr/>
          <p:nvPr/>
        </p:nvSpPr>
        <p:spPr>
          <a:xfrm>
            <a:off x="6862575" y="1394826"/>
            <a:ext cx="2064556" cy="396000"/>
          </a:xfrm>
          <a:prstGeom prst="round2DiagRect">
            <a:avLst>
              <a:gd name="adj1" fmla="val 30415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CSP_</a:t>
            </a:r>
            <a:r>
              <a:rPr lang="en-US" altLang="zh-TW" i="1" dirty="0" err="1"/>
              <a:t>Sudoku</a:t>
            </a:r>
            <a:r>
              <a:rPr lang="en-US" i="1" dirty="0" err="1"/>
              <a:t>.ipynb</a:t>
            </a:r>
            <a:endParaRPr lang="en-US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481777" y="2472895"/>
            <a:ext cx="12984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Example problem 3: Sudoku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696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160357"/>
            <a:ext cx="6413609" cy="725349"/>
          </a:xfrm>
        </p:spPr>
        <p:txBody>
          <a:bodyPr>
            <a:normAutofit/>
          </a:bodyPr>
          <a:lstStyle/>
          <a:p>
            <a:r>
              <a:rPr lang="en-US" dirty="0"/>
              <a:t>CSP Use Cases (9)</a:t>
            </a:r>
            <a:endParaRPr lang="en-US" altLang="zh-TW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01856"/>
            <a:ext cx="6304935" cy="3665408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Add variables and constraints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76015" y="1610976"/>
            <a:ext cx="6710785" cy="3133165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 err="1">
                <a:latin typeface="Consolas" panose="020B0609020204030204" pitchFamily="49" charset="0"/>
              </a:rPr>
              <a:t>def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solve</a:t>
            </a:r>
            <a:r>
              <a:rPr lang="en-US" sz="1600" dirty="0">
                <a:latin typeface="Consolas" panose="020B0609020204030204" pitchFamily="49" charset="0"/>
              </a:rPr>
              <a:t>(hints):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problem = Problem()</a:t>
            </a:r>
          </a:p>
          <a:p>
            <a:pPr>
              <a:lnSpc>
                <a:spcPct val="95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for </a:t>
            </a:r>
            <a:r>
              <a:rPr lang="en-US" sz="1600" dirty="0" err="1">
                <a:latin typeface="Consolas" panose="020B0609020204030204" pitchFamily="49" charset="0"/>
              </a:rPr>
              <a:t>var</a:t>
            </a:r>
            <a:r>
              <a:rPr lang="en-US" sz="1600" dirty="0">
                <a:latin typeface="Consolas" panose="020B0609020204030204" pitchFamily="49" charset="0"/>
              </a:rPr>
              <a:t>, hint in zip(VARS, hints):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problem.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addVariables</a:t>
            </a:r>
            <a:r>
              <a:rPr lang="en-US" sz="1600" dirty="0">
                <a:latin typeface="Consolas" panose="020B0609020204030204" pitchFamily="49" charset="0"/>
              </a:rPr>
              <a:t>([</a:t>
            </a:r>
            <a:r>
              <a:rPr lang="en-US" sz="1600" dirty="0" err="1">
                <a:latin typeface="Consolas" panose="020B0609020204030204" pitchFamily="49" charset="0"/>
              </a:rPr>
              <a:t>var</a:t>
            </a:r>
            <a:r>
              <a:rPr lang="en-US" sz="1600" dirty="0">
                <a:latin typeface="Consolas" panose="020B0609020204030204" pitchFamily="49" charset="0"/>
              </a:rPr>
              <a:t>], </a:t>
            </a:r>
          </a:p>
          <a:p>
            <a:pPr>
              <a:lnSpc>
                <a:spcPct val="95000"/>
              </a:lnSpc>
              <a:tabLst>
                <a:tab pos="179863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[hint] if hint in DIGITS else DIGITS)</a:t>
            </a:r>
          </a:p>
          <a:p>
            <a:pPr>
              <a:lnSpc>
                <a:spcPct val="95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for </a:t>
            </a:r>
            <a:r>
              <a:rPr lang="en-US" sz="1600" dirty="0" err="1">
                <a:latin typeface="Consolas" panose="020B0609020204030204" pitchFamily="49" charset="0"/>
              </a:rPr>
              <a:t>vargroups</a:t>
            </a:r>
            <a:r>
              <a:rPr lang="en-US" sz="1600" dirty="0">
                <a:latin typeface="Consolas" panose="020B0609020204030204" pitchFamily="49" charset="0"/>
              </a:rPr>
              <a:t> in [ROWGROUPS, COLGROUPS, SQUAREGROUPS]: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    for </a:t>
            </a:r>
            <a:r>
              <a:rPr lang="en-US" sz="1600" dirty="0" err="1">
                <a:latin typeface="Consolas" panose="020B0609020204030204" pitchFamily="49" charset="0"/>
              </a:rPr>
              <a:t>vargroup</a:t>
            </a:r>
            <a:r>
              <a:rPr lang="en-US" sz="1600" dirty="0">
                <a:latin typeface="Consolas" panose="020B0609020204030204" pitchFamily="49" charset="0"/>
              </a:rPr>
              <a:t> in </a:t>
            </a:r>
            <a:r>
              <a:rPr lang="en-US" sz="1600" dirty="0" err="1">
                <a:latin typeface="Consolas" panose="020B0609020204030204" pitchFamily="49" charset="0"/>
              </a:rPr>
              <a:t>vargroups</a:t>
            </a:r>
            <a:r>
              <a:rPr lang="en-US" sz="1600" dirty="0"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latin typeface="Consolas" panose="020B0609020204030204" pitchFamily="49" charset="0"/>
              </a:rPr>
              <a:t>problem.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addConstraint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95000"/>
              </a:lnSpc>
              <a:tabLst>
                <a:tab pos="179863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 err="1">
                <a:latin typeface="Consolas" panose="020B0609020204030204" pitchFamily="49" charset="0"/>
              </a:rPr>
              <a:t>AllDifferentConstraint</a:t>
            </a:r>
            <a:r>
              <a:rPr lang="en-US" sz="1600" dirty="0">
                <a:latin typeface="Consolas" panose="020B0609020204030204" pitchFamily="49" charset="0"/>
              </a:rPr>
              <a:t>(), </a:t>
            </a:r>
            <a:r>
              <a:rPr lang="en-US" sz="1600" dirty="0" err="1">
                <a:latin typeface="Consolas" panose="020B0609020204030204" pitchFamily="49" charset="0"/>
              </a:rPr>
              <a:t>vargroup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5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return </a:t>
            </a:r>
            <a:r>
              <a:rPr lang="en-US" sz="1600" dirty="0" err="1">
                <a:latin typeface="Consolas" panose="020B0609020204030204" pitchFamily="49" charset="0"/>
              </a:rPr>
              <a:t>problem.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getSolution</a:t>
            </a:r>
            <a:r>
              <a:rPr lang="en-US" sz="1600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777" y="2472895"/>
            <a:ext cx="12984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Example problem 3: Sudoku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304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160357"/>
            <a:ext cx="6413609" cy="725349"/>
          </a:xfrm>
        </p:spPr>
        <p:txBody>
          <a:bodyPr>
            <a:normAutofit/>
          </a:bodyPr>
          <a:lstStyle/>
          <a:p>
            <a:r>
              <a:rPr lang="en-US" dirty="0"/>
              <a:t>CSP Use Cases (10)</a:t>
            </a:r>
            <a:endParaRPr lang="en-US" altLang="zh-TW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01856"/>
            <a:ext cx="6304935" cy="3665408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Format solutions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92245" y="1610976"/>
            <a:ext cx="5794555" cy="3133165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 err="1">
                <a:latin typeface="Consolas" panose="020B0609020204030204" pitchFamily="49" charset="0"/>
              </a:rPr>
              <a:t>def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pretty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var_to_value</a:t>
            </a:r>
            <a:r>
              <a:rPr lang="en-US" sz="1600" dirty="0"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board = ''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for </a:t>
            </a:r>
            <a:r>
              <a:rPr lang="en-US" sz="1600" dirty="0" err="1">
                <a:latin typeface="Consolas" panose="020B0609020204030204" pitchFamily="49" charset="0"/>
              </a:rPr>
              <a:t>rownum</a:t>
            </a:r>
            <a:r>
              <a:rPr lang="en-US" sz="1600" dirty="0">
                <a:latin typeface="Consolas" panose="020B0609020204030204" pitchFamily="49" charset="0"/>
              </a:rPr>
              <a:t>, row in enumerate('</a:t>
            </a:r>
            <a:r>
              <a:rPr lang="en-US" sz="1600" dirty="0" err="1">
                <a:latin typeface="Consolas" panose="020B0609020204030204" pitchFamily="49" charset="0"/>
              </a:rPr>
              <a:t>abcdefghi</a:t>
            </a:r>
            <a:r>
              <a:rPr lang="en-US" sz="1600" dirty="0">
                <a:latin typeface="Consolas" panose="020B0609020204030204" pitchFamily="49" charset="0"/>
              </a:rPr>
              <a:t>'):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    for </a:t>
            </a:r>
            <a:r>
              <a:rPr lang="en-US" sz="1600" dirty="0" err="1">
                <a:latin typeface="Consolas" panose="020B0609020204030204" pitchFamily="49" charset="0"/>
              </a:rPr>
              <a:t>colnum</a:t>
            </a:r>
            <a:r>
              <a:rPr lang="en-US" sz="1600" dirty="0">
                <a:latin typeface="Consolas" panose="020B0609020204030204" pitchFamily="49" charset="0"/>
              </a:rPr>
              <a:t>, col in enumerate('123456789'):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        board += </a:t>
            </a:r>
            <a:r>
              <a:rPr lang="en-US" sz="1600" dirty="0" err="1">
                <a:latin typeface="Consolas" panose="020B0609020204030204" pitchFamily="49" charset="0"/>
              </a:rPr>
              <a:t>str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var_to_value</a:t>
            </a:r>
            <a:r>
              <a:rPr lang="en-US" sz="1600" dirty="0">
                <a:latin typeface="Consolas" panose="020B0609020204030204" pitchFamily="49" charset="0"/>
              </a:rPr>
              <a:t>[</a:t>
            </a:r>
            <a:r>
              <a:rPr lang="en-US" sz="1600" dirty="0" err="1">
                <a:latin typeface="Consolas" panose="020B0609020204030204" pitchFamily="49" charset="0"/>
              </a:rPr>
              <a:t>row+col</a:t>
            </a:r>
            <a:r>
              <a:rPr lang="en-US" sz="1600" dirty="0">
                <a:latin typeface="Consolas" panose="020B0609020204030204" pitchFamily="49" charset="0"/>
              </a:rPr>
              <a:t>])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        if </a:t>
            </a:r>
            <a:r>
              <a:rPr lang="en-US" sz="1600" dirty="0" err="1">
                <a:latin typeface="Consolas" panose="020B0609020204030204" pitchFamily="49" charset="0"/>
              </a:rPr>
              <a:t>colnum</a:t>
            </a:r>
            <a:r>
              <a:rPr lang="en-US" sz="1600" dirty="0">
                <a:latin typeface="Consolas" panose="020B0609020204030204" pitchFamily="49" charset="0"/>
              </a:rPr>
              <a:t> % 3 == 2: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            board += ' '</a:t>
            </a:r>
          </a:p>
          <a:p>
            <a:pPr>
              <a:lnSpc>
                <a:spcPct val="95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    board += '\n'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    if </a:t>
            </a:r>
            <a:r>
              <a:rPr lang="en-US" sz="1600" dirty="0" err="1">
                <a:latin typeface="Consolas" panose="020B0609020204030204" pitchFamily="49" charset="0"/>
              </a:rPr>
              <a:t>rownum</a:t>
            </a:r>
            <a:r>
              <a:rPr lang="en-US" sz="1600" dirty="0">
                <a:latin typeface="Consolas" panose="020B0609020204030204" pitchFamily="49" charset="0"/>
              </a:rPr>
              <a:t> % 3 == 2: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        board += '\n'</a:t>
            </a:r>
          </a:p>
          <a:p>
            <a:pPr>
              <a:lnSpc>
                <a:spcPct val="95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return 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777" y="2472895"/>
            <a:ext cx="12984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Example problem 3: Sudoku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940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160357"/>
            <a:ext cx="6413609" cy="725349"/>
          </a:xfrm>
        </p:spPr>
        <p:txBody>
          <a:bodyPr>
            <a:normAutofit/>
          </a:bodyPr>
          <a:lstStyle/>
          <a:p>
            <a:r>
              <a:rPr lang="en-US" dirty="0"/>
              <a:t>CSP Use Cases (11)</a:t>
            </a:r>
            <a:endParaRPr lang="en-US" altLang="zh-TW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01856"/>
            <a:ext cx="6304935" cy="3665408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/>
              <a:t>Define initial state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92245" y="1610976"/>
            <a:ext cx="5794555" cy="3133165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hints = (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0, 0, 8,  0, 0, 6,  0, 0, 0,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0, 0, 4,  3, 7, 9,  8, 0, 0,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5, 7, 0,  0, 1, 0,  3, 2, 0,</a:t>
            </a:r>
          </a:p>
          <a:p>
            <a:pPr>
              <a:lnSpc>
                <a:spcPct val="95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0, 5, 2,  0, 0, 7,  0, 0, 0,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0, 6, 0,  5, 9, 8,  0, 4, 0,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0, 0, 0,  4, 0, 0,  5, 7, 0,</a:t>
            </a:r>
          </a:p>
          <a:p>
            <a:pPr>
              <a:lnSpc>
                <a:spcPct val="95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0, 2, 1,  0, 4, 0,  0, 9, 8,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0, 0, 9,  6, 2, 3,  1, 0, 0,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    0, 0, 0,  9, 0, 0,  7, 0, 0,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777" y="2472895"/>
            <a:ext cx="12984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Example problem 3: Sudoku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44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89238" y="160357"/>
            <a:ext cx="6413609" cy="725349"/>
          </a:xfrm>
        </p:spPr>
        <p:txBody>
          <a:bodyPr>
            <a:normAutofit/>
          </a:bodyPr>
          <a:lstStyle/>
          <a:p>
            <a:r>
              <a:rPr lang="en-US" dirty="0"/>
              <a:t>CSP Use Cases (12)</a:t>
            </a:r>
            <a:endParaRPr lang="en-US" altLang="zh-TW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101856"/>
            <a:ext cx="6304935" cy="3665408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/>
              <a:t>Print solution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92245" y="1610976"/>
            <a:ext cx="5794555" cy="3133165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Consolas" panose="020B0609020204030204" pitchFamily="49" charset="0"/>
              </a:rPr>
              <a:t>print(pretty(solve(hints)))</a:t>
            </a:r>
          </a:p>
          <a:p>
            <a:pPr>
              <a:lnSpc>
                <a:spcPct val="95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938 256 417 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214 379 865 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576 814 329 </a:t>
            </a:r>
          </a:p>
          <a:p>
            <a:pPr>
              <a:lnSpc>
                <a:spcPct val="95000"/>
              </a:lnSpc>
            </a:pPr>
            <a:endParaRPr lang="en-US" sz="16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452 137 986 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167 598 243 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893 462 571 </a:t>
            </a:r>
          </a:p>
          <a:p>
            <a:pPr>
              <a:lnSpc>
                <a:spcPct val="95000"/>
              </a:lnSpc>
            </a:pPr>
            <a:endParaRPr lang="en-US" sz="16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321 745 698 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789 623 154 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645 981 732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777" y="2472895"/>
            <a:ext cx="12984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Example problem 3: Sudoku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0218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US" b="1" i="1" dirty="0">
                <a:solidFill>
                  <a:srgbClr val="FFFF00"/>
                </a:solidFill>
              </a:rPr>
              <a:t>Logic Programming</a:t>
            </a:r>
            <a:endParaRPr lang="en-US" b="1" i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Paradigms</a:t>
            </a:r>
          </a:p>
          <a:p>
            <a:r>
              <a:rPr lang="en-US" dirty="0"/>
              <a:t>Logic Programming: An Overview</a:t>
            </a:r>
          </a:p>
          <a:p>
            <a:r>
              <a:rPr lang="en-US" dirty="0"/>
              <a:t>Unification and Backtracking</a:t>
            </a:r>
          </a:p>
          <a:p>
            <a:r>
              <a:rPr lang="en-US" dirty="0"/>
              <a:t>Logic Programming with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754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0DD0A-0897-4482-8897-8CFE627D5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Logic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B8CF5-0851-4109-98DD-9E3499208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Logic programming is a programming paradigm that is based on formal logic and uses logical rules and inference to solve problems.</a:t>
            </a:r>
          </a:p>
          <a:p>
            <a:r>
              <a:rPr lang="en-US" sz="2000" dirty="0"/>
              <a:t>In logic programming, programs are composed of facts and rules expressed in a logic-based language. </a:t>
            </a:r>
          </a:p>
          <a:p>
            <a:r>
              <a:rPr lang="en-US" sz="2000" dirty="0"/>
              <a:t>The most common logic programming language is </a:t>
            </a:r>
            <a:r>
              <a:rPr lang="en-US" sz="2000" i="1" dirty="0">
                <a:solidFill>
                  <a:srgbClr val="FF0000"/>
                </a:solidFill>
              </a:rPr>
              <a:t>Prolog</a:t>
            </a:r>
            <a:r>
              <a:rPr lang="en-US" sz="2000" dirty="0"/>
              <a:t>, which stands for "Programming in Logic." In Prolog, you define a knowledge base consisting of facts and rules, and you can query this knowledge base to obtain solutions to problems.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F42FE-7285-4C90-B04D-9F73C547F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284DE-45D9-442B-9AC1-345B75B5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C8301-CDC4-4A7B-951D-C679B8CA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66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128470"/>
            <a:ext cx="6558080" cy="725349"/>
          </a:xfrm>
        </p:spPr>
        <p:txBody>
          <a:bodyPr>
            <a:normAutofit fontScale="90000"/>
          </a:bodyPr>
          <a:lstStyle/>
          <a:p>
            <a:r>
              <a:rPr lang="en-US" dirty="0"/>
              <a:t>Logic Programming: An Overview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i="1" dirty="0">
                <a:solidFill>
                  <a:srgbClr val="FF0000"/>
                </a:solidFill>
              </a:rPr>
              <a:t>Logic Programming</a:t>
            </a:r>
            <a:r>
              <a:rPr lang="en-US" sz="2200" dirty="0"/>
              <a:t> uses </a:t>
            </a:r>
            <a:r>
              <a:rPr lang="en-US" sz="2200" i="1" dirty="0">
                <a:solidFill>
                  <a:srgbClr val="FF0000"/>
                </a:solidFill>
              </a:rPr>
              <a:t>facts</a:t>
            </a:r>
            <a:r>
              <a:rPr lang="en-US" sz="2200" dirty="0"/>
              <a:t> and </a:t>
            </a:r>
            <a:r>
              <a:rPr lang="en-US" sz="2200" i="1" dirty="0">
                <a:solidFill>
                  <a:srgbClr val="FF0000"/>
                </a:solidFill>
              </a:rPr>
              <a:t>rules</a:t>
            </a:r>
            <a:r>
              <a:rPr lang="en-US" sz="2200" dirty="0"/>
              <a:t> for solving the problem.</a:t>
            </a:r>
          </a:p>
          <a:p>
            <a:r>
              <a:rPr lang="en-US" sz="2200" dirty="0"/>
              <a:t>That is why they are called the </a:t>
            </a:r>
            <a:r>
              <a:rPr lang="en-US" sz="2200" i="1" dirty="0">
                <a:solidFill>
                  <a:srgbClr val="FF0000"/>
                </a:solidFill>
              </a:rPr>
              <a:t>building blocks </a:t>
            </a:r>
            <a:r>
              <a:rPr lang="en-US" sz="2200" dirty="0"/>
              <a:t>of logic programming.</a:t>
            </a:r>
          </a:p>
          <a:p>
            <a:r>
              <a:rPr lang="en-US" sz="2200" dirty="0"/>
              <a:t>A </a:t>
            </a:r>
            <a:r>
              <a:rPr lang="en-US" sz="2200" i="1" dirty="0">
                <a:solidFill>
                  <a:srgbClr val="FF0000"/>
                </a:solidFill>
              </a:rPr>
              <a:t>goal</a:t>
            </a:r>
            <a:r>
              <a:rPr lang="en-US" sz="2200" dirty="0"/>
              <a:t> needs to be specified for every program in logic programming.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b="1" i="1" dirty="0">
                <a:solidFill>
                  <a:srgbClr val="FF0000"/>
                </a:solidFill>
              </a:rPr>
              <a:t>Facts</a:t>
            </a:r>
          </a:p>
          <a:p>
            <a:r>
              <a:rPr lang="en-US" sz="2200" dirty="0"/>
              <a:t>Actually, every logic program needs facts to work with so that it can achieve the given goal.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967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128470"/>
            <a:ext cx="6558080" cy="725349"/>
          </a:xfrm>
        </p:spPr>
        <p:txBody>
          <a:bodyPr>
            <a:normAutofit fontScale="90000"/>
          </a:bodyPr>
          <a:lstStyle/>
          <a:p>
            <a:r>
              <a:rPr lang="en-US" dirty="0"/>
              <a:t>Logic Programming: An Overview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Facts</a:t>
            </a:r>
            <a:r>
              <a:rPr lang="en-US" dirty="0"/>
              <a:t> basically are true statements </a:t>
            </a:r>
            <a:r>
              <a:rPr lang="en-US" i="1" dirty="0">
                <a:solidFill>
                  <a:srgbClr val="FF0000"/>
                </a:solidFill>
              </a:rPr>
              <a:t>about the program and data</a:t>
            </a:r>
            <a:r>
              <a:rPr lang="en-US" dirty="0"/>
              <a:t>.</a:t>
            </a:r>
          </a:p>
          <a:p>
            <a:r>
              <a:rPr lang="en-US" dirty="0"/>
              <a:t>For example, Beijing is the capital of China.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600" b="1" i="1" dirty="0">
                <a:solidFill>
                  <a:srgbClr val="FF0000"/>
                </a:solidFill>
              </a:rPr>
              <a:t>Rules</a:t>
            </a:r>
          </a:p>
          <a:p>
            <a:r>
              <a:rPr lang="en-US" dirty="0"/>
              <a:t>Rules are the constraints which allow us to </a:t>
            </a:r>
            <a:r>
              <a:rPr lang="en-US" i="1" dirty="0">
                <a:solidFill>
                  <a:srgbClr val="FF0000"/>
                </a:solidFill>
              </a:rPr>
              <a:t>make conclusions</a:t>
            </a:r>
            <a:r>
              <a:rPr lang="en-US" dirty="0"/>
              <a:t> about the problem domain.</a:t>
            </a:r>
          </a:p>
          <a:p>
            <a:r>
              <a:rPr lang="en-US" dirty="0"/>
              <a:t>Rules basically written as </a:t>
            </a:r>
            <a:r>
              <a:rPr lang="en-US" i="1" dirty="0">
                <a:solidFill>
                  <a:srgbClr val="FF0000"/>
                </a:solidFill>
              </a:rPr>
              <a:t>logical clauses</a:t>
            </a:r>
            <a:r>
              <a:rPr lang="en-US" dirty="0"/>
              <a:t> to express various facts.</a:t>
            </a:r>
          </a:p>
          <a:p>
            <a:r>
              <a:rPr lang="en-US" dirty="0"/>
              <a:t>For example, if we are building any game then all the rules must be defined.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8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128470"/>
            <a:ext cx="6558080" cy="725349"/>
          </a:xfrm>
        </p:spPr>
        <p:txBody>
          <a:bodyPr>
            <a:normAutofit fontScale="90000"/>
          </a:bodyPr>
          <a:lstStyle/>
          <a:p>
            <a:r>
              <a:rPr lang="en-US" dirty="0"/>
              <a:t>Logic Programming: An Overview (3)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Rules are very important to solve any problem in Logic Programming. Rules are basically</a:t>
            </a:r>
          </a:p>
          <a:p>
            <a:r>
              <a:rPr lang="en-US" sz="2200" dirty="0"/>
              <a:t>logical conclusion which can express the facts. Following is the syntax of rule:</a:t>
            </a:r>
          </a:p>
          <a:p>
            <a:pPr marL="712788" indent="0">
              <a:buNone/>
            </a:pPr>
            <a:r>
              <a:rPr lang="en-US" sz="1800" dirty="0">
                <a:solidFill>
                  <a:srgbClr val="7030A0"/>
                </a:solidFill>
                <a:latin typeface="Consolas" panose="020B0609020204030204" pitchFamily="49" charset="0"/>
              </a:rPr>
              <a:t>A:- B</a:t>
            </a:r>
            <a:r>
              <a:rPr lang="en-US" sz="1800" baseline="-10000" dirty="0">
                <a:solidFill>
                  <a:srgbClr val="7030A0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7030A0"/>
                </a:solidFill>
                <a:latin typeface="Consolas" panose="020B0609020204030204" pitchFamily="49" charset="0"/>
              </a:rPr>
              <a:t>,B</a:t>
            </a:r>
            <a:r>
              <a:rPr lang="en-US" sz="1800" baseline="-10000" dirty="0">
                <a:solidFill>
                  <a:srgbClr val="7030A0"/>
                </a:solidFill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7030A0"/>
                </a:solidFill>
                <a:latin typeface="Consolas" panose="020B0609020204030204" pitchFamily="49" charset="0"/>
              </a:rPr>
              <a:t>,...,B</a:t>
            </a:r>
            <a:r>
              <a:rPr lang="en-US" sz="1800" baseline="-10000" dirty="0">
                <a:solidFill>
                  <a:srgbClr val="7030A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7030A0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en-US" sz="2200" dirty="0"/>
              <a:t>Here, A is the </a:t>
            </a:r>
            <a:r>
              <a:rPr lang="en-US" sz="2200" i="1" dirty="0">
                <a:solidFill>
                  <a:srgbClr val="FF0000"/>
                </a:solidFill>
              </a:rPr>
              <a:t>head</a:t>
            </a:r>
            <a:r>
              <a:rPr lang="en-US" sz="2200" dirty="0"/>
              <a:t> and B</a:t>
            </a:r>
            <a:r>
              <a:rPr lang="en-US" sz="2200" baseline="-10000" dirty="0"/>
              <a:t>1</a:t>
            </a:r>
            <a:r>
              <a:rPr lang="en-US" sz="2200" dirty="0"/>
              <a:t>, B</a:t>
            </a:r>
            <a:r>
              <a:rPr lang="en-US" sz="2200" baseline="-10000" dirty="0"/>
              <a:t>2</a:t>
            </a:r>
            <a:r>
              <a:rPr lang="en-US" sz="2200" dirty="0"/>
              <a:t>, ... </a:t>
            </a:r>
            <a:r>
              <a:rPr lang="en-US" sz="2200" dirty="0" err="1"/>
              <a:t>B</a:t>
            </a:r>
            <a:r>
              <a:rPr lang="en-US" sz="2200" baseline="-10000" dirty="0" err="1"/>
              <a:t>n</a:t>
            </a:r>
            <a:r>
              <a:rPr lang="en-US" sz="2200" dirty="0"/>
              <a:t> is the </a:t>
            </a:r>
            <a:r>
              <a:rPr lang="en-US" sz="2200" i="1" dirty="0">
                <a:solidFill>
                  <a:srgbClr val="FF0000"/>
                </a:solidFill>
              </a:rPr>
              <a:t>body</a:t>
            </a:r>
            <a:r>
              <a:rPr lang="en-US" sz="2200" dirty="0"/>
              <a:t>.</a:t>
            </a:r>
          </a:p>
          <a:p>
            <a:r>
              <a:rPr lang="en-US" sz="2200" dirty="0"/>
              <a:t>For example: </a:t>
            </a:r>
          </a:p>
          <a:p>
            <a:pPr marL="712788" indent="0">
              <a:buNone/>
            </a:pPr>
            <a:r>
              <a:rPr lang="en-US" sz="1800" dirty="0">
                <a:solidFill>
                  <a:srgbClr val="7030A0"/>
                </a:solidFill>
                <a:latin typeface="Consolas" panose="020B0609020204030204" pitchFamily="49" charset="0"/>
              </a:rPr>
              <a:t>ancestor(X,Y):- father(X,Y).</a:t>
            </a:r>
          </a:p>
          <a:p>
            <a:pPr marL="712788" indent="0">
              <a:buNone/>
            </a:pPr>
            <a:r>
              <a:rPr lang="en-US" sz="1800" dirty="0">
                <a:solidFill>
                  <a:srgbClr val="7030A0"/>
                </a:solidFill>
                <a:latin typeface="Consolas" panose="020B0609020204030204" pitchFamily="49" charset="0"/>
              </a:rPr>
              <a:t>ancestor(X,Z):- father(X,Y), ancestor(Y,Z).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" name="Line Callout 2 6"/>
          <p:cNvSpPr/>
          <p:nvPr/>
        </p:nvSpPr>
        <p:spPr>
          <a:xfrm>
            <a:off x="6548930" y="2447112"/>
            <a:ext cx="2137870" cy="458115"/>
          </a:xfrm>
          <a:prstGeom prst="borderCallout2">
            <a:avLst>
              <a:gd name="adj1" fmla="val 41959"/>
              <a:gd name="adj2" fmla="val -873"/>
              <a:gd name="adj3" fmla="val 41959"/>
              <a:gd name="adj4" fmla="val -14180"/>
              <a:gd name="adj5" fmla="val 86970"/>
              <a:gd name="adj6" fmla="val -68053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if B</a:t>
            </a:r>
            <a:r>
              <a:rPr lang="en-US" baseline="-25000" dirty="0"/>
              <a:t>1</a:t>
            </a:r>
            <a:r>
              <a:rPr lang="en-US" dirty="0"/>
              <a:t> and … and B</a:t>
            </a:r>
            <a:r>
              <a:rPr lang="en-US" baseline="-25000" dirty="0"/>
              <a:t>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05506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044700"/>
            <a:ext cx="6304935" cy="3722564"/>
          </a:xfrm>
        </p:spPr>
        <p:txBody>
          <a:bodyPr>
            <a:noAutofit/>
          </a:bodyPr>
          <a:lstStyle/>
          <a:p>
            <a:r>
              <a:rPr lang="en-US" sz="2400" dirty="0"/>
              <a:t>Here is a logic program in Prolog: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867BA6-20D4-4472-8418-6604C82EB0D7}"/>
              </a:ext>
            </a:extLst>
          </p:cNvPr>
          <p:cNvSpPr txBox="1"/>
          <p:nvPr/>
        </p:nvSpPr>
        <p:spPr>
          <a:xfrm>
            <a:off x="5946346" y="1613320"/>
            <a:ext cx="2759512" cy="2585323"/>
          </a:xfrm>
          <a:prstGeom prst="rect">
            <a:avLst/>
          </a:prstGeom>
          <a:solidFill>
            <a:srgbClr val="DBB7FF"/>
          </a:solidFill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?- parent(meg, jane).</a:t>
            </a:r>
          </a:p>
          <a:p>
            <a:r>
              <a:rPr lang="en-US" dirty="0"/>
              <a:t>yes.</a:t>
            </a:r>
          </a:p>
          <a:p>
            <a:r>
              <a:rPr lang="en-US" dirty="0"/>
              <a:t>?- parent(carl, joe).</a:t>
            </a:r>
          </a:p>
          <a:p>
            <a:r>
              <a:rPr lang="en-US" dirty="0"/>
              <a:t>no.</a:t>
            </a:r>
          </a:p>
          <a:p>
            <a:r>
              <a:rPr lang="en-US" dirty="0"/>
              <a:t>?- grandparent(A, ralph).</a:t>
            </a:r>
          </a:p>
          <a:p>
            <a:r>
              <a:rPr lang="en-US" dirty="0"/>
              <a:t>A = harry;</a:t>
            </a:r>
          </a:p>
          <a:p>
            <a:r>
              <a:rPr lang="en-US" dirty="0"/>
              <a:t>no.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867BA6-20D4-4472-8418-6604C82EB0D7}"/>
              </a:ext>
            </a:extLst>
          </p:cNvPr>
          <p:cNvSpPr txBox="1"/>
          <p:nvPr/>
        </p:nvSpPr>
        <p:spPr>
          <a:xfrm>
            <a:off x="2839838" y="1613320"/>
            <a:ext cx="2953802" cy="2585323"/>
          </a:xfrm>
          <a:prstGeom prst="rect">
            <a:avLst/>
          </a:prstGeom>
          <a:solidFill>
            <a:srgbClr val="DBB7FF"/>
          </a:solidFill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parent(joe, jane).</a:t>
            </a:r>
          </a:p>
          <a:p>
            <a:r>
              <a:rPr lang="en-US" dirty="0"/>
              <a:t>parent(harry, carl).</a:t>
            </a:r>
          </a:p>
          <a:p>
            <a:r>
              <a:rPr lang="en-US" dirty="0"/>
              <a:t>parent(meg, jane).</a:t>
            </a:r>
          </a:p>
          <a:p>
            <a:r>
              <a:rPr lang="en-US" dirty="0"/>
              <a:t>parent(jane, anne).</a:t>
            </a:r>
          </a:p>
          <a:p>
            <a:r>
              <a:rPr lang="en-US" dirty="0"/>
              <a:t>parent(carl, ralph).</a:t>
            </a:r>
          </a:p>
          <a:p>
            <a:r>
              <a:rPr lang="en-US" dirty="0"/>
              <a:t>parent(hazel, harry).</a:t>
            </a:r>
          </a:p>
          <a:p>
            <a:endParaRPr lang="en-US" dirty="0"/>
          </a:p>
          <a:p>
            <a:r>
              <a:rPr lang="en-US" dirty="0"/>
              <a:t>grandparent(X, Z) :- </a:t>
            </a:r>
          </a:p>
          <a:p>
            <a:pPr>
              <a:tabLst>
                <a:tab pos="361950" algn="l"/>
              </a:tabLst>
            </a:pPr>
            <a:r>
              <a:rPr lang="en-US" dirty="0"/>
              <a:t>	parent(X, Y), parent(Y, Z).</a:t>
            </a:r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2128720" y="128470"/>
            <a:ext cx="6558080" cy="725349"/>
          </a:xfrm>
        </p:spPr>
        <p:txBody>
          <a:bodyPr>
            <a:normAutofit fontScale="90000"/>
          </a:bodyPr>
          <a:lstStyle/>
          <a:p>
            <a:r>
              <a:rPr lang="en-US" dirty="0"/>
              <a:t>Logic Programming: An Overview (4)</a:t>
            </a:r>
          </a:p>
        </p:txBody>
      </p:sp>
      <p:sp>
        <p:nvSpPr>
          <p:cNvPr id="4" name="Callout: Bent Line 3">
            <a:extLst>
              <a:ext uri="{FF2B5EF4-FFF2-40B4-BE49-F238E27FC236}">
                <a16:creationId xmlns:a16="http://schemas.microsoft.com/office/drawing/2014/main" id="{73DC5055-EEA8-41A9-AAD1-43C7A2A4E927}"/>
              </a:ext>
            </a:extLst>
          </p:cNvPr>
          <p:cNvSpPr/>
          <p:nvPr/>
        </p:nvSpPr>
        <p:spPr>
          <a:xfrm>
            <a:off x="754374" y="2515439"/>
            <a:ext cx="1221640" cy="514425"/>
          </a:xfrm>
          <a:prstGeom prst="borderCallout2">
            <a:avLst>
              <a:gd name="adj1" fmla="val 40136"/>
              <a:gd name="adj2" fmla="val 100123"/>
              <a:gd name="adj3" fmla="val 37081"/>
              <a:gd name="adj4" fmla="val 123868"/>
              <a:gd name="adj5" fmla="val -51840"/>
              <a:gd name="adj6" fmla="val 178648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Facts</a:t>
            </a:r>
          </a:p>
          <a:p>
            <a:pPr algn="ctr"/>
            <a:r>
              <a:rPr lang="en-US" sz="1600" i="1" dirty="0"/>
              <a:t>(Database)</a:t>
            </a:r>
          </a:p>
        </p:txBody>
      </p:sp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70C7D1C5-7803-47E1-B393-F63A34D55F47}"/>
              </a:ext>
            </a:extLst>
          </p:cNvPr>
          <p:cNvSpPr/>
          <p:nvPr/>
        </p:nvSpPr>
        <p:spPr>
          <a:xfrm>
            <a:off x="782078" y="3335857"/>
            <a:ext cx="1221640" cy="305494"/>
          </a:xfrm>
          <a:prstGeom prst="borderCallout2">
            <a:avLst>
              <a:gd name="adj1" fmla="val 40136"/>
              <a:gd name="adj2" fmla="val 100123"/>
              <a:gd name="adj3" fmla="val 37081"/>
              <a:gd name="adj4" fmla="val 123868"/>
              <a:gd name="adj5" fmla="val 194570"/>
              <a:gd name="adj6" fmla="val 176202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Rule</a:t>
            </a:r>
          </a:p>
        </p:txBody>
      </p: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60C3AE02-6010-484C-A359-43D4528BB04A}"/>
              </a:ext>
            </a:extLst>
          </p:cNvPr>
          <p:cNvSpPr/>
          <p:nvPr/>
        </p:nvSpPr>
        <p:spPr>
          <a:xfrm>
            <a:off x="7392925" y="4389524"/>
            <a:ext cx="1221640" cy="305494"/>
          </a:xfrm>
          <a:prstGeom prst="borderCallout2">
            <a:avLst>
              <a:gd name="adj1" fmla="val 59358"/>
              <a:gd name="adj2" fmla="val -135"/>
              <a:gd name="adj3" fmla="val 59049"/>
              <a:gd name="adj4" fmla="val -24459"/>
              <a:gd name="adj5" fmla="val -303023"/>
              <a:gd name="adj6" fmla="val -71997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32122851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75362-42FA-4580-9050-EEF87372F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Logic Program Engine (LPE)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EE27-8709-48C5-BA20-E529831F7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Unification</a:t>
            </a:r>
          </a:p>
          <a:p>
            <a:r>
              <a:rPr lang="en-US" dirty="0"/>
              <a:t>Backtracking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0B86C-A909-46EC-B2A7-718B99E3F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760B2-B472-4DE9-91BC-D5537345A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745F6-D22B-427F-8826-C0328227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070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7F2D9-A60E-40FD-86ED-BF518C9B9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DB13C-3794-4E2E-9A14-E1733640B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process of finding </a:t>
            </a:r>
            <a:r>
              <a:rPr lang="en-US" b="1" i="1" dirty="0">
                <a:solidFill>
                  <a:srgbClr val="00B050"/>
                </a:solidFill>
              </a:rPr>
              <a:t>substitutions</a:t>
            </a:r>
            <a:r>
              <a:rPr lang="en-US" dirty="0"/>
              <a:t> for variables in logical expressions</a:t>
            </a:r>
          </a:p>
          <a:p>
            <a:pPr lvl="1"/>
            <a:r>
              <a:rPr lang="en-US" dirty="0"/>
              <a:t>such that the expression become equal and compatible</a:t>
            </a:r>
          </a:p>
          <a:p>
            <a:r>
              <a:rPr lang="en-US" dirty="0"/>
              <a:t>For example, a LPE can unify the terms </a:t>
            </a:r>
            <a:r>
              <a:rPr lang="en-US" dirty="0">
                <a:solidFill>
                  <a:schemeClr val="accent1"/>
                </a:solidFill>
              </a:rPr>
              <a:t>cat(A)</a:t>
            </a:r>
            <a:r>
              <a:rPr lang="en-US" dirty="0"/>
              <a:t>, and </a:t>
            </a:r>
            <a:r>
              <a:rPr lang="en-US" dirty="0">
                <a:solidFill>
                  <a:schemeClr val="accent1"/>
                </a:solidFill>
              </a:rPr>
              <a:t>cat(</a:t>
            </a:r>
            <a:r>
              <a:rPr lang="en-US" dirty="0" err="1">
                <a:solidFill>
                  <a:schemeClr val="accent1"/>
                </a:solidFill>
              </a:rPr>
              <a:t>mary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r>
              <a:rPr lang="en-US" dirty="0"/>
              <a:t> by binding variable A to atom </a:t>
            </a:r>
            <a:r>
              <a:rPr lang="en-US" dirty="0" err="1">
                <a:solidFill>
                  <a:schemeClr val="accent1"/>
                </a:solidFill>
              </a:rPr>
              <a:t>mary</a:t>
            </a:r>
            <a:r>
              <a:rPr lang="en-US" dirty="0"/>
              <a:t> that means we are giving the value </a:t>
            </a:r>
            <a:r>
              <a:rPr lang="en-US" dirty="0" err="1">
                <a:solidFill>
                  <a:schemeClr val="accent1"/>
                </a:solidFill>
              </a:rPr>
              <a:t>mary</a:t>
            </a:r>
            <a:r>
              <a:rPr lang="en-US" dirty="0"/>
              <a:t> to variable </a:t>
            </a:r>
            <a:r>
              <a:rPr lang="en-US" dirty="0">
                <a:solidFill>
                  <a:schemeClr val="accent1"/>
                </a:solidFill>
              </a:rPr>
              <a:t>A</a:t>
            </a:r>
            <a:r>
              <a:rPr lang="en-US" dirty="0"/>
              <a:t>.</a:t>
            </a:r>
          </a:p>
          <a:p>
            <a:r>
              <a:rPr lang="en-US" dirty="0"/>
              <a:t>A LPE can unify </a:t>
            </a:r>
            <a:r>
              <a:rPr lang="en-US" dirty="0">
                <a:solidFill>
                  <a:schemeClr val="accent1"/>
                </a:solidFill>
              </a:rPr>
              <a:t>person(Kevin, </a:t>
            </a:r>
            <a:r>
              <a:rPr lang="en-US" dirty="0" err="1">
                <a:solidFill>
                  <a:schemeClr val="accent1"/>
                </a:solidFill>
              </a:rPr>
              <a:t>dane</a:t>
            </a:r>
            <a:r>
              <a:rPr lang="en-US" dirty="0">
                <a:solidFill>
                  <a:schemeClr val="accent1"/>
                </a:solidFill>
              </a:rPr>
              <a:t>) </a:t>
            </a:r>
            <a:r>
              <a:rPr lang="en-US" dirty="0"/>
              <a:t>and </a:t>
            </a:r>
            <a:r>
              <a:rPr lang="en-US" dirty="0">
                <a:solidFill>
                  <a:schemeClr val="accent1"/>
                </a:solidFill>
              </a:rPr>
              <a:t>person(L, S) </a:t>
            </a:r>
            <a:r>
              <a:rPr lang="en-US" dirty="0"/>
              <a:t>by binding </a:t>
            </a:r>
            <a:r>
              <a:rPr lang="en-US" dirty="0">
                <a:solidFill>
                  <a:schemeClr val="accent1"/>
                </a:solidFill>
              </a:rPr>
              <a:t>L </a:t>
            </a:r>
            <a:r>
              <a:rPr lang="en-US" dirty="0"/>
              <a:t>and </a:t>
            </a:r>
            <a:r>
              <a:rPr lang="en-US" dirty="0">
                <a:solidFill>
                  <a:schemeClr val="accent1"/>
                </a:solidFill>
              </a:rPr>
              <a:t>S</a:t>
            </a:r>
            <a:r>
              <a:rPr lang="en-US" dirty="0"/>
              <a:t> to atom </a:t>
            </a:r>
            <a:r>
              <a:rPr lang="en-US" dirty="0" err="1">
                <a:solidFill>
                  <a:schemeClr val="accent1"/>
                </a:solidFill>
              </a:rPr>
              <a:t>kevin</a:t>
            </a:r>
            <a:r>
              <a:rPr lang="en-US" dirty="0"/>
              <a:t> and </a:t>
            </a:r>
            <a:r>
              <a:rPr lang="en-US" dirty="0" err="1">
                <a:solidFill>
                  <a:schemeClr val="accent1"/>
                </a:solidFill>
              </a:rPr>
              <a:t>dane</a:t>
            </a:r>
            <a:r>
              <a:rPr lang="en-US" dirty="0"/>
              <a:t>, respectively.</a:t>
            </a:r>
          </a:p>
          <a:p>
            <a:r>
              <a:rPr lang="en-US" dirty="0"/>
              <a:t>Sometimes it is called </a:t>
            </a:r>
            <a:r>
              <a:rPr lang="en-US" sz="2400" i="1" dirty="0">
                <a:solidFill>
                  <a:srgbClr val="FF0000"/>
                </a:solidFill>
              </a:rPr>
              <a:t>binding the variables to values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8E0C8-710C-4BCD-AF26-5BB41E8F8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7F89F-CFB5-4F85-9BB7-9318B13F0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9F582-19A8-4579-B042-31B8776DB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456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75362-42FA-4580-9050-EEF87372F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Logic Program Engine (LPE)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EE27-8709-48C5-BA20-E529831F7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Unification</a:t>
            </a:r>
          </a:p>
          <a:p>
            <a:r>
              <a:rPr lang="en-US" dirty="0">
                <a:solidFill>
                  <a:srgbClr val="FF0000"/>
                </a:solidFill>
              </a:rPr>
              <a:t>Backtracking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0B86C-A909-46EC-B2A7-718B99E3F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760B2-B472-4DE9-91BC-D5537345A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745F6-D22B-427F-8826-C0328227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425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2BDE4-6C90-45F6-94E8-1D14717A4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Backtracking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92E33-DCB1-4AB4-992D-BB20FC229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process of backtracking, a LPE will go back to the previous goal, and after that, it will try to find another way to satisfy the goal.</a:t>
            </a:r>
          </a:p>
          <a:p>
            <a:endParaRPr lang="en-US" dirty="0"/>
          </a:p>
          <a:p>
            <a:r>
              <a:rPr lang="en-US" dirty="0"/>
              <a:t>If the current solution fails, backtracking allows for exploring alternative solutions.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CE139-F064-46AA-BF19-8A46F8E79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81A46-1E73-4F6E-8201-2DD49294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55424-3590-4D4D-AB5B-859B5991E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219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4D394-33E6-4087-A902-ACFED0A0D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Backtracking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20230-4059-408B-B44E-5EDA55DCB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Here's a simplified explanation of how backtracking works: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system starts by attempting to satisfy the first goal or query.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the goal is satisfied, it continues to the next goal or query.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the goal fails, the system backtracks to the previous choice point and explores alternative choices.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system then continues the search from the alternative choice point, either trying a different possibility or exploring a different branch.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all possibilities and branches have been exhausted, and no more solutions are found, the search terminates.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F6266-9541-4AF8-BA0E-C69F838E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7A62C-74C7-4BA1-BDE1-985F00C2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1A29D-A4F3-4F7B-B340-85C0C7EB2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772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128470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Backtracking: An Illustration (1)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88720"/>
            <a:ext cx="6558080" cy="3569858"/>
          </a:xfrm>
        </p:spPr>
        <p:txBody>
          <a:bodyPr>
            <a:normAutofit/>
          </a:bodyPr>
          <a:lstStyle/>
          <a:p>
            <a:r>
              <a:rPr lang="en-US" sz="2200" dirty="0"/>
              <a:t>When it finds that D is not the destination, it backtracks to B, then go to E, and backtracks again to B and then A, …</a:t>
            </a:r>
          </a:p>
          <a:p>
            <a:r>
              <a:rPr lang="en-US" sz="2200" dirty="0"/>
              <a:t>When it finds G (the goal), it stops.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990774-2507-4E04-A6DA-BA4447CFA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370" y="2612672"/>
            <a:ext cx="5187818" cy="212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049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8C3EDC-296B-49EA-B1C2-AA2720B85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Backtracking: An Illustration (2)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EF6500-C06F-49D6-B7D0-EACE36F02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X = {Q, NSW, V, T, SA, WA, NT}</a:t>
            </a:r>
          </a:p>
          <a:p>
            <a:r>
              <a:rPr lang="en-US" sz="2000" dirty="0"/>
              <a:t>We would follow a </a:t>
            </a:r>
            <a:r>
              <a:rPr lang="en-US" sz="2000" dirty="0">
                <a:solidFill>
                  <a:srgbClr val="FF0000"/>
                </a:solidFill>
              </a:rPr>
              <a:t>chronological order </a:t>
            </a:r>
            <a:r>
              <a:rPr lang="en-US" sz="2000" dirty="0"/>
              <a:t>for assignments.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0544E3-4A52-45A9-AB9E-2549C5C6C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AC4F1A-50FC-41AC-B3A1-8EFF0FF20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5109BD-2915-4A3B-BF7F-04DA08C55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1133CBBF-0C3E-4FA9-B2EA-EB860F1A44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211"/>
          <a:stretch/>
        </p:blipFill>
        <p:spPr>
          <a:xfrm>
            <a:off x="4877604" y="2087964"/>
            <a:ext cx="3126141" cy="267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9266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AD214B-E3AD-4170-8B2B-EC99F2D1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Backtracking: An Illustration (3)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6AF43-40F9-4E14-BF1F-AA3B9B2D0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 = {Q, NSW, V, T, SA, WA,NT}</a:t>
            </a:r>
          </a:p>
          <a:p>
            <a:r>
              <a:rPr lang="en-US" sz="2000" dirty="0"/>
              <a:t>Q = Red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84F36B-F4D1-4EB9-8AFF-D53FE3D73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A6606A-5619-47DF-BB29-47D2011E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95DB70-CEC4-4669-90AC-E50C4904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F08C8E-A7C8-443A-9F63-7FB4CE1A64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211"/>
          <a:stretch/>
        </p:blipFill>
        <p:spPr>
          <a:xfrm>
            <a:off x="4877604" y="2087964"/>
            <a:ext cx="3126141" cy="2679299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F6E4B38D-1662-4FAC-BCBA-369C3ED82B26}"/>
              </a:ext>
            </a:extLst>
          </p:cNvPr>
          <p:cNvSpPr/>
          <p:nvPr/>
        </p:nvSpPr>
        <p:spPr>
          <a:xfrm>
            <a:off x="7292240" y="2434828"/>
            <a:ext cx="305410" cy="27384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47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AD214B-E3AD-4170-8B2B-EC99F2D1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Backtracking: An Illustration (4)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6AF43-40F9-4E14-BF1F-AA3B9B2D0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 = {Q, NSW, V, T, SA, WA,NT}</a:t>
            </a:r>
          </a:p>
          <a:p>
            <a:r>
              <a:rPr lang="en-US" sz="2000" dirty="0"/>
              <a:t>Q = Red</a:t>
            </a:r>
          </a:p>
          <a:p>
            <a:r>
              <a:rPr lang="en-US" sz="2000" dirty="0"/>
              <a:t>NSW = Green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84F36B-F4D1-4EB9-8AFF-D53FE3D73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A6606A-5619-47DF-BB29-47D2011E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95DB70-CEC4-4669-90AC-E50C4904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F08C8E-A7C8-443A-9F63-7FB4CE1A64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211"/>
          <a:stretch/>
        </p:blipFill>
        <p:spPr>
          <a:xfrm>
            <a:off x="4877604" y="2087964"/>
            <a:ext cx="3126141" cy="2679299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F6E4B38D-1662-4FAC-BCBA-369C3ED82B26}"/>
              </a:ext>
            </a:extLst>
          </p:cNvPr>
          <p:cNvSpPr/>
          <p:nvPr/>
        </p:nvSpPr>
        <p:spPr>
          <a:xfrm>
            <a:off x="7292240" y="2434828"/>
            <a:ext cx="305410" cy="27384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E02A1291-090E-4100-84C7-E490629EEEEF}"/>
              </a:ext>
            </a:extLst>
          </p:cNvPr>
          <p:cNvSpPr/>
          <p:nvPr/>
        </p:nvSpPr>
        <p:spPr>
          <a:xfrm>
            <a:off x="7607355" y="3182570"/>
            <a:ext cx="305410" cy="27384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91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AD214B-E3AD-4170-8B2B-EC99F2D1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Backtracking: An Illustration (5)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6AF43-40F9-4E14-BF1F-AA3B9B2D0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 = {Q, NSW, V, T, SA, WA,NT}</a:t>
            </a:r>
          </a:p>
          <a:p>
            <a:r>
              <a:rPr lang="en-US" sz="2000" dirty="0"/>
              <a:t>Q = Red</a:t>
            </a:r>
          </a:p>
          <a:p>
            <a:r>
              <a:rPr lang="en-US" sz="2000" dirty="0"/>
              <a:t>NSW = Green</a:t>
            </a:r>
          </a:p>
          <a:p>
            <a:r>
              <a:rPr lang="en-US" sz="2000" dirty="0"/>
              <a:t>V = Blue</a:t>
            </a:r>
          </a:p>
          <a:p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84F36B-F4D1-4EB9-8AFF-D53FE3D73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A6606A-5619-47DF-BB29-47D2011E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95DB70-CEC4-4669-90AC-E50C4904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F08C8E-A7C8-443A-9F63-7FB4CE1A64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211"/>
          <a:stretch/>
        </p:blipFill>
        <p:spPr>
          <a:xfrm>
            <a:off x="4877604" y="2087964"/>
            <a:ext cx="3126141" cy="2679299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F6E4B38D-1662-4FAC-BCBA-369C3ED82B26}"/>
              </a:ext>
            </a:extLst>
          </p:cNvPr>
          <p:cNvSpPr/>
          <p:nvPr/>
        </p:nvSpPr>
        <p:spPr>
          <a:xfrm>
            <a:off x="7292240" y="2434828"/>
            <a:ext cx="305410" cy="27384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E02A1291-090E-4100-84C7-E490629EEEEF}"/>
              </a:ext>
            </a:extLst>
          </p:cNvPr>
          <p:cNvSpPr/>
          <p:nvPr/>
        </p:nvSpPr>
        <p:spPr>
          <a:xfrm>
            <a:off x="7607355" y="3182570"/>
            <a:ext cx="305410" cy="27384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46215460-C914-49C4-BCF1-4DC12B99784D}"/>
              </a:ext>
            </a:extLst>
          </p:cNvPr>
          <p:cNvSpPr/>
          <p:nvPr/>
        </p:nvSpPr>
        <p:spPr>
          <a:xfrm>
            <a:off x="7139535" y="3681041"/>
            <a:ext cx="305410" cy="27384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986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AD214B-E3AD-4170-8B2B-EC99F2D1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Backtracking: An Illustration (6)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6AF43-40F9-4E14-BF1F-AA3B9B2D0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 = {Q, NSW, V, T, SA, WA,NT}</a:t>
            </a:r>
          </a:p>
          <a:p>
            <a:r>
              <a:rPr lang="en-US" sz="2000" dirty="0"/>
              <a:t>Q = Red</a:t>
            </a:r>
          </a:p>
          <a:p>
            <a:r>
              <a:rPr lang="en-US" sz="2000" dirty="0"/>
              <a:t>NSW = Green</a:t>
            </a:r>
          </a:p>
          <a:p>
            <a:r>
              <a:rPr lang="en-US" sz="2000" dirty="0"/>
              <a:t>V = Blue</a:t>
            </a:r>
          </a:p>
          <a:p>
            <a:r>
              <a:rPr lang="en-US" sz="2000" dirty="0"/>
              <a:t>T = Red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SA = no legal value</a:t>
            </a:r>
          </a:p>
          <a:p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84F36B-F4D1-4EB9-8AFF-D53FE3D73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A6606A-5619-47DF-BB29-47D2011E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95DB70-CEC4-4669-90AC-E50C4904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F08C8E-A7C8-443A-9F63-7FB4CE1A64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211"/>
          <a:stretch/>
        </p:blipFill>
        <p:spPr>
          <a:xfrm>
            <a:off x="4877604" y="2087964"/>
            <a:ext cx="3126141" cy="2679299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F6E4B38D-1662-4FAC-BCBA-369C3ED82B26}"/>
              </a:ext>
            </a:extLst>
          </p:cNvPr>
          <p:cNvSpPr/>
          <p:nvPr/>
        </p:nvSpPr>
        <p:spPr>
          <a:xfrm>
            <a:off x="7292240" y="2434828"/>
            <a:ext cx="305410" cy="27384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E02A1291-090E-4100-84C7-E490629EEEEF}"/>
              </a:ext>
            </a:extLst>
          </p:cNvPr>
          <p:cNvSpPr/>
          <p:nvPr/>
        </p:nvSpPr>
        <p:spPr>
          <a:xfrm>
            <a:off x="7607355" y="3182570"/>
            <a:ext cx="305410" cy="27384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46215460-C914-49C4-BCF1-4DC12B99784D}"/>
              </a:ext>
            </a:extLst>
          </p:cNvPr>
          <p:cNvSpPr/>
          <p:nvPr/>
        </p:nvSpPr>
        <p:spPr>
          <a:xfrm>
            <a:off x="7139535" y="3681041"/>
            <a:ext cx="305410" cy="27384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6887F1F5-8788-476A-BC51-777F38A3D195}"/>
              </a:ext>
            </a:extLst>
          </p:cNvPr>
          <p:cNvSpPr/>
          <p:nvPr/>
        </p:nvSpPr>
        <p:spPr>
          <a:xfrm>
            <a:off x="7292240" y="4327099"/>
            <a:ext cx="305410" cy="27384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984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AD214B-E3AD-4170-8B2B-EC99F2D1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Backtracking: An Illustration (7)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6AF43-40F9-4E14-BF1F-AA3B9B2D0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Solution:</a:t>
            </a:r>
          </a:p>
          <a:p>
            <a:r>
              <a:rPr lang="en-US" sz="2000" dirty="0"/>
              <a:t>The </a:t>
            </a:r>
            <a:r>
              <a:rPr lang="en-US" sz="2000" dirty="0" err="1"/>
              <a:t>backjumping</a:t>
            </a:r>
            <a:r>
              <a:rPr lang="en-US" sz="2000" dirty="0"/>
              <a:t> method backtracks to the most recent assignment in the conflict set.</a:t>
            </a:r>
          </a:p>
          <a:p>
            <a:endParaRPr lang="en-US" sz="2000" dirty="0"/>
          </a:p>
          <a:p>
            <a:r>
              <a:rPr lang="en-US" sz="2000" dirty="0" err="1"/>
              <a:t>Goto</a:t>
            </a:r>
            <a:r>
              <a:rPr lang="en-US" sz="2000" dirty="0"/>
              <a:t>: T </a:t>
            </a:r>
            <a:r>
              <a:rPr lang="en-US" sz="2000" dirty="0">
                <a:solidFill>
                  <a:srgbClr val="FF0000"/>
                </a:solidFill>
              </a:rPr>
              <a:t>(assume we know T is </a:t>
            </a:r>
            <a:r>
              <a:rPr lang="en-US" sz="2000">
                <a:solidFill>
                  <a:srgbClr val="FF0000"/>
                </a:solidFill>
              </a:rPr>
              <a:t>not relevant)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 err="1"/>
              <a:t>Goto</a:t>
            </a:r>
            <a:r>
              <a:rPr lang="en-US" sz="2000" dirty="0"/>
              <a:t>: V</a:t>
            </a:r>
          </a:p>
          <a:p>
            <a:r>
              <a:rPr lang="en-US" sz="2000" dirty="0"/>
              <a:t>Try other values for V</a:t>
            </a:r>
          </a:p>
          <a:p>
            <a:pPr lvl="1"/>
            <a:r>
              <a:rPr lang="en-US" sz="2000" dirty="0"/>
              <a:t>E.g. Red</a:t>
            </a:r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84F36B-F4D1-4EB9-8AFF-D53FE3D73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A6606A-5619-47DF-BB29-47D2011E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95DB70-CEC4-4669-90AC-E50C4904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637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128470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US" dirty="0"/>
              <a:t>Logic Programming with Python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starting logic programming in Python, we need to install the following two packages:</a:t>
            </a:r>
          </a:p>
          <a:p>
            <a:pPr lvl="1"/>
            <a:r>
              <a:rPr lang="en-US" sz="2200" dirty="0" err="1">
                <a:solidFill>
                  <a:srgbClr val="FF0000"/>
                </a:solidFill>
              </a:rPr>
              <a:t>Kanren</a:t>
            </a:r>
            <a:r>
              <a:rPr lang="en-US" sz="2200" dirty="0">
                <a:solidFill>
                  <a:srgbClr val="FF0000"/>
                </a:solidFill>
              </a:rPr>
              <a:t> (</a:t>
            </a:r>
            <a:r>
              <a:rPr lang="en-US" sz="2200" dirty="0" err="1">
                <a:solidFill>
                  <a:srgbClr val="FF0000"/>
                </a:solidFill>
              </a:rPr>
              <a:t>minikanren</a:t>
            </a:r>
            <a:r>
              <a:rPr lang="en-US" sz="2200" dirty="0">
                <a:solidFill>
                  <a:srgbClr val="FF0000"/>
                </a:solidFill>
              </a:rPr>
              <a:t>)</a:t>
            </a:r>
            <a:r>
              <a:rPr lang="en-US" sz="2200" dirty="0"/>
              <a:t>: express the logic in terms of rules and facts.</a:t>
            </a:r>
          </a:p>
          <a:p>
            <a:pPr lvl="1"/>
            <a:r>
              <a:rPr lang="en-US" sz="2200" dirty="0" err="1">
                <a:solidFill>
                  <a:srgbClr val="FF0000"/>
                </a:solidFill>
              </a:rPr>
              <a:t>SymPy</a:t>
            </a:r>
            <a:r>
              <a:rPr lang="en-US" sz="2200" dirty="0">
                <a:solidFill>
                  <a:srgbClr val="FF0000"/>
                </a:solidFill>
              </a:rPr>
              <a:t> (</a:t>
            </a:r>
            <a:r>
              <a:rPr lang="en-US" sz="2200" dirty="0" err="1">
                <a:solidFill>
                  <a:srgbClr val="FF0000"/>
                </a:solidFill>
              </a:rPr>
              <a:t>sympy</a:t>
            </a:r>
            <a:r>
              <a:rPr lang="en-US" sz="2200" dirty="0">
                <a:solidFill>
                  <a:srgbClr val="FF0000"/>
                </a:solidFill>
              </a:rPr>
              <a:t>)</a:t>
            </a:r>
            <a:r>
              <a:rPr lang="en-US" sz="2200" dirty="0"/>
              <a:t>: a Python library for symbolic mathematics.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239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92106" y="128470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US" dirty="0"/>
              <a:t>Logic Programming with Python (2)</a:t>
            </a:r>
            <a:endParaRPr lang="en-US" altLang="zh-TW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10" name="Rectangle: Diagonal Corners Rounded 8">
            <a:extLst>
              <a:ext uri="{FF2B5EF4-FFF2-40B4-BE49-F238E27FC236}">
                <a16:creationId xmlns:a16="http://schemas.microsoft.com/office/drawing/2014/main" id="{444D4F98-9905-40D4-8F40-99E4D5057C7C}"/>
              </a:ext>
            </a:extLst>
          </p:cNvPr>
          <p:cNvSpPr/>
          <p:nvPr/>
        </p:nvSpPr>
        <p:spPr>
          <a:xfrm>
            <a:off x="653285" y="1808225"/>
            <a:ext cx="1738821" cy="854621"/>
          </a:xfrm>
          <a:prstGeom prst="round2DiagRect">
            <a:avLst>
              <a:gd name="adj1" fmla="val 30415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7030A0"/>
                </a:solidFill>
              </a:rPr>
              <a:t>Install</a:t>
            </a:r>
          </a:p>
          <a:p>
            <a:pPr algn="ctr"/>
            <a:r>
              <a:rPr lang="en-US" b="1" i="1" dirty="0" err="1">
                <a:solidFill>
                  <a:srgbClr val="7030A0"/>
                </a:solidFill>
              </a:rPr>
              <a:t>minikanren</a:t>
            </a:r>
            <a:endParaRPr lang="en-US" b="1" i="1" dirty="0">
              <a:solidFill>
                <a:srgbClr val="7030A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E77072-15FA-4073-9813-0E8B50A8A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072" y="1346988"/>
            <a:ext cx="6076950" cy="3409950"/>
          </a:xfrm>
          <a:prstGeom prst="rect">
            <a:avLst/>
          </a:prstGeom>
        </p:spPr>
      </p:pic>
      <p:sp>
        <p:nvSpPr>
          <p:cNvPr id="8" name="Rectangle: Diagonal Corners Rounded 8">
            <a:extLst>
              <a:ext uri="{FF2B5EF4-FFF2-40B4-BE49-F238E27FC236}">
                <a16:creationId xmlns:a16="http://schemas.microsoft.com/office/drawing/2014/main" id="{102380C8-7631-4188-88FA-94853988F281}"/>
              </a:ext>
            </a:extLst>
          </p:cNvPr>
          <p:cNvSpPr/>
          <p:nvPr/>
        </p:nvSpPr>
        <p:spPr>
          <a:xfrm>
            <a:off x="7167985" y="1250618"/>
            <a:ext cx="1518815" cy="396000"/>
          </a:xfrm>
          <a:prstGeom prst="round2DiagRect">
            <a:avLst>
              <a:gd name="adj1" fmla="val 30415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AI_LP.ipynb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094968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05522" y="128470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US" dirty="0"/>
              <a:t>Logic Programming with Python (3)</a:t>
            </a:r>
            <a:endParaRPr lang="en-US" altLang="zh-TW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835" y="1130668"/>
            <a:ext cx="5744365" cy="35486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9892" y="1879722"/>
            <a:ext cx="1646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Define “parent” relation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022CA-7D62-4C50-BB7F-6167FA927953}"/>
              </a:ext>
            </a:extLst>
          </p:cNvPr>
          <p:cNvSpPr txBox="1"/>
          <p:nvPr/>
        </p:nvSpPr>
        <p:spPr>
          <a:xfrm>
            <a:off x="319432" y="2802902"/>
            <a:ext cx="229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The variable x will be </a:t>
            </a:r>
            <a:r>
              <a:rPr lang="en-US" i="1" dirty="0">
                <a:solidFill>
                  <a:srgbClr val="0070C0"/>
                </a:solidFill>
              </a:rPr>
              <a:t>unified</a:t>
            </a:r>
            <a:r>
              <a:rPr lang="en-US" i="1" dirty="0">
                <a:solidFill>
                  <a:srgbClr val="FF0000"/>
                </a:solidFill>
              </a:rPr>
              <a:t> to ‘David’.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8541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05522" y="128470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US" dirty="0"/>
              <a:t>Logic Programming with Python (4)</a:t>
            </a:r>
            <a:endParaRPr lang="en-US" altLang="zh-TW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1670" y="1808225"/>
            <a:ext cx="1985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Define “grandparent” rule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835" y="1109555"/>
            <a:ext cx="5520097" cy="35353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866C94-60AD-4281-A8B6-DCDE0AC942F2}"/>
              </a:ext>
            </a:extLst>
          </p:cNvPr>
          <p:cNvSpPr txBox="1"/>
          <p:nvPr/>
        </p:nvSpPr>
        <p:spPr>
          <a:xfrm>
            <a:off x="224023" y="3640685"/>
            <a:ext cx="2362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The parameter ‘0’ will allow the LPE to </a:t>
            </a:r>
            <a:r>
              <a:rPr lang="en-US" i="1" dirty="0">
                <a:solidFill>
                  <a:srgbClr val="0070C0"/>
                </a:solidFill>
              </a:rPr>
              <a:t>backtrack</a:t>
            </a:r>
            <a:r>
              <a:rPr lang="en-US" i="1" dirty="0">
                <a:solidFill>
                  <a:srgbClr val="FF0000"/>
                </a:solidFill>
              </a:rPr>
              <a:t> to all possible solutions.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1593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EC06E-B030-096D-126B-76CDDF7FD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D812A-23EC-5FD0-D6C7-B06116AFA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3F462-5767-80D1-8718-514997FDF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6F606-6135-87E9-E198-BF233668E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67BC1-8888-5E05-E165-C7DA15AB5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F9D2A8-1FAC-AA59-5F45-F78AE378A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720" y="1197405"/>
            <a:ext cx="5992061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792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32DD-3C15-A2E0-8EBD-AD99902C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23421-1919-677A-6895-25D480087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59538-114E-B9AD-B636-A470F790F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B6095-7C97-13C9-091D-8EAACE493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B8590-9024-A7A5-F92F-B472FFA6D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4C292B-3116-34F7-9EE3-D2B5F8F1EE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1"/>
          <a:stretch/>
        </p:blipFill>
        <p:spPr>
          <a:xfrm>
            <a:off x="2457450" y="1109458"/>
            <a:ext cx="5024402" cy="34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1916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69DB-B628-0BBD-1369-B20D60272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6B929A-9C17-7AA8-DEDB-CD35F32F0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11959" y="1502815"/>
            <a:ext cx="7148014" cy="244328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69F01-8D63-7091-BA5B-BD8AF72BB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AF125-4947-02D7-EB5E-469CC3D6E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AA191-D1A1-2E33-0B13-0B13D53E9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584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05522" y="128470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US" dirty="0"/>
              <a:t>Logic Programming with Python (5)</a:t>
            </a:r>
            <a:endParaRPr lang="en-US" altLang="zh-TW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1670" y="1960930"/>
            <a:ext cx="1952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Student-Professor Relation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279" y="1197405"/>
            <a:ext cx="6132777" cy="32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924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05522" y="128470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US" dirty="0"/>
              <a:t>Logic Programming with Python (6)</a:t>
            </a:r>
            <a:endParaRPr lang="en-US" altLang="zh-TW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1670" y="1960930"/>
            <a:ext cx="1952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Student-Professor Relation (2)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023" y="1071051"/>
            <a:ext cx="5725824" cy="376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286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800"/>
            <a:ext cx="9140400" cy="4200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424" y="2093506"/>
            <a:ext cx="4134376" cy="763526"/>
          </a:xfrm>
        </p:spPr>
        <p:txBody>
          <a:bodyPr>
            <a:normAutofit/>
          </a:bodyPr>
          <a:lstStyle/>
          <a:p>
            <a:pPr algn="r"/>
            <a:r>
              <a:rPr lang="en-US" sz="4000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Self Study Guide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532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07451" y="171247"/>
            <a:ext cx="6413609" cy="828000"/>
          </a:xfrm>
        </p:spPr>
        <p:txBody>
          <a:bodyPr>
            <a:normAutofit/>
          </a:bodyPr>
          <a:lstStyle/>
          <a:p>
            <a:r>
              <a:rPr lang="en-US" dirty="0"/>
              <a:t>Self Study Guide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84704" y="1197406"/>
            <a:ext cx="6413609" cy="35636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2400" b="1" dirty="0"/>
              <a:t>References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000" dirty="0"/>
              <a:t>Russell, S. and </a:t>
            </a:r>
            <a:r>
              <a:rPr lang="en-US" altLang="zh-HK" sz="2000" dirty="0" err="1"/>
              <a:t>Norvig</a:t>
            </a:r>
            <a:r>
              <a:rPr lang="en-US" altLang="zh-HK" sz="2000" dirty="0"/>
              <a:t>, P. (2020). </a:t>
            </a:r>
            <a:r>
              <a:rPr lang="en-US" altLang="zh-HK" sz="2000" i="1" dirty="0">
                <a:solidFill>
                  <a:srgbClr val="7030A0"/>
                </a:solidFill>
              </a:rPr>
              <a:t>Artificial Intelligence: A Modern Approach</a:t>
            </a:r>
            <a:r>
              <a:rPr lang="en-US" altLang="zh-HK" sz="2000" dirty="0"/>
              <a:t> (4th ed.). Upper Saddle River, NJ: Pearson.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000" dirty="0" err="1"/>
              <a:t>Joshir</a:t>
            </a:r>
            <a:r>
              <a:rPr lang="en-US" altLang="zh-HK" sz="2000" dirty="0"/>
              <a:t>, P. (2017). </a:t>
            </a:r>
            <a:r>
              <a:rPr lang="en-US" altLang="zh-HK" sz="2000" i="1" dirty="0">
                <a:solidFill>
                  <a:srgbClr val="7030A0"/>
                </a:solidFill>
              </a:rPr>
              <a:t>Artificial Intelligence with Python</a:t>
            </a:r>
            <a:r>
              <a:rPr lang="en-US" altLang="zh-HK" sz="2000" dirty="0"/>
              <a:t> (1st ed.). Birmingham: </a:t>
            </a:r>
            <a:r>
              <a:rPr lang="en-US" altLang="zh-HK" sz="2000" dirty="0" err="1"/>
              <a:t>Packt</a:t>
            </a:r>
            <a:r>
              <a:rPr lang="en-US" altLang="zh-HK" sz="2000" dirty="0"/>
              <a:t> Publishing.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125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07451" y="171247"/>
            <a:ext cx="6413609" cy="828000"/>
          </a:xfrm>
        </p:spPr>
        <p:txBody>
          <a:bodyPr>
            <a:normAutofit/>
          </a:bodyPr>
          <a:lstStyle/>
          <a:p>
            <a:r>
              <a:rPr lang="en-US" dirty="0"/>
              <a:t>Self Study Guide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84704" y="1197406"/>
            <a:ext cx="6413609" cy="35636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2400" b="1" dirty="0"/>
              <a:t>Useful Sites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000" dirty="0">
                <a:hlinkClick r:id="rId3"/>
              </a:rPr>
              <a:t>https://www.javatpoint.com/artificial-intelligence-tutorial</a:t>
            </a:r>
            <a:endParaRPr lang="en-US" altLang="zh-HK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000" dirty="0">
                <a:hlinkClick r:id="rId4"/>
              </a:rPr>
              <a:t>http://artint.info/AIPython/</a:t>
            </a:r>
            <a:endParaRPr lang="en-US" altLang="zh-HK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000" dirty="0">
                <a:hlinkClick r:id="rId5"/>
              </a:rPr>
              <a:t>https://github.com/brandonwillard/kanren</a:t>
            </a:r>
            <a:endParaRPr lang="en-US" altLang="zh-HK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000" dirty="0">
                <a:hlinkClick r:id="rId6"/>
              </a:rPr>
              <a:t>https://pypi.org/project/python-constraint/</a:t>
            </a:r>
            <a:endParaRPr lang="en-US" altLang="zh-HK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000" dirty="0">
                <a:hlinkClick r:id="rId7"/>
              </a:rPr>
              <a:t>http://labix.org/doc/constraint/</a:t>
            </a:r>
            <a:endParaRPr lang="en-US" altLang="zh-HK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L4 – Logic Programming &amp; CSP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52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9220</TotalTime>
  <Words>3806</Words>
  <Application>Microsoft Office PowerPoint</Application>
  <PresentationFormat>On-screen Show (16:9)</PresentationFormat>
  <Paragraphs>596</Paragraphs>
  <Slides>61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Arial</vt:lpstr>
      <vt:lpstr>Calibri</vt:lpstr>
      <vt:lpstr>Cambria</vt:lpstr>
      <vt:lpstr>Cambria Math</vt:lpstr>
      <vt:lpstr>Consolas</vt:lpstr>
      <vt:lpstr>Symbol</vt:lpstr>
      <vt:lpstr>Wingdings</vt:lpstr>
      <vt:lpstr>Office Theme</vt:lpstr>
      <vt:lpstr>Lecture 4 Logic Programming &amp; CSP</vt:lpstr>
      <vt:lpstr>Constraint Satisfaction Problems</vt:lpstr>
      <vt:lpstr>Constraint Satisfaction Problem (CSP)</vt:lpstr>
      <vt:lpstr>CSP Components</vt:lpstr>
      <vt:lpstr>Variables</vt:lpstr>
      <vt:lpstr>Domains</vt:lpstr>
      <vt:lpstr>Constraint</vt:lpstr>
      <vt:lpstr>Constraint: Some variations</vt:lpstr>
      <vt:lpstr>Components: Representations</vt:lpstr>
      <vt:lpstr>An Example</vt:lpstr>
      <vt:lpstr>Another Example (1)</vt:lpstr>
      <vt:lpstr>Another Example (2)</vt:lpstr>
      <vt:lpstr>Code Implementations</vt:lpstr>
      <vt:lpstr>Python Lambda Expression</vt:lpstr>
      <vt:lpstr>Examples (1)</vt:lpstr>
      <vt:lpstr>Examples (2)</vt:lpstr>
      <vt:lpstr>Examples (3)</vt:lpstr>
      <vt:lpstr>Examples (4)</vt:lpstr>
      <vt:lpstr>CSP Use Cases (1)</vt:lpstr>
      <vt:lpstr>CSP Use Cases (2)</vt:lpstr>
      <vt:lpstr>CSP Use Cases (3)</vt:lpstr>
      <vt:lpstr>CSP Use Cases (4)</vt:lpstr>
      <vt:lpstr>CSP Use Cases (5)</vt:lpstr>
      <vt:lpstr>CSP Use Cases (6)</vt:lpstr>
      <vt:lpstr>PowerPoint Presentation</vt:lpstr>
      <vt:lpstr>CSP Use Cases (7)</vt:lpstr>
      <vt:lpstr>CSP Use Cases (8)</vt:lpstr>
      <vt:lpstr>CSP Use Cases (9)</vt:lpstr>
      <vt:lpstr>CSP Use Cases (10)</vt:lpstr>
      <vt:lpstr>CSP Use Cases (11)</vt:lpstr>
      <vt:lpstr>CSP Use Cases (12)</vt:lpstr>
      <vt:lpstr>4. Logic Programming</vt:lpstr>
      <vt:lpstr>Logic Programming</vt:lpstr>
      <vt:lpstr>Logic Programming: An Overview</vt:lpstr>
      <vt:lpstr>Logic Programming: An Overview (2)</vt:lpstr>
      <vt:lpstr>Logic Programming: An Overview (3)</vt:lpstr>
      <vt:lpstr>Logic Programming: An Overview (4)</vt:lpstr>
      <vt:lpstr>Logic Program Engine (LPE) </vt:lpstr>
      <vt:lpstr>Unification</vt:lpstr>
      <vt:lpstr>Logic Program Engine (LPE) </vt:lpstr>
      <vt:lpstr>Backtracking (1)</vt:lpstr>
      <vt:lpstr>Backtracking (2)</vt:lpstr>
      <vt:lpstr>Backtracking: An Illustration (1)</vt:lpstr>
      <vt:lpstr>Backtracking: An Illustration (2)</vt:lpstr>
      <vt:lpstr>Backtracking: An Illustration (3)</vt:lpstr>
      <vt:lpstr>Backtracking: An Illustration (4)</vt:lpstr>
      <vt:lpstr>Backtracking: An Illustration (5)</vt:lpstr>
      <vt:lpstr>Backtracking: An Illustration (6)</vt:lpstr>
      <vt:lpstr>Backtracking: An Illustration (7)</vt:lpstr>
      <vt:lpstr>Logic Programming with Python</vt:lpstr>
      <vt:lpstr>Logic Programming with Python (2)</vt:lpstr>
      <vt:lpstr>Logic Programming with Python (3)</vt:lpstr>
      <vt:lpstr>Logic Programming with Python (4)</vt:lpstr>
      <vt:lpstr>PowerPoint Presentation</vt:lpstr>
      <vt:lpstr>PowerPoint Presentation</vt:lpstr>
      <vt:lpstr>PowerPoint Presentation</vt:lpstr>
      <vt:lpstr>Logic Programming with Python (5)</vt:lpstr>
      <vt:lpstr>Logic Programming with Python (6)</vt:lpstr>
      <vt:lpstr>Self Study Guide</vt:lpstr>
      <vt:lpstr>Self Study Guide</vt:lpstr>
      <vt:lpstr>Self Study Guide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ITP4514 - L4 - LP &amp; CSP</dc:title>
  <dc:creator>Dr. Johnny Cheng</dc:creator>
  <cp:lastModifiedBy>David HO</cp:lastModifiedBy>
  <cp:revision>98</cp:revision>
  <cp:lastPrinted>2021-09-27T11:11:55Z</cp:lastPrinted>
  <dcterms:created xsi:type="dcterms:W3CDTF">2017-08-01T15:40:51Z</dcterms:created>
  <dcterms:modified xsi:type="dcterms:W3CDTF">2025-09-22T11:38:33Z</dcterms:modified>
</cp:coreProperties>
</file>