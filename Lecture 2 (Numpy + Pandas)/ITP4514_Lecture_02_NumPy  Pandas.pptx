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61" r:id="rId2"/>
    <p:sldId id="257" r:id="rId3"/>
    <p:sldId id="262" r:id="rId4"/>
    <p:sldId id="263" r:id="rId5"/>
    <p:sldId id="264" r:id="rId6"/>
    <p:sldId id="259" r:id="rId7"/>
    <p:sldId id="516" r:id="rId8"/>
    <p:sldId id="517" r:id="rId9"/>
    <p:sldId id="518" r:id="rId10"/>
    <p:sldId id="519" r:id="rId11"/>
    <p:sldId id="550" r:id="rId12"/>
    <p:sldId id="523" r:id="rId13"/>
    <p:sldId id="525" r:id="rId14"/>
    <p:sldId id="382" r:id="rId15"/>
    <p:sldId id="383" r:id="rId16"/>
    <p:sldId id="520" r:id="rId17"/>
    <p:sldId id="522" r:id="rId18"/>
    <p:sldId id="524" r:id="rId19"/>
    <p:sldId id="268" r:id="rId20"/>
    <p:sldId id="526" r:id="rId21"/>
    <p:sldId id="548" r:id="rId22"/>
    <p:sldId id="527" r:id="rId23"/>
    <p:sldId id="528" r:id="rId24"/>
    <p:sldId id="529" r:id="rId25"/>
    <p:sldId id="530" r:id="rId26"/>
    <p:sldId id="531" r:id="rId27"/>
    <p:sldId id="532" r:id="rId28"/>
    <p:sldId id="553" r:id="rId29"/>
    <p:sldId id="533" r:id="rId30"/>
    <p:sldId id="534" r:id="rId31"/>
    <p:sldId id="535" r:id="rId32"/>
    <p:sldId id="549" r:id="rId33"/>
    <p:sldId id="536" r:id="rId34"/>
    <p:sldId id="537" r:id="rId35"/>
    <p:sldId id="309" r:id="rId36"/>
    <p:sldId id="311" r:id="rId37"/>
    <p:sldId id="312" r:id="rId38"/>
    <p:sldId id="313" r:id="rId39"/>
    <p:sldId id="539" r:id="rId40"/>
    <p:sldId id="540" r:id="rId41"/>
    <p:sldId id="546" r:id="rId42"/>
    <p:sldId id="541" r:id="rId43"/>
    <p:sldId id="542" r:id="rId44"/>
    <p:sldId id="543" r:id="rId45"/>
    <p:sldId id="552" r:id="rId46"/>
    <p:sldId id="544" r:id="rId47"/>
    <p:sldId id="545" r:id="rId48"/>
    <p:sldId id="547" r:id="rId49"/>
    <p:sldId id="554" r:id="rId50"/>
    <p:sldId id="555" r:id="rId51"/>
    <p:sldId id="336" r:id="rId52"/>
    <p:sldId id="323" r:id="rId5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01FF"/>
    <a:srgbClr val="6C1A00"/>
    <a:srgbClr val="C79E37"/>
    <a:srgbClr val="202E54"/>
    <a:srgbClr val="FF2549"/>
    <a:srgbClr val="1D3A00"/>
    <a:srgbClr val="007033"/>
    <a:srgbClr val="5EEC3C"/>
    <a:srgbClr val="990099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60"/>
  </p:normalViewPr>
  <p:slideViewPr>
    <p:cSldViewPr>
      <p:cViewPr varScale="1">
        <p:scale>
          <a:sx n="159" d="100"/>
          <a:sy n="159" d="100"/>
        </p:scale>
        <p:origin x="156" y="-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5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" userId="4f9b9414-db4c-428a-a76a-046e7c2b65fb" providerId="ADAL" clId="{6B1B629D-C3C9-4723-B83E-8642F71618A3}"/>
    <pc:docChg chg="undo custSel addSld modSld">
      <pc:chgData name="David HO" userId="4f9b9414-db4c-428a-a76a-046e7c2b65fb" providerId="ADAL" clId="{6B1B629D-C3C9-4723-B83E-8642F71618A3}" dt="2024-10-23T10:03:55.975" v="53" actId="1076"/>
      <pc:docMkLst>
        <pc:docMk/>
      </pc:docMkLst>
      <pc:sldChg chg="addSp modSp new mod">
        <pc:chgData name="David HO" userId="4f9b9414-db4c-428a-a76a-046e7c2b65fb" providerId="ADAL" clId="{6B1B629D-C3C9-4723-B83E-8642F71618A3}" dt="2024-10-23T10:03:55.975" v="53" actId="1076"/>
        <pc:sldMkLst>
          <pc:docMk/>
          <pc:sldMk cId="948430030" sldId="555"/>
        </pc:sldMkLst>
      </pc:sldChg>
    </pc:docChg>
  </pc:docChgLst>
  <pc:docChgLst>
    <pc:chgData name="David HO" userId="4f9b9414-db4c-428a-a76a-046e7c2b65fb" providerId="ADAL" clId="{38576F5A-8E5F-4C8B-BD9E-0B52862CD7BB}"/>
    <pc:docChg chg="custSel modSld">
      <pc:chgData name="David HO" userId="4f9b9414-db4c-428a-a76a-046e7c2b65fb" providerId="ADAL" clId="{38576F5A-8E5F-4C8B-BD9E-0B52862CD7BB}" dt="2025-09-10T10:59:43.283" v="19" actId="478"/>
      <pc:docMkLst>
        <pc:docMk/>
      </pc:docMkLst>
      <pc:sldChg chg="modSp mod">
        <pc:chgData name="David HO" userId="4f9b9414-db4c-428a-a76a-046e7c2b65fb" providerId="ADAL" clId="{38576F5A-8E5F-4C8B-BD9E-0B52862CD7BB}" dt="2025-09-09T08:48:26.258" v="13" actId="20577"/>
        <pc:sldMkLst>
          <pc:docMk/>
          <pc:sldMk cId="2819291526" sldId="261"/>
        </pc:sldMkLst>
        <pc:spChg chg="mod">
          <ac:chgData name="David HO" userId="4f9b9414-db4c-428a-a76a-046e7c2b65fb" providerId="ADAL" clId="{38576F5A-8E5F-4C8B-BD9E-0B52862CD7BB}" dt="2025-09-09T08:48:26.258" v="13" actId="20577"/>
          <ac:spMkLst>
            <pc:docMk/>
            <pc:sldMk cId="2819291526" sldId="261"/>
            <ac:spMk id="3" creationId="{00000000-0000-0000-0000-000000000000}"/>
          </ac:spMkLst>
        </pc:spChg>
      </pc:sldChg>
      <pc:sldChg chg="addSp modSp mod">
        <pc:chgData name="David HO" userId="4f9b9414-db4c-428a-a76a-046e7c2b65fb" providerId="ADAL" clId="{38576F5A-8E5F-4C8B-BD9E-0B52862CD7BB}" dt="2025-09-09T06:16:35.426" v="9" actId="1076"/>
        <pc:sldMkLst>
          <pc:docMk/>
          <pc:sldMk cId="3769231148" sldId="527"/>
        </pc:sldMkLst>
        <pc:picChg chg="mod">
          <ac:chgData name="David HO" userId="4f9b9414-db4c-428a-a76a-046e7c2b65fb" providerId="ADAL" clId="{38576F5A-8E5F-4C8B-BD9E-0B52862CD7BB}" dt="2025-09-09T06:16:33.346" v="8" actId="1076"/>
          <ac:picMkLst>
            <pc:docMk/>
            <pc:sldMk cId="3769231148" sldId="527"/>
            <ac:picMk id="7" creationId="{6DCD7A91-84A6-4567-8C8F-624527AA27D0}"/>
          </ac:picMkLst>
        </pc:picChg>
        <pc:picChg chg="add mod">
          <ac:chgData name="David HO" userId="4f9b9414-db4c-428a-a76a-046e7c2b65fb" providerId="ADAL" clId="{38576F5A-8E5F-4C8B-BD9E-0B52862CD7BB}" dt="2025-09-09T06:16:35.426" v="9" actId="1076"/>
          <ac:picMkLst>
            <pc:docMk/>
            <pc:sldMk cId="3769231148" sldId="527"/>
            <ac:picMk id="9" creationId="{E797D0AB-D568-3CA0-53E2-5158E0AE85ED}"/>
          </ac:picMkLst>
        </pc:picChg>
      </pc:sldChg>
      <pc:sldChg chg="delSp mod">
        <pc:chgData name="David HO" userId="4f9b9414-db4c-428a-a76a-046e7c2b65fb" providerId="ADAL" clId="{38576F5A-8E5F-4C8B-BD9E-0B52862CD7BB}" dt="2025-09-10T10:59:13.700" v="15" actId="478"/>
        <pc:sldMkLst>
          <pc:docMk/>
          <pc:sldMk cId="1768109437" sldId="530"/>
        </pc:sldMkLst>
        <pc:picChg chg="del">
          <ac:chgData name="David HO" userId="4f9b9414-db4c-428a-a76a-046e7c2b65fb" providerId="ADAL" clId="{38576F5A-8E5F-4C8B-BD9E-0B52862CD7BB}" dt="2025-09-10T10:59:13.700" v="15" actId="478"/>
          <ac:picMkLst>
            <pc:docMk/>
            <pc:sldMk cId="1768109437" sldId="530"/>
            <ac:picMk id="8" creationId="{BA2125F7-F848-7479-5AE2-41DFE4EFB3A6}"/>
          </ac:picMkLst>
        </pc:picChg>
      </pc:sldChg>
      <pc:sldChg chg="delSp mod">
        <pc:chgData name="David HO" userId="4f9b9414-db4c-428a-a76a-046e7c2b65fb" providerId="ADAL" clId="{38576F5A-8E5F-4C8B-BD9E-0B52862CD7BB}" dt="2025-09-10T10:59:20.431" v="16" actId="478"/>
        <pc:sldMkLst>
          <pc:docMk/>
          <pc:sldMk cId="2857452932" sldId="532"/>
        </pc:sldMkLst>
        <pc:picChg chg="del">
          <ac:chgData name="David HO" userId="4f9b9414-db4c-428a-a76a-046e7c2b65fb" providerId="ADAL" clId="{38576F5A-8E5F-4C8B-BD9E-0B52862CD7BB}" dt="2025-09-10T10:59:20.431" v="16" actId="478"/>
          <ac:picMkLst>
            <pc:docMk/>
            <pc:sldMk cId="2857452932" sldId="532"/>
            <ac:picMk id="7" creationId="{26CF46CB-2001-690A-E416-2EBE3F699D09}"/>
          </ac:picMkLst>
        </pc:picChg>
      </pc:sldChg>
      <pc:sldChg chg="delSp mod">
        <pc:chgData name="David HO" userId="4f9b9414-db4c-428a-a76a-046e7c2b65fb" providerId="ADAL" clId="{38576F5A-8E5F-4C8B-BD9E-0B52862CD7BB}" dt="2025-09-10T10:59:28.152" v="17" actId="478"/>
        <pc:sldMkLst>
          <pc:docMk/>
          <pc:sldMk cId="3946241020" sldId="539"/>
        </pc:sldMkLst>
        <pc:picChg chg="del">
          <ac:chgData name="David HO" userId="4f9b9414-db4c-428a-a76a-046e7c2b65fb" providerId="ADAL" clId="{38576F5A-8E5F-4C8B-BD9E-0B52862CD7BB}" dt="2025-09-10T10:59:28.152" v="17" actId="478"/>
          <ac:picMkLst>
            <pc:docMk/>
            <pc:sldMk cId="3946241020" sldId="539"/>
            <ac:picMk id="7" creationId="{DB8D68B9-D727-8EC0-8F7E-CB86737D94BD}"/>
          </ac:picMkLst>
        </pc:picChg>
      </pc:sldChg>
      <pc:sldChg chg="delSp mod">
        <pc:chgData name="David HO" userId="4f9b9414-db4c-428a-a76a-046e7c2b65fb" providerId="ADAL" clId="{38576F5A-8E5F-4C8B-BD9E-0B52862CD7BB}" dt="2025-09-10T10:59:37.588" v="18" actId="478"/>
        <pc:sldMkLst>
          <pc:docMk/>
          <pc:sldMk cId="4256112546" sldId="542"/>
        </pc:sldMkLst>
        <pc:picChg chg="del">
          <ac:chgData name="David HO" userId="4f9b9414-db4c-428a-a76a-046e7c2b65fb" providerId="ADAL" clId="{38576F5A-8E5F-4C8B-BD9E-0B52862CD7BB}" dt="2025-09-10T10:59:37.588" v="18" actId="478"/>
          <ac:picMkLst>
            <pc:docMk/>
            <pc:sldMk cId="4256112546" sldId="542"/>
            <ac:picMk id="7" creationId="{7DA283E6-1215-743F-33AE-34D7975EAAE2}"/>
          </ac:picMkLst>
        </pc:picChg>
      </pc:sldChg>
      <pc:sldChg chg="delSp mod">
        <pc:chgData name="David HO" userId="4f9b9414-db4c-428a-a76a-046e7c2b65fb" providerId="ADAL" clId="{38576F5A-8E5F-4C8B-BD9E-0B52862CD7BB}" dt="2025-09-10T10:58:59.786" v="14" actId="478"/>
        <pc:sldMkLst>
          <pc:docMk/>
          <pc:sldMk cId="194610788" sldId="548"/>
        </pc:sldMkLst>
        <pc:picChg chg="del">
          <ac:chgData name="David HO" userId="4f9b9414-db4c-428a-a76a-046e7c2b65fb" providerId="ADAL" clId="{38576F5A-8E5F-4C8B-BD9E-0B52862CD7BB}" dt="2025-09-10T10:58:59.786" v="14" actId="478"/>
          <ac:picMkLst>
            <pc:docMk/>
            <pc:sldMk cId="194610788" sldId="548"/>
            <ac:picMk id="9" creationId="{905D74AB-AB0E-FEC1-6E54-949878227A27}"/>
          </ac:picMkLst>
        </pc:picChg>
      </pc:sldChg>
      <pc:sldChg chg="delSp mod">
        <pc:chgData name="David HO" userId="4f9b9414-db4c-428a-a76a-046e7c2b65fb" providerId="ADAL" clId="{38576F5A-8E5F-4C8B-BD9E-0B52862CD7BB}" dt="2025-09-10T10:59:43.283" v="19" actId="478"/>
        <pc:sldMkLst>
          <pc:docMk/>
          <pc:sldMk cId="580301529" sldId="554"/>
        </pc:sldMkLst>
        <pc:picChg chg="del">
          <ac:chgData name="David HO" userId="4f9b9414-db4c-428a-a76a-046e7c2b65fb" providerId="ADAL" clId="{38576F5A-8E5F-4C8B-BD9E-0B52862CD7BB}" dt="2025-09-10T10:59:43.283" v="19" actId="478"/>
          <ac:picMkLst>
            <pc:docMk/>
            <pc:sldMk cId="580301529" sldId="554"/>
            <ac:picMk id="11" creationId="{683F0548-10FD-3AC0-3A24-2DD71C7A85C4}"/>
          </ac:picMkLst>
        </pc:picChg>
      </pc:sldChg>
    </pc:docChg>
  </pc:docChgLst>
  <pc:docChgLst>
    <pc:chgData name="David HO" userId="4f9b9414-db4c-428a-a76a-046e7c2b65fb" providerId="ADAL" clId="{9937F9A8-A798-4EF9-A965-BD14D823CED8}"/>
    <pc:docChg chg="undo custSel addSld modSld">
      <pc:chgData name="David HO" userId="4f9b9414-db4c-428a-a76a-046e7c2b65fb" providerId="ADAL" clId="{9937F9A8-A798-4EF9-A965-BD14D823CED8}" dt="2024-09-12T00:25:18.966" v="86" actId="26606"/>
      <pc:docMkLst>
        <pc:docMk/>
      </pc:docMkLst>
      <pc:sldChg chg="addSp modSp mod">
        <pc:chgData name="David HO" userId="4f9b9414-db4c-428a-a76a-046e7c2b65fb" providerId="ADAL" clId="{9937F9A8-A798-4EF9-A965-BD14D823CED8}" dt="2024-09-11T08:38:18.829" v="32" actId="1076"/>
        <pc:sldMkLst>
          <pc:docMk/>
          <pc:sldMk cId="1768109437" sldId="530"/>
        </pc:sldMkLst>
      </pc:sldChg>
      <pc:sldChg chg="addSp delSp modSp mod setBg">
        <pc:chgData name="David HO" userId="4f9b9414-db4c-428a-a76a-046e7c2b65fb" providerId="ADAL" clId="{9937F9A8-A798-4EF9-A965-BD14D823CED8}" dt="2024-09-12T00:25:18.966" v="86" actId="26606"/>
        <pc:sldMkLst>
          <pc:docMk/>
          <pc:sldMk cId="2857452932" sldId="532"/>
        </pc:sldMkLst>
      </pc:sldChg>
      <pc:sldChg chg="addSp modSp mod">
        <pc:chgData name="David HO" userId="4f9b9414-db4c-428a-a76a-046e7c2b65fb" providerId="ADAL" clId="{9937F9A8-A798-4EF9-A965-BD14D823CED8}" dt="2024-09-11T08:43:33.709" v="39" actId="1076"/>
        <pc:sldMkLst>
          <pc:docMk/>
          <pc:sldMk cId="3946241020" sldId="539"/>
        </pc:sldMkLst>
      </pc:sldChg>
      <pc:sldChg chg="addSp modSp mod">
        <pc:chgData name="David HO" userId="4f9b9414-db4c-428a-a76a-046e7c2b65fb" providerId="ADAL" clId="{9937F9A8-A798-4EF9-A965-BD14D823CED8}" dt="2024-09-11T08:40:16.149" v="36" actId="1076"/>
        <pc:sldMkLst>
          <pc:docMk/>
          <pc:sldMk cId="4256112546" sldId="542"/>
        </pc:sldMkLst>
      </pc:sldChg>
      <pc:sldChg chg="addSp modSp mod">
        <pc:chgData name="David HO" userId="4f9b9414-db4c-428a-a76a-046e7c2b65fb" providerId="ADAL" clId="{9937F9A8-A798-4EF9-A965-BD14D823CED8}" dt="2024-09-11T08:35:26.693" v="29" actId="1076"/>
        <pc:sldMkLst>
          <pc:docMk/>
          <pc:sldMk cId="194610788" sldId="548"/>
        </pc:sldMkLst>
      </pc:sldChg>
      <pc:sldChg chg="addSp delSp modSp new mod">
        <pc:chgData name="David HO" userId="4f9b9414-db4c-428a-a76a-046e7c2b65fb" providerId="ADAL" clId="{9937F9A8-A798-4EF9-A965-BD14D823CED8}" dt="2024-09-11T17:19:47.409" v="82" actId="1076"/>
        <pc:sldMkLst>
          <pc:docMk/>
          <pc:sldMk cId="2814550518" sldId="553"/>
        </pc:sldMkLst>
      </pc:sldChg>
      <pc:sldChg chg="addSp delSp modSp new mod">
        <pc:chgData name="David HO" userId="4f9b9414-db4c-428a-a76a-046e7c2b65fb" providerId="ADAL" clId="{9937F9A8-A798-4EF9-A965-BD14D823CED8}" dt="2024-09-11T08:49:24.622" v="59" actId="1076"/>
        <pc:sldMkLst>
          <pc:docMk/>
          <pc:sldMk cId="580301529" sldId="554"/>
        </pc:sldMkLst>
      </pc:sldChg>
    </pc:docChg>
  </pc:docChgLst>
  <pc:docChgLst>
    <pc:chgData name="David HO" userId="4f9b9414-db4c-428a-a76a-046e7c2b65fb" providerId="ADAL" clId="{FE890392-FC5B-477C-BB6E-67F89D5F480D}"/>
    <pc:docChg chg="modSld">
      <pc:chgData name="David HO" userId="4f9b9414-db4c-428a-a76a-046e7c2b65fb" providerId="ADAL" clId="{FE890392-FC5B-477C-BB6E-67F89D5F480D}" dt="2024-09-12T04:39:51.542" v="3" actId="20577"/>
      <pc:docMkLst>
        <pc:docMk/>
      </pc:docMkLst>
      <pc:sldChg chg="modSp mod">
        <pc:chgData name="David HO" userId="4f9b9414-db4c-428a-a76a-046e7c2b65fb" providerId="ADAL" clId="{FE890392-FC5B-477C-BB6E-67F89D5F480D}" dt="2024-09-12T04:39:51.542" v="3" actId="20577"/>
        <pc:sldMkLst>
          <pc:docMk/>
          <pc:sldMk cId="2819291526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9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1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2113635"/>
            <a:ext cx="8246070" cy="137434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en-US" sz="3600" b="1" i="1" kern="1200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:\Users\johnnyc\AppData\Local\Microsoft\Windows\INetCache\Content.Word\vtc.jpg">
            <a:extLst>
              <a:ext uri="{FF2B5EF4-FFF2-40B4-BE49-F238E27FC236}">
                <a16:creationId xmlns:a16="http://schemas.microsoft.com/office/drawing/2014/main" id="{39BB3CF6-6063-4B98-966B-D61F1A1EBF6E}"/>
              </a:ext>
            </a:extLst>
          </p:cNvPr>
          <p:cNvPicPr/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2742" y1="55182" x2="24516" y2="73109"/>
                        <a14:foregroundMark x1="46935" y1="52661" x2="60645" y2="52661"/>
                        <a14:foregroundMark x1="53710" y1="53221" x2="51452" y2="82913"/>
                        <a14:foregroundMark x1="24355" y1="61905" x2="26613" y2="78151"/>
                        <a14:foregroundMark x1="67742" y1="57703" x2="80806" y2="50140"/>
                        <a14:foregroundMark x1="67258" y1="62185" x2="68226" y2="82633"/>
                        <a14:foregroundMark x1="71290" y1="82353" x2="78548" y2="83193"/>
                        <a14:foregroundMark x1="43871" y1="25490" x2="46935" y2="13725"/>
                        <a14:foregroundMark x1="37258" y1="49020" x2="42258" y2="31092"/>
                        <a14:foregroundMark x1="37903" y1="56863" x2="42581" y2="44818"/>
                        <a14:foregroundMark x1="34516" y1="54622" x2="37258" y2="324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295" y="-1"/>
            <a:ext cx="2290575" cy="121379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 userDrawn="1"/>
        </p:nvSpPr>
        <p:spPr>
          <a:xfrm>
            <a:off x="1517900" y="1282638"/>
            <a:ext cx="7626100" cy="83099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400" b="1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623009" y="1282637"/>
            <a:ext cx="7072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ITP4514 </a:t>
            </a:r>
          </a:p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Artificial Intelligence &amp; Machine Learning 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48965" y="3487979"/>
            <a:ext cx="824607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E701FF"/>
                </a:solidFill>
                <a:effectLst/>
              </a:defRPr>
            </a:lvl1pPr>
          </a:lstStyle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2021-22</a:t>
            </a:r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891995"/>
            <a:ext cx="8246070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3206803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L2 – Collection Data Types, NumPy &amp; Pandas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413609" cy="725349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106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7" y="891995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19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19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199" y="4767263"/>
            <a:ext cx="15188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39540" y="4767263"/>
            <a:ext cx="36649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L2 – Collection Data Types, NumPy &amp; Pandas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20690" y="4767263"/>
            <a:ext cx="13661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ITP4514</a:t>
            </a:r>
            <a:r>
              <a:rPr lang="en-US" sz="1400" baseline="0" dirty="0">
                <a:solidFill>
                  <a:schemeClr val="bg1">
                    <a:lumMod val="65000"/>
                  </a:schemeClr>
                </a:solidFill>
              </a:rPr>
              <a:t> – Artificial Intelligence and Machine Learning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andas.pydat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2 – Collection Data Types, NumPy &amp; Pandas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2025-26</a:t>
            </a:r>
          </a:p>
        </p:txBody>
      </p:sp>
    </p:spTree>
    <p:extLst>
      <p:ext uri="{BB962C8B-B14F-4D97-AF65-F5344CB8AC3E}">
        <p14:creationId xmlns:p14="http://schemas.microsoft.com/office/powerpoint/2010/main" val="281929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044700"/>
            <a:ext cx="8246070" cy="890152"/>
          </a:xfrm>
        </p:spPr>
        <p:txBody>
          <a:bodyPr>
            <a:noAutofit/>
          </a:bodyPr>
          <a:lstStyle/>
          <a:p>
            <a:r>
              <a:rPr lang="en-US" sz="2600" dirty="0">
                <a:latin typeface="+mn-lt"/>
              </a:rPr>
              <a:t>On completion of the module, students are expected to be able to: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980000"/>
            <a:ext cx="8246070" cy="2901393"/>
          </a:xfrm>
        </p:spPr>
        <p:txBody>
          <a:bodyPr/>
          <a:lstStyle/>
          <a:p>
            <a:pPr marL="361950" indent="-361950">
              <a:buFont typeface="+mj-lt"/>
              <a:buAutoNum type="arabicPeriod"/>
            </a:pPr>
            <a:r>
              <a:rPr lang="en-US" sz="2400" dirty="0"/>
              <a:t>Explain the basic principles of artificial intelligence technologies;</a:t>
            </a:r>
          </a:p>
          <a:p>
            <a:pPr marL="361950" indent="-361950">
              <a:buFont typeface="+mj-lt"/>
              <a:buAutoNum type="arabicPeriod"/>
            </a:pPr>
            <a:r>
              <a:rPr lang="en-US" sz="2400" dirty="0"/>
              <a:t>Evaluate and select appropriate machine learning technologies; </a:t>
            </a:r>
            <a:r>
              <a:rPr lang="en-US" sz="2400" i="1" dirty="0"/>
              <a:t>and</a:t>
            </a:r>
          </a:p>
          <a:p>
            <a:pPr marL="361950" indent="-361950">
              <a:buFont typeface="+mj-lt"/>
              <a:buAutoNum type="arabicPeriod"/>
            </a:pPr>
            <a:r>
              <a:rPr lang="en-US" sz="2400" dirty="0"/>
              <a:t>Design and prototype AI/machine learning applications to solve real-life problems.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1365195" y="128470"/>
            <a:ext cx="7321606" cy="725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Module Intended Learning Outcomes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F8557-885A-4C7A-8064-C57B3CBC3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Module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45920"/>
            <a:ext cx="4123034" cy="2901394"/>
          </a:xfrm>
        </p:spPr>
        <p:txBody>
          <a:bodyPr>
            <a:normAutofit fontScale="92500" lnSpcReduction="20000"/>
          </a:bodyPr>
          <a:lstStyle/>
          <a:p>
            <a:pPr marL="461963" indent="-461963">
              <a:buFont typeface="+mj-lt"/>
              <a:buAutoNum type="arabicPeriod"/>
            </a:pPr>
            <a:r>
              <a:rPr lang="en-US" sz="2400" dirty="0"/>
              <a:t>AI: An Overview</a:t>
            </a:r>
            <a:br>
              <a:rPr lang="en-US" sz="2400" dirty="0"/>
            </a:br>
            <a:r>
              <a:rPr lang="en-US" sz="2400" dirty="0"/>
              <a:t> &amp; Python Basics</a:t>
            </a:r>
          </a:p>
          <a:p>
            <a:pPr marL="461963" indent="-461963">
              <a:buFont typeface="+mj-lt"/>
              <a:buAutoNum type="arabicPeriod"/>
            </a:pPr>
            <a:r>
              <a:rPr lang="en-US" b="1" i="1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 Data Types, NumPy &amp; Pandas</a:t>
            </a:r>
          </a:p>
          <a:p>
            <a:pPr marL="461963" indent="-461963">
              <a:buFont typeface="+mj-lt"/>
              <a:buAutoNum type="arabicPeriod"/>
            </a:pPr>
            <a:r>
              <a:rPr lang="en-US" sz="2400" dirty="0"/>
              <a:t>AI Search Techniques </a:t>
            </a:r>
          </a:p>
          <a:p>
            <a:pPr marL="461963" indent="-461963">
              <a:buFont typeface="+mj-lt"/>
              <a:buAutoNum type="arabicPeriod"/>
            </a:pPr>
            <a:r>
              <a:rPr lang="en-US" sz="2400" dirty="0"/>
              <a:t>Logic Programming &amp; CSP</a:t>
            </a:r>
          </a:p>
          <a:p>
            <a:pPr marL="461963" indent="-461963">
              <a:buFont typeface="+mj-lt"/>
              <a:buAutoNum type="arabicPeriod"/>
            </a:pPr>
            <a:r>
              <a:rPr lang="en-US" sz="2400" dirty="0"/>
              <a:t>Probabilistic Reasoning</a:t>
            </a:r>
          </a:p>
          <a:p>
            <a:pPr marL="461963" indent="-461963">
              <a:buFont typeface="+mj-lt"/>
              <a:buAutoNum type="arabicPeriod"/>
            </a:pPr>
            <a:r>
              <a:rPr lang="en-US" sz="2400" dirty="0"/>
              <a:t>ML – Classification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9674-1263-42EB-84ED-70EA5A68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EEC0-5178-49B9-93B1-B2219E8C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605E69-FD9B-44FF-A13A-727B6B66B622}"/>
              </a:ext>
            </a:extLst>
          </p:cNvPr>
          <p:cNvSpPr txBox="1">
            <a:spLocks/>
          </p:cNvSpPr>
          <p:nvPr/>
        </p:nvSpPr>
        <p:spPr>
          <a:xfrm>
            <a:off x="4571999" y="1645920"/>
            <a:ext cx="4275739" cy="2901394"/>
          </a:xfrm>
          <a:prstGeom prst="rect">
            <a:avLst/>
          </a:prstGeom>
        </p:spPr>
        <p:txBody>
          <a:bodyPr vert="horz" lIns="91440" tIns="45720" rIns="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ML – Regression &amp; Clustering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Computer Vision &amp; AI Cloud Services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Natural Language Processing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Recommender Systems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DL – Basic ANN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DL – CNN &amp; RNN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2B06C-0957-4995-AB72-B1B3657A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27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Lesson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1963" indent="-461963">
              <a:buFont typeface="+mj-lt"/>
              <a:buAutoNum type="arabicPeriod"/>
            </a:pPr>
            <a:r>
              <a:rPr lang="en-US" dirty="0"/>
              <a:t>Collection Data Types</a:t>
            </a:r>
          </a:p>
          <a:p>
            <a:pPr marL="461963" indent="-461963">
              <a:buFont typeface="+mj-lt"/>
              <a:buAutoNum type="arabicPeriod"/>
            </a:pPr>
            <a:r>
              <a:rPr lang="en-US" dirty="0"/>
              <a:t>Numerical Python – NumPy</a:t>
            </a:r>
          </a:p>
          <a:p>
            <a:pPr marL="461963" indent="-461963">
              <a:buFont typeface="+mj-lt"/>
              <a:buAutoNum type="arabicPeriod"/>
            </a:pPr>
            <a:r>
              <a:rPr lang="en-US" dirty="0"/>
              <a:t>"Panel Data", and "Python Data Analysis" – Pandas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9674-1263-42EB-84ED-70EA5A68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195EE-2F38-49EB-B0F2-39DC4426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EEC0-5178-49B9-93B1-B2219E8C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3D2FB3-B22E-4D74-B537-2C330579D3E0}"/>
              </a:ext>
            </a:extLst>
          </p:cNvPr>
          <p:cNvSpPr txBox="1">
            <a:spLocks/>
          </p:cNvSpPr>
          <p:nvPr/>
        </p:nvSpPr>
        <p:spPr>
          <a:xfrm>
            <a:off x="457200" y="119315"/>
            <a:ext cx="8543245" cy="772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r" defTabSz="1219170"/>
            <a:r>
              <a:rPr lang="en-US" b="1" i="1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L2 – Collection Data Types &amp; NumPy</a:t>
            </a:r>
          </a:p>
        </p:txBody>
      </p:sp>
    </p:spTree>
    <p:extLst>
      <p:ext uri="{BB962C8B-B14F-4D97-AF65-F5344CB8AC3E}">
        <p14:creationId xmlns:p14="http://schemas.microsoft.com/office/powerpoint/2010/main" val="144427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</a:rPr>
              <a:t>1. Collection Data Types</a:t>
            </a:r>
            <a:endParaRPr lang="en-US" b="1" i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290139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There are four collection data types in the Python programming language: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List</a:t>
            </a:r>
            <a:r>
              <a:rPr lang="en-US" dirty="0"/>
              <a:t> is a collection which is ordered and changeable. 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Tuple</a:t>
            </a:r>
            <a:r>
              <a:rPr lang="en-US" dirty="0"/>
              <a:t> is a collection which is ordered and unchangeable. 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Set</a:t>
            </a:r>
            <a:r>
              <a:rPr lang="en-US" dirty="0"/>
              <a:t> is a collection which is unordered and unindexed. 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Dictionary</a:t>
            </a:r>
            <a:r>
              <a:rPr lang="en-US" dirty="0"/>
              <a:t> is a collection which is ordered and changeable.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C8C94-55D8-49CD-83BD-7D1612FB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58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2215"/>
          </a:xfrm>
        </p:spPr>
        <p:txBody>
          <a:bodyPr>
            <a:normAutofit/>
          </a:bodyPr>
          <a:lstStyle/>
          <a:p>
            <a:r>
              <a:rPr lang="en-US" dirty="0"/>
              <a:t>List Items</a:t>
            </a:r>
          </a:p>
          <a:p>
            <a:pPr lvl="1"/>
            <a:r>
              <a:rPr lang="en-US" dirty="0"/>
              <a:t>List items are ordered and changeable.</a:t>
            </a:r>
          </a:p>
          <a:p>
            <a:pPr lvl="1"/>
            <a:r>
              <a:rPr lang="en-US" dirty="0"/>
              <a:t>List items are indexed, the first item has index [0], second item has index [1] and last item can use index[-1] to represent.</a:t>
            </a:r>
          </a:p>
          <a:p>
            <a:pPr lvl="1"/>
            <a:r>
              <a:rPr lang="en-US" dirty="0"/>
              <a:t>The list is changeable, meaning that we can change, add, and remove items in a list after it has been created.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– Access List items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F76A8DA-F6BC-DB40-9E6E-DC3B806B2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8838" y="1258846"/>
            <a:ext cx="6413500" cy="338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16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List – add and remove List items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08E5A67-DBAD-0446-8E2A-50E9D164A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8838" y="1214151"/>
            <a:ext cx="6413500" cy="34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6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– Insert List items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9123EC-AE59-7440-9D60-C4E1EF079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8838" y="1579042"/>
            <a:ext cx="6413500" cy="274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– Remove List items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6274F2-B1B6-1D47-8C54-44CCDCA12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5" y="1452117"/>
            <a:ext cx="4620510" cy="27537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5312CC-656D-B04A-95B0-BFA5252C3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828" y="2266340"/>
            <a:ext cx="4841922" cy="19818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288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– Create List by range()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/>
          </a:bodyPr>
          <a:lstStyle/>
          <a:p>
            <a:r>
              <a:rPr lang="en-US" dirty="0"/>
              <a:t>You can use range() function to create a list by casting.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75466-7802-A84B-AC5E-42C9011FC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371" y="2077287"/>
            <a:ext cx="4589950" cy="247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70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– More about List items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D2B609-5E64-4047-AF37-C9D6755EC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4" y="1235580"/>
            <a:ext cx="6024375" cy="351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97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– More about List items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30CC9-9ACC-AB4C-8216-EAA083146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540" y="1073886"/>
            <a:ext cx="4447892" cy="363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63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Comprehensions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389238" y="1170432"/>
            <a:ext cx="6304935" cy="3474720"/>
          </a:xfrm>
        </p:spPr>
        <p:txBody>
          <a:bodyPr>
            <a:normAutofit fontScale="92500" lnSpcReduction="10000"/>
          </a:bodyPr>
          <a:lstStyle/>
          <a:p>
            <a:r>
              <a:rPr lang="en-US" sz="2600" i="1" dirty="0">
                <a:solidFill>
                  <a:srgbClr val="0B5395"/>
                </a:solidFill>
              </a:rPr>
              <a:t>List comprehensions </a:t>
            </a:r>
            <a:r>
              <a:rPr lang="en-US" sz="2600" dirty="0"/>
              <a:t>allow us to build out lists using a different notation.</a:t>
            </a:r>
          </a:p>
          <a:p>
            <a:r>
              <a:rPr lang="en-US" sz="2600" dirty="0"/>
              <a:t>You can think of it as essentially </a:t>
            </a:r>
            <a:r>
              <a:rPr lang="en-US" sz="2600" i="1" dirty="0">
                <a:solidFill>
                  <a:srgbClr val="0B5395"/>
                </a:solidFill>
              </a:rPr>
              <a:t>a one line for loop </a:t>
            </a:r>
            <a:r>
              <a:rPr lang="en-US" sz="2600" dirty="0"/>
              <a:t>built inside of brackets.</a:t>
            </a:r>
          </a:p>
          <a:p>
            <a:r>
              <a:rPr lang="en-US" sz="2600" dirty="0"/>
              <a:t>For some simple examples:</a:t>
            </a:r>
          </a:p>
          <a:p>
            <a:pPr marL="685800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sz="1700" dirty="0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sz="1700" dirty="0" err="1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lst</a:t>
            </a:r>
            <a:r>
              <a:rPr lang="en-US" sz="1700" dirty="0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[x for x in 'word']</a:t>
            </a:r>
          </a:p>
          <a:p>
            <a:pPr marL="685800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sz="1700" dirty="0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sz="1700" dirty="0" err="1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lst</a:t>
            </a:r>
            <a:endParaRPr lang="en-US" sz="1700" dirty="0">
              <a:solidFill>
                <a:srgbClr val="0B539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685800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sz="1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['w', 'o', 'r', 'd']</a:t>
            </a:r>
          </a:p>
          <a:p>
            <a:pPr marL="685800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altLang="zh-TW" sz="1700" dirty="0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altLang="zh-TW" sz="1700" dirty="0" err="1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lst</a:t>
            </a:r>
            <a:r>
              <a:rPr lang="en-US" altLang="zh-TW" sz="1700" dirty="0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[s**2 for s in range(10)]</a:t>
            </a:r>
          </a:p>
          <a:p>
            <a:pPr marL="685800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altLang="zh-TW" sz="1700" dirty="0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altLang="zh-TW" sz="1700" dirty="0" err="1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lst</a:t>
            </a:r>
            <a:endParaRPr lang="en-US" altLang="zh-TW" sz="1700" dirty="0">
              <a:solidFill>
                <a:srgbClr val="0B539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685800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altLang="zh-TW" sz="1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[0, 1, 4, 9, 16, 25, 36, 49, 64, 81]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L2 – Collection Data Types, NumPy &amp; Pandas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669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Comprehensions (2)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1463" indent="-271463"/>
            <a:r>
              <a:rPr lang="en-US" sz="2400" dirty="0"/>
              <a:t>Some more examples:</a:t>
            </a:r>
          </a:p>
          <a:p>
            <a:pPr marL="271463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sz="1500" dirty="0" err="1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lst</a:t>
            </a:r>
            <a:r>
              <a:rPr lang="en-US" sz="1500" dirty="0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[n for n in range(11) if n % 2 == 1]</a:t>
            </a:r>
          </a:p>
          <a:p>
            <a:pPr marL="271463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sz="1500" dirty="0" err="1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lst</a:t>
            </a:r>
            <a:endParaRPr lang="en-US" sz="1500" dirty="0">
              <a:solidFill>
                <a:srgbClr val="0B539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1463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sz="15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 3, 5, 7, 9]</a:t>
            </a:r>
          </a:p>
          <a:p>
            <a:pPr marL="271463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endParaRPr lang="en-US" altLang="zh-TW" sz="1500" dirty="0">
              <a:solidFill>
                <a:srgbClr val="0B539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1463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altLang="zh-TW" sz="1500" dirty="0" err="1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lst</a:t>
            </a:r>
            <a:r>
              <a:rPr lang="en-US" altLang="zh-TW" sz="1500" dirty="0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 n**2 for n in [n**2 for n in range(5)]]</a:t>
            </a:r>
          </a:p>
          <a:p>
            <a:pPr marL="271463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altLang="zh-TW" sz="1500" dirty="0" err="1">
                <a:solidFill>
                  <a:srgbClr val="0B539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lst</a:t>
            </a:r>
            <a:endParaRPr lang="en-US" altLang="zh-TW" sz="1500" dirty="0">
              <a:solidFill>
                <a:srgbClr val="0B539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1463" indent="0">
              <a:spcBef>
                <a:spcPts val="225"/>
              </a:spcBef>
              <a:buNone/>
              <a:tabLst>
                <a:tab pos="1032272" algn="l"/>
                <a:tab pos="1371600" algn="l"/>
              </a:tabLst>
            </a:pPr>
            <a:r>
              <a:rPr lang="en-US" altLang="zh-TW" sz="15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[0, 1, 16, 81, 256]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L2 – Collection Data Types, NumPy &amp; Pandas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828032" y="2958312"/>
            <a:ext cx="2557690" cy="987783"/>
            <a:chOff x="4514851" y="3087165"/>
            <a:chExt cx="2457450" cy="987783"/>
          </a:xfrm>
        </p:grpSpPr>
        <p:sp>
          <p:nvSpPr>
            <p:cNvPr id="3" name="TextBox 2"/>
            <p:cNvSpPr txBox="1"/>
            <p:nvPr/>
          </p:nvSpPr>
          <p:spPr>
            <a:xfrm>
              <a:off x="4873096" y="3520950"/>
              <a:ext cx="18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rgbClr val="0099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[0, 1, 4, 9, 16]</a:t>
              </a:r>
            </a:p>
          </p:txBody>
        </p:sp>
        <p:sp>
          <p:nvSpPr>
            <p:cNvPr id="7" name="Left Brace 6"/>
            <p:cNvSpPr/>
            <p:nvPr/>
          </p:nvSpPr>
          <p:spPr>
            <a:xfrm rot="16200000">
              <a:off x="5604368" y="1997648"/>
              <a:ext cx="278415" cy="2457450"/>
            </a:xfrm>
            <a:prstGeom prst="leftBrac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26984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Tuple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2215"/>
          </a:xfrm>
        </p:spPr>
        <p:txBody>
          <a:bodyPr>
            <a:normAutofit/>
          </a:bodyPr>
          <a:lstStyle/>
          <a:p>
            <a:r>
              <a:rPr lang="en-US" dirty="0"/>
              <a:t>Tuple items</a:t>
            </a:r>
          </a:p>
          <a:p>
            <a:pPr lvl="1"/>
            <a:r>
              <a:rPr lang="en-US" dirty="0"/>
              <a:t>Tuples are used to store multiple items in a single variable.</a:t>
            </a:r>
          </a:p>
          <a:p>
            <a:pPr lvl="1"/>
            <a:r>
              <a:rPr lang="en-US" dirty="0"/>
              <a:t>A tuple is a collection which is ordered and UNCHANGEABLE.</a:t>
            </a:r>
          </a:p>
          <a:p>
            <a:pPr lvl="1"/>
            <a:r>
              <a:rPr lang="en-US" dirty="0"/>
              <a:t>Tuples are written with round brackets.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557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Tuple – Access Tuple items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458115"/>
          </a:xfrm>
        </p:spPr>
        <p:txBody>
          <a:bodyPr>
            <a:normAutofit/>
          </a:bodyPr>
          <a:lstStyle/>
          <a:p>
            <a:r>
              <a:rPr lang="en-US" dirty="0"/>
              <a:t>Access tuple items methods are same as List.</a:t>
            </a:r>
          </a:p>
          <a:p>
            <a:pPr lvl="1"/>
            <a:endParaRPr lang="en-US" dirty="0"/>
          </a:p>
        </p:txBody>
      </p:sp>
      <p:pic>
        <p:nvPicPr>
          <p:cNvPr id="7" name="Content Placeholder 17">
            <a:extLst>
              <a:ext uri="{FF2B5EF4-FFF2-40B4-BE49-F238E27FC236}">
                <a16:creationId xmlns:a16="http://schemas.microsoft.com/office/drawing/2014/main" id="{CFF9DB27-3DF3-3D4E-A916-1C0693A4E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555" y="1712960"/>
            <a:ext cx="5497388" cy="290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24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Tuple – Update Tuple items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tuple is a collection which is ordered and </a:t>
            </a:r>
            <a:r>
              <a:rPr lang="en-US" b="1" dirty="0"/>
              <a:t>UNCHANGEABLE</a:t>
            </a:r>
            <a:r>
              <a:rPr lang="en-US" dirty="0"/>
              <a:t>.</a:t>
            </a:r>
          </a:p>
          <a:p>
            <a:r>
              <a:rPr lang="en-US" dirty="0"/>
              <a:t>To update Tuple, we need to convert it to List first.</a:t>
            </a:r>
          </a:p>
          <a:p>
            <a:r>
              <a:rPr lang="en-US" dirty="0"/>
              <a:t>After updated, convert list back to tuple.</a:t>
            </a:r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80D054-C254-F549-88CB-D3CD1CDB6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0" y="2107693"/>
            <a:ext cx="684530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95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Numerical Python -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does not support built-in function for arrays. </a:t>
            </a:r>
          </a:p>
          <a:p>
            <a:r>
              <a:rPr lang="en-US" dirty="0"/>
              <a:t>It also support some mathematic library such as  linear algebra, </a:t>
            </a:r>
            <a:r>
              <a:rPr lang="en-US" dirty="0" err="1"/>
              <a:t>fourier</a:t>
            </a:r>
            <a:r>
              <a:rPr lang="en-US" dirty="0"/>
              <a:t> transform, and matrices.</a:t>
            </a:r>
          </a:p>
          <a:p>
            <a:r>
              <a:rPr lang="en-US" dirty="0"/>
              <a:t>The speed of NumPy is faster than Python lists.</a:t>
            </a:r>
          </a:p>
          <a:p>
            <a:r>
              <a:rPr lang="en-US" dirty="0"/>
              <a:t>Arrays are frequently used in machine learning, so that speed is very important.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93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– Create an array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 fontScale="77500" lnSpcReduction="20000"/>
          </a:bodyPr>
          <a:lstStyle/>
          <a:p>
            <a:r>
              <a:rPr lang="en-HK" dirty="0"/>
              <a:t>You need to install NumPy library for your local tools.</a:t>
            </a:r>
          </a:p>
          <a:p>
            <a:r>
              <a:rPr lang="en-HK" dirty="0"/>
              <a:t>import the </a:t>
            </a:r>
            <a:r>
              <a:rPr lang="en-HK" dirty="0" err="1"/>
              <a:t>Numpy</a:t>
            </a:r>
            <a:r>
              <a:rPr lang="en-HK" dirty="0"/>
              <a:t> lib.</a:t>
            </a:r>
          </a:p>
          <a:p>
            <a:r>
              <a:rPr lang="en-HK" dirty="0"/>
              <a:t>Use </a:t>
            </a:r>
            <a:r>
              <a:rPr lang="en-HK" dirty="0" err="1"/>
              <a:t>numpy</a:t>
            </a:r>
            <a:r>
              <a:rPr lang="en-HK" dirty="0"/>
              <a:t> method to create an arrays (originally it is a list)</a:t>
            </a:r>
          </a:p>
          <a:p>
            <a:endParaRPr lang="en-HK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9F1DE-2D53-3045-922B-2AC276EA8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113635"/>
            <a:ext cx="7429500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0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– Create an array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/>
          </a:bodyPr>
          <a:lstStyle/>
          <a:p>
            <a:r>
              <a:rPr lang="en-HK" dirty="0"/>
              <a:t>You can use a </a:t>
            </a:r>
            <a:r>
              <a:rPr lang="en-HK" dirty="0" err="1"/>
              <a:t>numpy</a:t>
            </a:r>
            <a:r>
              <a:rPr lang="en-HK" dirty="0"/>
              <a:t> method </a:t>
            </a:r>
            <a:r>
              <a:rPr lang="en-HK" dirty="0" err="1"/>
              <a:t>arange</a:t>
            </a:r>
            <a:r>
              <a:rPr lang="en-HK" dirty="0"/>
              <a:t>(start, stop, step) to create an array.</a:t>
            </a:r>
          </a:p>
          <a:p>
            <a:endParaRPr lang="en-HK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9EA797-E296-4144-B8EA-27C4DBBE8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776" y="2046488"/>
            <a:ext cx="5078780" cy="272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0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– Dimensions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0E063B-9920-4CA7-9100-CE0BC4E7EF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950"/>
          <a:stretch/>
        </p:blipFill>
        <p:spPr>
          <a:xfrm>
            <a:off x="296260" y="1248360"/>
            <a:ext cx="5191970" cy="327706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DCD7A91-84A6-4567-8C8F-624527AA2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50" y="1051745"/>
            <a:ext cx="2290575" cy="1581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97D0AB-D568-3CA0-53E2-5158E0AE8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079" y="2845125"/>
            <a:ext cx="2397250" cy="171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31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– Dimensions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8EA09C-2678-4A16-94AC-05EB9D68E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0" y="1197405"/>
            <a:ext cx="4518276" cy="348889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AEF6474-A3A8-449C-A283-5D16D875E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42" y="1977256"/>
            <a:ext cx="40576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88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– Slicing 1-D Arrays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AA4257-FFFA-B64B-BC03-7A77448EB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30" y="1303762"/>
            <a:ext cx="5461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0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– Slicing 2-D Arrays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8E6848-8CC6-204E-8983-43E6888A6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4" y="1118502"/>
            <a:ext cx="5903725" cy="374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09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– Shape of an array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 fontScale="92500" lnSpcReduction="20000"/>
          </a:bodyPr>
          <a:lstStyle/>
          <a:p>
            <a:r>
              <a:rPr lang="en-HK" dirty="0"/>
              <a:t>Shape is an attribute of an array which returns a tuple with each index having the number of corresponding elements in an array.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78AA4D-A5FC-7F4F-991B-956AB925A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693" y="2304516"/>
            <a:ext cx="72263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30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– Reshape of an array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/>
          </a:bodyPr>
          <a:lstStyle/>
          <a:p>
            <a:r>
              <a:rPr lang="en-HK"/>
              <a:t>We can change the dimension of an array by using reshape.</a:t>
            </a:r>
          </a:p>
          <a:p>
            <a:endParaRPr lang="en-US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2E5129-6E5A-784A-B7BE-8350A9E31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86" y="1960930"/>
            <a:ext cx="4777030" cy="2545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5A61A2-9A75-5A4C-9F05-4B2125C28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935" y="1937612"/>
            <a:ext cx="18161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52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28D0-71EB-737B-4977-3A77B7AD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88EC0-F727-445E-244D-A8227E82A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5CE14-99EE-5210-C570-3CF48181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088D6-DF32-A1D7-34DA-9A298C6C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D4EB2-DCBE-5703-8301-74D49F4F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DB0B1D-3DFD-326B-5BE4-4CC852D27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005" y="1065321"/>
            <a:ext cx="6268325" cy="3762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093D96-0F64-330F-D388-C2B94E11F4B2}"/>
              </a:ext>
            </a:extLst>
          </p:cNvPr>
          <p:cNvSpPr txBox="1"/>
          <p:nvPr/>
        </p:nvSpPr>
        <p:spPr>
          <a:xfrm>
            <a:off x="7075940" y="4422494"/>
            <a:ext cx="16171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(array, row, col)</a:t>
            </a:r>
            <a:endParaRPr lang="en-HK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155846-9B02-0CE4-5EFA-78B8AD3D4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50" y="30225"/>
            <a:ext cx="6099050" cy="20531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A3008D-6D03-F63A-C068-6839816FC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99" y="2882833"/>
            <a:ext cx="2067213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50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– Searching an array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 fontScale="92500" lnSpcReduction="20000"/>
          </a:bodyPr>
          <a:lstStyle/>
          <a:p>
            <a:r>
              <a:rPr lang="en-HK" dirty="0"/>
              <a:t>You can use where() to search an array for a certain value, and then return a tuple which contains the positions that match condition in where().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8906D58-696F-4C21-BC1B-F7B3E3B5F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20" y="2140286"/>
            <a:ext cx="55816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73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566315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NumPy – Sort and Search an array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 fontScale="85000" lnSpcReduction="20000"/>
          </a:bodyPr>
          <a:lstStyle/>
          <a:p>
            <a:r>
              <a:rPr lang="en-HK" dirty="0"/>
              <a:t>You can use sort() to sort an array,</a:t>
            </a:r>
          </a:p>
          <a:p>
            <a:r>
              <a:rPr lang="en-HK" dirty="0"/>
              <a:t>and then use </a:t>
            </a:r>
            <a:r>
              <a:rPr lang="en-HK" dirty="0" err="1"/>
              <a:t>searchsorted</a:t>
            </a:r>
            <a:r>
              <a:rPr lang="en-HK" dirty="0"/>
              <a:t>() to search that array by using binary search.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12C3CB0-1160-4287-9DF4-5BA42680F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940" y="2113635"/>
            <a:ext cx="50006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38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566315" cy="725349"/>
          </a:xfrm>
        </p:spPr>
        <p:txBody>
          <a:bodyPr>
            <a:normAutofit/>
          </a:bodyPr>
          <a:lstStyle/>
          <a:p>
            <a:r>
              <a:rPr lang="en-US" dirty="0"/>
              <a:t>NumPy – Filtering an array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/>
          </a:bodyPr>
          <a:lstStyle/>
          <a:p>
            <a:r>
              <a:rPr lang="en-HK" dirty="0"/>
              <a:t>You can use an array which contain True or False to filter another array.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FFA8848-6881-40D2-A35B-F1E779B74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2012401"/>
            <a:ext cx="57531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07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566315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NumPy – Delete items in an array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916230"/>
          </a:xfrm>
        </p:spPr>
        <p:txBody>
          <a:bodyPr>
            <a:normAutofit/>
          </a:bodyPr>
          <a:lstStyle/>
          <a:p>
            <a:r>
              <a:rPr lang="en-HK" dirty="0"/>
              <a:t>You can use a </a:t>
            </a:r>
            <a:r>
              <a:rPr lang="en-HK" dirty="0" err="1"/>
              <a:t>numpy</a:t>
            </a:r>
            <a:r>
              <a:rPr lang="en-HK" dirty="0"/>
              <a:t> method delete(array, index) to delete items in an array.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5A9491-C395-4712-BE34-42CF45375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2113635"/>
            <a:ext cx="383857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68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044700"/>
            <a:ext cx="8246070" cy="737443"/>
          </a:xfrm>
        </p:spPr>
        <p:txBody>
          <a:bodyPr>
            <a:noAutofit/>
          </a:bodyPr>
          <a:lstStyle/>
          <a:p>
            <a:r>
              <a:rPr lang="en-US" sz="2800" b="1" i="1" dirty="0">
                <a:solidFill>
                  <a:srgbClr val="FFFF00"/>
                </a:solidFill>
              </a:rPr>
              <a:t>3. "Panel Data", and "Python Data Analysis" </a:t>
            </a:r>
            <a:r>
              <a:rPr lang="en-US" sz="2800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800" b="1" i="1" dirty="0">
                <a:solidFill>
                  <a:srgbClr val="FFFF00"/>
                </a:solidFill>
              </a:rPr>
              <a:t>Pandas</a:t>
            </a:r>
            <a:endParaRPr lang="en-US" sz="2800" b="1" i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808225"/>
            <a:ext cx="8246070" cy="3054097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Pandas is a Python package providing fast, flexible, and expressive data structures designed to make working with “relational” or “labeled” data both easy and intuitive.</a:t>
            </a:r>
          </a:p>
          <a:p>
            <a:r>
              <a:rPr lang="en-US" sz="2600" dirty="0"/>
              <a:t>It aims to be the fundamental high-level building block for doing practical, real world data analysis in Python.</a:t>
            </a:r>
          </a:p>
          <a:p>
            <a:r>
              <a:rPr lang="en-US" sz="2600" dirty="0"/>
              <a:t>It has the broader goal of becoming the most powerful and flexible open source data analysis / manipulation tool available in any language.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29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044700"/>
            <a:ext cx="8246070" cy="737445"/>
          </a:xfrm>
        </p:spPr>
        <p:txBody>
          <a:bodyPr>
            <a:noAutofit/>
          </a:bodyPr>
          <a:lstStyle/>
          <a:p>
            <a:r>
              <a:rPr lang="en-US" sz="2800" b="1" i="1" dirty="0">
                <a:solidFill>
                  <a:srgbClr val="FFFF00"/>
                </a:solidFill>
              </a:rPr>
              <a:t>3. "Panel Data", and "Python Data Analysis" </a:t>
            </a:r>
            <a:r>
              <a:rPr lang="en-US" sz="2800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r>
              <a:rPr lang="en-US" sz="2800" b="1" i="1" dirty="0">
                <a:solidFill>
                  <a:srgbClr val="FFFF00"/>
                </a:solidFill>
              </a:rPr>
              <a:t>Pandas</a:t>
            </a:r>
            <a:endParaRPr lang="en-US" sz="2800" b="1" i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960930"/>
            <a:ext cx="8246070" cy="2901393"/>
          </a:xfrm>
        </p:spPr>
        <p:txBody>
          <a:bodyPr>
            <a:normAutofit/>
          </a:bodyPr>
          <a:lstStyle/>
          <a:p>
            <a:r>
              <a:rPr lang="en-US" sz="2600" dirty="0"/>
              <a:t>The two primary data structures of pandas, Series (1-dimensional) and </a:t>
            </a:r>
            <a:r>
              <a:rPr lang="en-US" sz="2600" dirty="0" err="1"/>
              <a:t>DataFrame</a:t>
            </a:r>
            <a:r>
              <a:rPr lang="en-US" sz="2600" dirty="0"/>
              <a:t> (2-dimensional).</a:t>
            </a:r>
          </a:p>
          <a:p>
            <a:r>
              <a:rPr lang="en-US" sz="2600" dirty="0"/>
              <a:t>They handle the vast majority of typical use cases in finance, statistics, social science, and many areas of engineering.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624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</a:t>
            </a:r>
            <a:r>
              <a:rPr lang="en-US" dirty="0"/>
              <a:t>andas Library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P</a:t>
            </a:r>
            <a:r>
              <a:rPr lang="en-US" dirty="0">
                <a:solidFill>
                  <a:srgbClr val="C00000"/>
                </a:solidFill>
              </a:rPr>
              <a:t>andas</a:t>
            </a:r>
            <a:r>
              <a:rPr lang="en-US" dirty="0"/>
              <a:t> is a Python package providing fast, flexible, and expressive data structures designed to make working with “</a:t>
            </a:r>
            <a:r>
              <a:rPr lang="en-US" dirty="0">
                <a:solidFill>
                  <a:srgbClr val="0B5395"/>
                </a:solidFill>
              </a:rPr>
              <a:t>relational</a:t>
            </a:r>
            <a:r>
              <a:rPr lang="en-US" dirty="0"/>
              <a:t>” or “</a:t>
            </a:r>
            <a:r>
              <a:rPr lang="en-US" dirty="0">
                <a:solidFill>
                  <a:srgbClr val="0B5395"/>
                </a:solidFill>
              </a:rPr>
              <a:t>labeled</a:t>
            </a:r>
            <a:r>
              <a:rPr lang="en-US" dirty="0"/>
              <a:t>” data both easy and intuitive.</a:t>
            </a:r>
          </a:p>
          <a:p>
            <a:r>
              <a:rPr lang="en-US" dirty="0"/>
              <a:t>It aims to be the fundamental high-level building block for doing practical, real world data analysis in Python.</a:t>
            </a:r>
          </a:p>
          <a:p>
            <a:r>
              <a:rPr lang="en-US" dirty="0"/>
              <a:t>It has the broader goal of becoming the most powerful and flexible open source </a:t>
            </a:r>
            <a:r>
              <a:rPr lang="en-US" i="1" dirty="0">
                <a:solidFill>
                  <a:srgbClr val="0B5395"/>
                </a:solidFill>
              </a:rPr>
              <a:t>data analysis / manipulation tool</a:t>
            </a:r>
            <a:r>
              <a:rPr lang="en-US" dirty="0"/>
              <a:t> available in any language.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10F4020-355F-47C5-8EF7-3C1955BC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B0C32AF-0625-4D86-B70E-F209036E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</p:spTree>
    <p:extLst>
      <p:ext uri="{BB962C8B-B14F-4D97-AF65-F5344CB8AC3E}">
        <p14:creationId xmlns:p14="http://schemas.microsoft.com/office/powerpoint/2010/main" val="17229252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</a:t>
            </a:r>
            <a:r>
              <a:rPr lang="en-US" dirty="0"/>
              <a:t>andas Library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two primary data structures of pandas, </a:t>
            </a:r>
            <a:r>
              <a:rPr lang="en-US" sz="2400" i="1" dirty="0">
                <a:solidFill>
                  <a:srgbClr val="C00000"/>
                </a:solidFill>
              </a:rPr>
              <a:t>Series</a:t>
            </a:r>
            <a:r>
              <a:rPr lang="en-US" sz="2400" dirty="0"/>
              <a:t> (1-dimensional) and </a:t>
            </a:r>
            <a:r>
              <a:rPr lang="en-US" sz="2400" i="1" dirty="0" err="1">
                <a:solidFill>
                  <a:srgbClr val="C00000"/>
                </a:solidFill>
              </a:rPr>
              <a:t>DataFrame</a:t>
            </a:r>
            <a:r>
              <a:rPr lang="en-US" sz="2400" dirty="0"/>
              <a:t> (2-dimensional).</a:t>
            </a:r>
          </a:p>
          <a:p>
            <a:r>
              <a:rPr lang="en-US" sz="2400" dirty="0"/>
              <a:t>They handle the vast majority of typical use cases in </a:t>
            </a:r>
            <a:r>
              <a:rPr lang="en-US" sz="2400" dirty="0">
                <a:solidFill>
                  <a:srgbClr val="0B5395"/>
                </a:solidFill>
              </a:rPr>
              <a:t>finance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B5395"/>
                </a:solidFill>
              </a:rPr>
              <a:t>statistics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B5395"/>
                </a:solidFill>
              </a:rPr>
              <a:t>social science</a:t>
            </a:r>
            <a:r>
              <a:rPr lang="en-US" sz="2400" dirty="0"/>
              <a:t>, and many areas of </a:t>
            </a:r>
            <a:r>
              <a:rPr lang="en-US" sz="2400" dirty="0">
                <a:solidFill>
                  <a:srgbClr val="0B5395"/>
                </a:solidFill>
              </a:rPr>
              <a:t>engineering</a:t>
            </a:r>
            <a:r>
              <a:rPr lang="en-US" sz="2400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95CA1B9-0290-4583-B3DA-A171CB50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275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389238" y="1223011"/>
            <a:ext cx="6304935" cy="1043330"/>
          </a:xfrm>
        </p:spPr>
        <p:txBody>
          <a:bodyPr>
            <a:normAutofit/>
          </a:bodyPr>
          <a:lstStyle/>
          <a:p>
            <a:r>
              <a:rPr lang="en-US" sz="1800" dirty="0"/>
              <a:t>A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Series</a:t>
            </a:r>
            <a:r>
              <a:rPr lang="en-US" sz="1800" dirty="0"/>
              <a:t> is a </a:t>
            </a:r>
            <a:r>
              <a:rPr lang="en-US" sz="1800" i="1" dirty="0">
                <a:solidFill>
                  <a:srgbClr val="FF0000"/>
                </a:solidFill>
              </a:rPr>
              <a:t>one-dimensional</a:t>
            </a:r>
            <a:r>
              <a:rPr lang="en-US" sz="1800" dirty="0"/>
              <a:t> array-like object containing:</a:t>
            </a:r>
          </a:p>
          <a:p>
            <a:pPr lvl="1"/>
            <a:r>
              <a:rPr lang="en-US" sz="1800" dirty="0"/>
              <a:t>an array of data, and</a:t>
            </a:r>
          </a:p>
          <a:p>
            <a:pPr lvl="1"/>
            <a:r>
              <a:rPr lang="en-US" sz="1800" dirty="0"/>
              <a:t>an associated array of data labels.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BCE97F-7007-4AFA-8072-13B4E70D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150983-ADA1-7C40-8A0D-C33B72F04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266341"/>
            <a:ext cx="3546350" cy="236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1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389238" y="1131887"/>
            <a:ext cx="6304935" cy="523634"/>
          </a:xfrm>
        </p:spPr>
        <p:txBody>
          <a:bodyPr>
            <a:normAutofit/>
          </a:bodyPr>
          <a:lstStyle/>
          <a:p>
            <a:pPr marL="257175" lvl="1" indent="-257175">
              <a:buSzPct val="95000"/>
              <a:buFont typeface="Arial" pitchFamily="34" charset="0"/>
              <a:buChar char="•"/>
            </a:pPr>
            <a:r>
              <a:rPr lang="en-US" dirty="0"/>
              <a:t>Create a Series with an index: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137E9A3-372C-46B2-8D5C-48B7EE81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918D34-BC53-794E-82CC-86C87289F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30" y="1655521"/>
            <a:ext cx="4747415" cy="276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873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389238" y="1131887"/>
            <a:ext cx="6304935" cy="523634"/>
          </a:xfrm>
        </p:spPr>
        <p:txBody>
          <a:bodyPr>
            <a:normAutofit/>
          </a:bodyPr>
          <a:lstStyle/>
          <a:p>
            <a:pPr marL="257175" lvl="1" indent="-257175">
              <a:buSzPct val="95000"/>
              <a:buFont typeface="Arial" pitchFamily="34" charset="0"/>
              <a:buChar char="•"/>
            </a:pPr>
            <a:r>
              <a:rPr lang="en-US" dirty="0"/>
              <a:t>Create a Series with a dictionary :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137E9A3-372C-46B2-8D5C-48B7EE81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969B03-A98C-D340-B017-A24AA8432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238" y="1657807"/>
            <a:ext cx="64897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41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389238" y="1131887"/>
            <a:ext cx="6304935" cy="523634"/>
          </a:xfrm>
        </p:spPr>
        <p:txBody>
          <a:bodyPr>
            <a:normAutofit/>
          </a:bodyPr>
          <a:lstStyle/>
          <a:p>
            <a:pPr marL="257175" lvl="1" indent="-257175">
              <a:buSzPct val="95000"/>
              <a:buFont typeface="Arial" pitchFamily="34" charset="0"/>
              <a:buChar char="•"/>
            </a:pPr>
            <a:r>
              <a:rPr lang="en-US" dirty="0"/>
              <a:t>Access Series with indexes :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137E9A3-372C-46B2-8D5C-48B7EE81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D25C6F-3821-2F49-BF60-2047E1BC6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238" y="1502815"/>
            <a:ext cx="3964534" cy="31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77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Series - Drop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389238" y="1131887"/>
            <a:ext cx="6304935" cy="523634"/>
          </a:xfrm>
        </p:spPr>
        <p:txBody>
          <a:bodyPr>
            <a:normAutofit/>
          </a:bodyPr>
          <a:lstStyle/>
          <a:p>
            <a:pPr marL="257175" lvl="1" indent="-257175">
              <a:buSzPct val="95000"/>
              <a:buFont typeface="Arial" pitchFamily="34" charset="0"/>
              <a:buChar char="•"/>
            </a:pPr>
            <a:r>
              <a:rPr lang="en-US" dirty="0"/>
              <a:t>You can remove rows in Series by using drop: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137E9A3-372C-46B2-8D5C-48B7EE81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758D92-EC02-E54A-97FE-0CCA078E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804203"/>
            <a:ext cx="5859836" cy="2935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6A8E6D-80F9-8647-8E43-589B79FCD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226" y="1804203"/>
            <a:ext cx="22479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8428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2595985"/>
          </a:xfrm>
        </p:spPr>
        <p:txBody>
          <a:bodyPr>
            <a:normAutofit/>
          </a:bodyPr>
          <a:lstStyle/>
          <a:p>
            <a:r>
              <a:rPr lang="en-US" sz="1800" dirty="0"/>
              <a:t>A </a:t>
            </a:r>
            <a:r>
              <a:rPr lang="en-US" sz="1800" dirty="0" err="1"/>
              <a:t>DataFrame</a:t>
            </a:r>
            <a:r>
              <a:rPr lang="en-US" sz="1800" dirty="0"/>
              <a:t> represents a tabular, spreadsheet-like data structure.</a:t>
            </a:r>
          </a:p>
          <a:p>
            <a:r>
              <a:rPr lang="en-US" sz="1800" dirty="0"/>
              <a:t>It contains an ordered collection of columns, each of which can be a different value type (numeric, string , </a:t>
            </a:r>
            <a:r>
              <a:rPr lang="en-US" sz="1800" dirty="0" err="1"/>
              <a:t>boolean</a:t>
            </a:r>
            <a:r>
              <a:rPr lang="en-US" sz="1800" dirty="0"/>
              <a:t>, etc.).</a:t>
            </a:r>
          </a:p>
          <a:p>
            <a:r>
              <a:rPr lang="en-US" sz="1800" dirty="0"/>
              <a:t>It has both a row and column index.</a:t>
            </a:r>
          </a:p>
          <a:p>
            <a:r>
              <a:rPr lang="en-US" sz="1800" dirty="0"/>
              <a:t>There are numerous ways to construct a </a:t>
            </a:r>
            <a:r>
              <a:rPr lang="en-US" sz="1800" dirty="0" err="1"/>
              <a:t>DataFrame</a:t>
            </a:r>
            <a:r>
              <a:rPr lang="en-US" sz="1800" dirty="0"/>
              <a:t>.</a:t>
            </a:r>
          </a:p>
          <a:p>
            <a:r>
              <a:rPr lang="en-US" sz="1800" dirty="0"/>
              <a:t>One of the most common is from a </a:t>
            </a:r>
            <a:r>
              <a:rPr lang="en-US" sz="1800" dirty="0" err="1"/>
              <a:t>dict</a:t>
            </a:r>
            <a:r>
              <a:rPr lang="en-US" sz="1800" dirty="0"/>
              <a:t> of equal-length lists or NumPy arrays.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BCE97F-7007-4AFA-8072-13B4E70D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3776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BCE97F-7007-4AFA-8072-13B4E70D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56F8FE-8F91-3C48-AD81-330522800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5" y="1006524"/>
            <a:ext cx="5157542" cy="370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12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BCE97F-7007-4AFA-8072-13B4E70D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ECF37F-4B75-4540-BC4B-79B79407B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5" y="1018803"/>
            <a:ext cx="3984195" cy="3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538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DataFrame</a:t>
            </a:r>
            <a:r>
              <a:rPr lang="en-US" dirty="0"/>
              <a:t> - Update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BCE97F-7007-4AFA-8072-13B4E70D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D5EEC4-3BFB-D24E-8946-D9D645DE4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5" y="1047214"/>
            <a:ext cx="4245460" cy="353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573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DataFrame</a:t>
            </a:r>
            <a:r>
              <a:rPr lang="en-US" dirty="0"/>
              <a:t> - Update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BCE97F-7007-4AFA-8072-13B4E70D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ECE04E-1C46-E44D-905E-C4633CD29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815" y="1057544"/>
            <a:ext cx="4155645" cy="370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696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DataFrame</a:t>
            </a:r>
            <a:r>
              <a:rPr lang="en-US" dirty="0"/>
              <a:t> - Update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BCE97F-7007-4AFA-8072-13B4E70D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ECE04E-1C46-E44D-905E-C4633CD29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815" y="1057544"/>
            <a:ext cx="4155645" cy="370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7908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DataFrame</a:t>
            </a:r>
            <a:r>
              <a:rPr lang="en-US" dirty="0"/>
              <a:t> - Drop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BCE97F-7007-4AFA-8072-13B4E70D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L2 – Collection Data Types, NumPy &amp;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4AF2F5-FE6B-E941-B2CE-3F515C3AB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4" y="1078303"/>
            <a:ext cx="4662695" cy="368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84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760A5-BF11-7B16-4A12-693B05622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2997E-076B-5555-9EBD-BC89E8C00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88BC-A3B1-57FB-2430-1F191E20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2A3D7-4128-8030-6F20-9803F70F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92AF7E-DC44-DAAD-B804-841CE2CA8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5" y="222378"/>
            <a:ext cx="3134157" cy="681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21BF4C-34E2-F140-DB1E-773ED2F8E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425" y="1061206"/>
            <a:ext cx="5152953" cy="363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015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1AE4-033E-D687-621A-0E3C6DFC0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02965-408C-7A62-4771-389584BFF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Find the sales of bananas in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City Super</a:t>
            </a:r>
            <a:r>
              <a:rPr lang="en-US" sz="18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Show the stores' sales figures where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Apple</a:t>
            </a:r>
            <a:r>
              <a:rPr lang="en-US" sz="18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 sales are greater than 200.</a:t>
            </a:r>
            <a:endParaRPr lang="en-HK" sz="1800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endParaRPr lang="en-HK" sz="1800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endParaRPr lang="en-HK" dirty="0"/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Add a new column called “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Total</a:t>
            </a:r>
            <a:r>
              <a:rPr lang="en-US" sz="18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” to the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DataFrame</a:t>
            </a:r>
            <a:r>
              <a:rPr lang="en-US" sz="18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 to store the total sales</a:t>
            </a:r>
          </a:p>
          <a:p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3A70-6A3C-E2BF-1B85-8A523F3D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6614A-8308-4867-A8EC-395AD8E3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10CCF-71AE-9FE7-1168-1060E3417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A39372-8BE2-AF72-8B30-DE7793E07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843" y="1655520"/>
            <a:ext cx="4375142" cy="4639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D92E28-B3E1-40DB-ABDA-02F2B0A58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588" y="2938124"/>
            <a:ext cx="3272331" cy="4090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B86899-458B-6D10-C77B-908F49C43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584" y="4270372"/>
            <a:ext cx="4423988" cy="3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300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3998"/>
            <a:ext cx="9144000" cy="418950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877409" y="2393397"/>
            <a:ext cx="3359510" cy="763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 Study Guide</a:t>
            </a:r>
          </a:p>
        </p:txBody>
      </p:sp>
    </p:spTree>
    <p:extLst>
      <p:ext uri="{BB962C8B-B14F-4D97-AF65-F5344CB8AC3E}">
        <p14:creationId xmlns:p14="http://schemas.microsoft.com/office/powerpoint/2010/main" val="3809369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725349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H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200" dirty="0"/>
              <a:t>McKinney, W. (2017). </a:t>
            </a:r>
            <a:r>
              <a:rPr lang="en-US" altLang="zh-HK" sz="2200" i="1" dirty="0">
                <a:solidFill>
                  <a:srgbClr val="7030A0"/>
                </a:solidFill>
              </a:rPr>
              <a:t>Python for Data Analysis</a:t>
            </a:r>
            <a:r>
              <a:rPr lang="en-US" altLang="zh-HK" sz="2200" dirty="0"/>
              <a:t> </a:t>
            </a:r>
            <a:r>
              <a:rPr lang="en-US" altLang="zh-TW" sz="2200" dirty="0"/>
              <a:t>(</a:t>
            </a:r>
            <a:r>
              <a:rPr lang="en-US" altLang="zh-HK" sz="2200" dirty="0"/>
              <a:t>2nd ed.</a:t>
            </a:r>
            <a:r>
              <a:rPr lang="en-US" altLang="zh-TW" sz="2200" dirty="0"/>
              <a:t>)</a:t>
            </a:r>
            <a:r>
              <a:rPr lang="en-US" altLang="zh-HK" sz="2200" dirty="0"/>
              <a:t>. O’Reilly.</a:t>
            </a:r>
          </a:p>
          <a:p>
            <a:pPr marL="0" indent="0">
              <a:buNone/>
            </a:pPr>
            <a:endParaRPr lang="en-US" altLang="zh-HK" sz="2200" b="1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H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Sites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200" dirty="0">
                <a:hlinkClick r:id="rId3"/>
              </a:rPr>
              <a:t>https://numpy.org/</a:t>
            </a:r>
            <a:endParaRPr lang="en-US" altLang="zh-HK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200" dirty="0">
                <a:hlinkClick r:id="rId4"/>
              </a:rPr>
              <a:t>https://pandas.pydata.org/</a:t>
            </a:r>
            <a:endParaRPr lang="en-US" altLang="zh-HK" sz="2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L2 – Collection Data Types, NumPy &amp; Pandas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84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6331</TotalTime>
  <Words>2136</Words>
  <Application>Microsoft Office PowerPoint</Application>
  <PresentationFormat>On-screen Show (16:9)</PresentationFormat>
  <Paragraphs>316</Paragraphs>
  <Slides>52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Calibri</vt:lpstr>
      <vt:lpstr>Cambria</vt:lpstr>
      <vt:lpstr>Consolas</vt:lpstr>
      <vt:lpstr>Times New Roman</vt:lpstr>
      <vt:lpstr>Wingdings</vt:lpstr>
      <vt:lpstr>Office Theme</vt:lpstr>
      <vt:lpstr>Lecture 2 – Collection Data Types, NumPy &amp; Pandas</vt:lpstr>
      <vt:lpstr>On completion of the module, students are expected to be able to:</vt:lpstr>
      <vt:lpstr>Module Plan</vt:lpstr>
      <vt:lpstr>Lesson Outline</vt:lpstr>
      <vt:lpstr>1. Collection Data Types</vt:lpstr>
      <vt:lpstr>List</vt:lpstr>
      <vt:lpstr>List – Access List items</vt:lpstr>
      <vt:lpstr>List – add and remove List items</vt:lpstr>
      <vt:lpstr>List – Insert List items</vt:lpstr>
      <vt:lpstr>List – Remove List items</vt:lpstr>
      <vt:lpstr>List – Create List by range()</vt:lpstr>
      <vt:lpstr>List – More about List items</vt:lpstr>
      <vt:lpstr>List – More about List items</vt:lpstr>
      <vt:lpstr>List Comprehensions</vt:lpstr>
      <vt:lpstr>List Comprehensions (2)</vt:lpstr>
      <vt:lpstr>Tuple</vt:lpstr>
      <vt:lpstr>Tuple – Access Tuple items</vt:lpstr>
      <vt:lpstr>Tuple – Update Tuple items</vt:lpstr>
      <vt:lpstr>2. Numerical Python - NumPy</vt:lpstr>
      <vt:lpstr>NumPy – Create an array</vt:lpstr>
      <vt:lpstr>NumPy – Create an array</vt:lpstr>
      <vt:lpstr>NumPy – Dimensions</vt:lpstr>
      <vt:lpstr>NumPy – Dimensions</vt:lpstr>
      <vt:lpstr>NumPy – Slicing 1-D Arrays</vt:lpstr>
      <vt:lpstr>NumPy – Slicing 2-D Arrays</vt:lpstr>
      <vt:lpstr>NumPy – Shape of an array</vt:lpstr>
      <vt:lpstr>NumPy – Reshape of an array</vt:lpstr>
      <vt:lpstr>PowerPoint Presentation</vt:lpstr>
      <vt:lpstr>NumPy – Searching an array</vt:lpstr>
      <vt:lpstr>NumPy – Sort and Search an array</vt:lpstr>
      <vt:lpstr>NumPy – Filtering an array</vt:lpstr>
      <vt:lpstr>NumPy – Delete items in an array</vt:lpstr>
      <vt:lpstr>3. "Panel Data", and "Python Data Analysis" – Pandas</vt:lpstr>
      <vt:lpstr>3. "Panel Data", and "Python Data Analysis" - Pandas</vt:lpstr>
      <vt:lpstr>Pandas Library</vt:lpstr>
      <vt:lpstr>Pandas Library</vt:lpstr>
      <vt:lpstr>Series</vt:lpstr>
      <vt:lpstr>Series</vt:lpstr>
      <vt:lpstr>Series</vt:lpstr>
      <vt:lpstr>Series</vt:lpstr>
      <vt:lpstr>Series - Drop</vt:lpstr>
      <vt:lpstr>DataFrame</vt:lpstr>
      <vt:lpstr>DataFrame</vt:lpstr>
      <vt:lpstr>DataFrame</vt:lpstr>
      <vt:lpstr>DataFrame - Update</vt:lpstr>
      <vt:lpstr>DataFrame - Update</vt:lpstr>
      <vt:lpstr>DataFrame - Update</vt:lpstr>
      <vt:lpstr>DataFrame - Drop</vt:lpstr>
      <vt:lpstr>DataFrame</vt:lpstr>
      <vt:lpstr>PowerPoint Presentation</vt:lpstr>
      <vt:lpstr>PowerPoint Presentation</vt:lpstr>
      <vt:lpstr>Self Study Guide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ITP4514 - Lecture 2</dc:title>
  <dc:creator>davidho@vtc.edu.hk</dc:creator>
  <cp:lastModifiedBy>David HO</cp:lastModifiedBy>
  <cp:revision>102</cp:revision>
  <dcterms:created xsi:type="dcterms:W3CDTF">2017-08-01T15:40:51Z</dcterms:created>
  <dcterms:modified xsi:type="dcterms:W3CDTF">2025-09-10T10:59:46Z</dcterms:modified>
</cp:coreProperties>
</file>