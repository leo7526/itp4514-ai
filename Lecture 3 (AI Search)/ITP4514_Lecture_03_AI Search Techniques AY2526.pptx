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3"/>
  </p:notesMasterIdLst>
  <p:sldIdLst>
    <p:sldId id="261" r:id="rId2"/>
    <p:sldId id="263" r:id="rId3"/>
    <p:sldId id="354" r:id="rId4"/>
    <p:sldId id="355" r:id="rId5"/>
    <p:sldId id="356" r:id="rId6"/>
    <p:sldId id="357" r:id="rId7"/>
    <p:sldId id="358" r:id="rId8"/>
    <p:sldId id="268" r:id="rId9"/>
    <p:sldId id="273" r:id="rId10"/>
    <p:sldId id="359" r:id="rId11"/>
    <p:sldId id="274" r:id="rId12"/>
    <p:sldId id="275" r:id="rId13"/>
    <p:sldId id="276" r:id="rId14"/>
    <p:sldId id="338" r:id="rId15"/>
    <p:sldId id="385" r:id="rId16"/>
    <p:sldId id="386" r:id="rId17"/>
    <p:sldId id="279" r:id="rId18"/>
    <p:sldId id="384" r:id="rId19"/>
    <p:sldId id="370" r:id="rId20"/>
    <p:sldId id="300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280" r:id="rId29"/>
    <p:sldId id="281" r:id="rId30"/>
    <p:sldId id="284" r:id="rId31"/>
    <p:sldId id="371" r:id="rId32"/>
    <p:sldId id="301" r:id="rId33"/>
    <p:sldId id="288" r:id="rId34"/>
    <p:sldId id="289" r:id="rId35"/>
    <p:sldId id="368" r:id="rId36"/>
    <p:sldId id="287" r:id="rId37"/>
    <p:sldId id="302" r:id="rId38"/>
    <p:sldId id="290" r:id="rId39"/>
    <p:sldId id="372" r:id="rId40"/>
    <p:sldId id="387" r:id="rId41"/>
    <p:sldId id="388" r:id="rId42"/>
    <p:sldId id="389" r:id="rId43"/>
    <p:sldId id="390" r:id="rId44"/>
    <p:sldId id="369" r:id="rId45"/>
    <p:sldId id="295" r:id="rId46"/>
    <p:sldId id="374" r:id="rId47"/>
    <p:sldId id="391" r:id="rId48"/>
    <p:sldId id="392" r:id="rId49"/>
    <p:sldId id="393" r:id="rId50"/>
    <p:sldId id="394" r:id="rId51"/>
    <p:sldId id="395" r:id="rId52"/>
    <p:sldId id="381" r:id="rId53"/>
    <p:sldId id="349" r:id="rId54"/>
    <p:sldId id="350" r:id="rId55"/>
    <p:sldId id="351" r:id="rId56"/>
    <p:sldId id="382" r:id="rId57"/>
    <p:sldId id="383" r:id="rId58"/>
    <p:sldId id="294" r:id="rId59"/>
    <p:sldId id="270" r:id="rId60"/>
    <p:sldId id="334" r:id="rId61"/>
    <p:sldId id="335" r:id="rId62"/>
  </p:sldIdLst>
  <p:sldSz cx="9144000" cy="5143500" type="screen16x9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49"/>
    <a:srgbClr val="C79E37"/>
    <a:srgbClr val="CC0099"/>
    <a:srgbClr val="E701FF"/>
    <a:srgbClr val="CCFFFF"/>
    <a:srgbClr val="990099"/>
    <a:srgbClr val="FFCCFF"/>
    <a:srgbClr val="6C1A00"/>
    <a:srgbClr val="202E54"/>
    <a:srgbClr val="1D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839" autoAdjust="0"/>
    <p:restoredTop sz="94660"/>
  </p:normalViewPr>
  <p:slideViewPr>
    <p:cSldViewPr>
      <p:cViewPr>
        <p:scale>
          <a:sx n="125" d="100"/>
          <a:sy n="125" d="100"/>
        </p:scale>
        <p:origin x="1218" y="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152705" cy="1527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" userId="4f9b9414-db4c-428a-a76a-046e7c2b65fb" providerId="ADAL" clId="{56CC54D2-16A9-4990-B37A-1A469B07E8AB}"/>
    <pc:docChg chg="custSel delSld modSld">
      <pc:chgData name="David HO" userId="4f9b9414-db4c-428a-a76a-046e7c2b65fb" providerId="ADAL" clId="{56CC54D2-16A9-4990-B37A-1A469B07E8AB}" dt="2024-09-27T10:12:26.549" v="3" actId="478"/>
      <pc:docMkLst>
        <pc:docMk/>
      </pc:docMkLst>
      <pc:sldChg chg="delSp mod">
        <pc:chgData name="David HO" userId="4f9b9414-db4c-428a-a76a-046e7c2b65fb" providerId="ADAL" clId="{56CC54D2-16A9-4990-B37A-1A469B07E8AB}" dt="2024-09-27T10:12:26.549" v="3" actId="478"/>
        <pc:sldMkLst>
          <pc:docMk/>
          <pc:sldMk cId="71064570" sldId="280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3551504716" sldId="292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3900843409" sldId="296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4250412451" sldId="373"/>
        </pc:sldMkLst>
      </pc:sldChg>
      <pc:sldChg chg="delSp mod">
        <pc:chgData name="David HO" userId="4f9b9414-db4c-428a-a76a-046e7c2b65fb" providerId="ADAL" clId="{56CC54D2-16A9-4990-B37A-1A469B07E8AB}" dt="2024-09-27T10:11:13.034" v="1" actId="478"/>
        <pc:sldMkLst>
          <pc:docMk/>
          <pc:sldMk cId="4135968953" sldId="374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2315641530" sldId="375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3654027169" sldId="376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4262144917" sldId="377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1330381064" sldId="378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1759483122" sldId="379"/>
        </pc:sldMkLst>
      </pc:sldChg>
      <pc:sldChg chg="del">
        <pc:chgData name="David HO" userId="4f9b9414-db4c-428a-a76a-046e7c2b65fb" providerId="ADAL" clId="{56CC54D2-16A9-4990-B37A-1A469B07E8AB}" dt="2024-09-27T10:11:33.134" v="2" actId="47"/>
        <pc:sldMkLst>
          <pc:docMk/>
          <pc:sldMk cId="370411112" sldId="380"/>
        </pc:sldMkLst>
      </pc:sldChg>
      <pc:sldChg chg="delSp mod">
        <pc:chgData name="David HO" userId="4f9b9414-db4c-428a-a76a-046e7c2b65fb" providerId="ADAL" clId="{56CC54D2-16A9-4990-B37A-1A469B07E8AB}" dt="2024-09-27T10:11:00.096" v="0" actId="478"/>
        <pc:sldMkLst>
          <pc:docMk/>
          <pc:sldMk cId="47195658" sldId="386"/>
        </pc:sldMkLst>
      </pc:sldChg>
    </pc:docChg>
  </pc:docChgLst>
  <pc:docChgLst>
    <pc:chgData name="David HO" userId="4f9b9414-db4c-428a-a76a-046e7c2b65fb" providerId="ADAL" clId="{38576F5A-8E5F-4C8B-BD9E-0B52862CD7BB}"/>
    <pc:docChg chg="modSld">
      <pc:chgData name="David HO" userId="4f9b9414-db4c-428a-a76a-046e7c2b65fb" providerId="ADAL" clId="{38576F5A-8E5F-4C8B-BD9E-0B52862CD7BB}" dt="2025-09-16T17:47:13.847" v="3" actId="20577"/>
      <pc:docMkLst>
        <pc:docMk/>
      </pc:docMkLst>
      <pc:sldChg chg="modSp mod">
        <pc:chgData name="David HO" userId="4f9b9414-db4c-428a-a76a-046e7c2b65fb" providerId="ADAL" clId="{38576F5A-8E5F-4C8B-BD9E-0B52862CD7BB}" dt="2025-09-16T17:47:13.847" v="3" actId="20577"/>
        <pc:sldMkLst>
          <pc:docMk/>
          <pc:sldMk cId="2819291526" sldId="261"/>
        </pc:sldMkLst>
        <pc:spChg chg="mod">
          <ac:chgData name="David HO" userId="4f9b9414-db4c-428a-a76a-046e7c2b65fb" providerId="ADAL" clId="{38576F5A-8E5F-4C8B-BD9E-0B52862CD7BB}" dt="2025-09-16T17:47:13.847" v="3" actId="20577"/>
          <ac:spMkLst>
            <pc:docMk/>
            <pc:sldMk cId="2819291526" sldId="261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97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09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84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256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8965" y="2113635"/>
            <a:ext cx="8246070" cy="137434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lang="en-US" sz="3600" b="1" i="1" kern="1200" dirty="0">
                <a:solidFill>
                  <a:srgbClr val="66FF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  <a:cs typeface="+mj-cs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C:\Users\johnnyc\AppData\Local\Microsoft\Windows\INetCache\Content.Word\vtc.jpg">
            <a:extLst>
              <a:ext uri="{FF2B5EF4-FFF2-40B4-BE49-F238E27FC236}">
                <a16:creationId xmlns:a16="http://schemas.microsoft.com/office/drawing/2014/main" id="{39BB3CF6-6063-4B98-966B-D61F1A1EBF6E}"/>
              </a:ext>
            </a:extLst>
          </p:cNvPr>
          <p:cNvPicPr/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2742" y1="55182" x2="24516" y2="73109"/>
                        <a14:foregroundMark x1="46935" y1="52661" x2="60645" y2="52661"/>
                        <a14:foregroundMark x1="53710" y1="53221" x2="51452" y2="82913"/>
                        <a14:foregroundMark x1="24355" y1="61905" x2="26613" y2="78151"/>
                        <a14:foregroundMark x1="67742" y1="57703" x2="80806" y2="50140"/>
                        <a14:foregroundMark x1="67258" y1="62185" x2="68226" y2="82633"/>
                        <a14:foregroundMark x1="71290" y1="82353" x2="78548" y2="83193"/>
                        <a14:foregroundMark x1="43871" y1="25490" x2="46935" y2="13725"/>
                        <a14:foregroundMark x1="37258" y1="49020" x2="42258" y2="31092"/>
                        <a14:foregroundMark x1="37903" y1="56863" x2="42581" y2="44818"/>
                        <a14:foregroundMark x1="34516" y1="54622" x2="37258" y2="3249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295" y="-1"/>
            <a:ext cx="2290575" cy="121379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Rectangle 8"/>
          <p:cNvSpPr/>
          <p:nvPr userDrawn="1"/>
        </p:nvSpPr>
        <p:spPr>
          <a:xfrm>
            <a:off x="1517900" y="1282638"/>
            <a:ext cx="7626100" cy="830997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  <a:alpha val="0"/>
                </a:schemeClr>
              </a:gs>
              <a:gs pos="35000">
                <a:schemeClr val="accent4">
                  <a:lumMod val="0"/>
                  <a:lumOff val="100000"/>
                </a:schemeClr>
              </a:gs>
              <a:gs pos="100000">
                <a:schemeClr val="accent4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400" b="1" i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623009" y="1282637"/>
            <a:ext cx="7072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ITP4514 </a:t>
            </a:r>
          </a:p>
          <a:p>
            <a:pPr algn="r"/>
            <a:r>
              <a:rPr lang="en-US" sz="2400" b="1" i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Artificial Intelligence &amp; Machine Learning 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448965" y="3487979"/>
            <a:ext cx="8246070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E701FF"/>
                </a:solidFill>
                <a:effectLst/>
              </a:defRPr>
            </a:lvl1pPr>
          </a:lstStyle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2021-22</a:t>
            </a:r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891995"/>
            <a:ext cx="8246070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413609" cy="725349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51106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317" y="891995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19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27916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19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27916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199" y="4767263"/>
            <a:ext cx="151881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39540" y="47672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20690" y="4767263"/>
            <a:ext cx="136611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ITP4514</a:t>
            </a:r>
            <a:r>
              <a:rPr lang="en-US" sz="1400" baseline="0" dirty="0">
                <a:solidFill>
                  <a:schemeClr val="bg1">
                    <a:lumMod val="65000"/>
                  </a:schemeClr>
                </a:solidFill>
              </a:rPr>
              <a:t> – Artificial Intelligence and Machine Learning</a:t>
            </a:r>
            <a:endParaRPr 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educative.io/edpresso/how-to-implement-a-breadth-first-search-in-python" TargetMode="Externa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algodaily.com/lessons/an-illustrated-guide-to-dijkstras-algorithm/python" TargetMode="Externa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www.javatpoint.com/ai-informed-search-algorithms" TargetMode="Externa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A*_search_algorithm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github.com/ninopereira/A_Star_Python/blob/master/A_star.py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ucative.io/edpresso/how-to-implement-a-breadth-first-search-in-pytho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ninopereira/A_Star_Python/blob/master/A_star.py" TargetMode="External"/><Relationship Id="rId4" Type="http://schemas.openxmlformats.org/officeDocument/2006/relationships/hyperlink" Target="https://gist.github.com/Kautenja/29f13b543ecd210202417dfc9e3282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3 – AI Search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AY 2025-26</a:t>
            </a:r>
          </a:p>
        </p:txBody>
      </p:sp>
    </p:spTree>
    <p:extLst>
      <p:ext uri="{BB962C8B-B14F-4D97-AF65-F5344CB8AC3E}">
        <p14:creationId xmlns:p14="http://schemas.microsoft.com/office/powerpoint/2010/main" val="281929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6260" y="128470"/>
            <a:ext cx="8246070" cy="763526"/>
          </a:xfrm>
        </p:spPr>
        <p:txBody>
          <a:bodyPr>
            <a:normAutofit/>
          </a:bodyPr>
          <a:lstStyle/>
          <a:p>
            <a:r>
              <a:rPr lang="en-US" b="1" i="1" dirty="0">
                <a:latin typeface="Cambria" panose="02040503050406030204" pitchFamily="18" charset="0"/>
                <a:ea typeface="Cambria" panose="02040503050406030204" pitchFamily="18" charset="0"/>
              </a:rPr>
              <a:t>Lesson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1963" indent="-461963">
              <a:buFont typeface="+mj-lt"/>
              <a:buAutoNum type="arabicPeriod"/>
            </a:pPr>
            <a:r>
              <a:rPr lang="en-HK" dirty="0"/>
              <a:t>Graph model</a:t>
            </a:r>
          </a:p>
          <a:p>
            <a:pPr marL="461963" indent="-461963">
              <a:buFont typeface="+mj-lt"/>
              <a:buAutoNum type="arabicPeriod"/>
            </a:pPr>
            <a:r>
              <a:rPr lang="en-HK" dirty="0"/>
              <a:t>Graph Algorithms</a:t>
            </a:r>
          </a:p>
          <a:p>
            <a:pPr marL="862013" lvl="1" indent="-461963">
              <a:buFont typeface="Arial" panose="020B0604020202020204" pitchFamily="34" charset="0"/>
              <a:buChar char="•"/>
            </a:pPr>
            <a:r>
              <a:rPr lang="en-HK" sz="2400" dirty="0"/>
              <a:t>Breadth First Search (BSF)</a:t>
            </a:r>
          </a:p>
          <a:p>
            <a:pPr marL="862013" lvl="1" indent="-461963">
              <a:buFont typeface="Arial" panose="020B0604020202020204" pitchFamily="34" charset="0"/>
              <a:buChar char="•"/>
            </a:pPr>
            <a:r>
              <a:rPr lang="en-HK" sz="2400" dirty="0"/>
              <a:t>Dijkstra’s Algorithm and Uniform Cost Search</a:t>
            </a:r>
          </a:p>
          <a:p>
            <a:pPr marL="862013" lvl="1" indent="-461963">
              <a:buFont typeface="Arial" panose="020B0604020202020204" pitchFamily="34" charset="0"/>
              <a:buChar char="•"/>
            </a:pPr>
            <a:r>
              <a:rPr lang="en-HK" sz="2400" dirty="0"/>
              <a:t>Best First Search</a:t>
            </a:r>
          </a:p>
          <a:p>
            <a:pPr marL="862013" lvl="1" indent="-461963">
              <a:buFont typeface="Arial" panose="020B0604020202020204" pitchFamily="34" charset="0"/>
              <a:buChar char="•"/>
            </a:pPr>
            <a:r>
              <a:rPr lang="en-HK" sz="2400" dirty="0"/>
              <a:t>A* Search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A9674-1263-42EB-84ED-70EA5A68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10EEC0-5178-49B9-93B1-B2219E8C4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1444272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dirty="0"/>
              <a:t>Graph Model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17234" y="1197405"/>
            <a:ext cx="5525095" cy="3511061"/>
          </a:xfrm>
        </p:spPr>
        <p:txBody>
          <a:bodyPr/>
          <a:lstStyle/>
          <a:p>
            <a:r>
              <a:rPr lang="en-HK" dirty="0"/>
              <a:t>Graph model</a:t>
            </a:r>
          </a:p>
          <a:p>
            <a:r>
              <a:rPr lang="en-HK" dirty="0"/>
              <a:t>G = (V, E)</a:t>
            </a:r>
          </a:p>
          <a:p>
            <a:r>
              <a:rPr lang="en-HK" dirty="0"/>
              <a:t>V is a set of vertices (nodes)</a:t>
            </a:r>
          </a:p>
          <a:p>
            <a:r>
              <a:rPr lang="en-HK" dirty="0"/>
              <a:t>E is a set of edges; each edge is a pair of vertices</a:t>
            </a:r>
          </a:p>
          <a:p>
            <a:r>
              <a:rPr lang="en-HK" dirty="0"/>
              <a:t>Example:</a:t>
            </a:r>
          </a:p>
          <a:p>
            <a:r>
              <a:rPr lang="en-HK" dirty="0"/>
              <a:t>V = {1, 2, 3, 4}</a:t>
            </a:r>
          </a:p>
          <a:p>
            <a:r>
              <a:rPr lang="en-HK" dirty="0"/>
              <a:t>E = {(1, 2), (1, 3), (2, 4), (4, 1)}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sp>
        <p:nvSpPr>
          <p:cNvPr id="3" name="Oval 2"/>
          <p:cNvSpPr/>
          <p:nvPr/>
        </p:nvSpPr>
        <p:spPr>
          <a:xfrm>
            <a:off x="601670" y="287716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1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601669" y="409880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3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1976014" y="409880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4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1976014" y="287716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2</a:t>
            </a:r>
            <a:endParaRPr lang="en-US" dirty="0"/>
          </a:p>
        </p:txBody>
      </p:sp>
      <p:cxnSp>
        <p:nvCxnSpPr>
          <p:cNvPr id="13" name="Straight Arrow Connector 12"/>
          <p:cNvCxnSpPr>
            <a:stCxn id="3" idx="4"/>
            <a:endCxn id="10" idx="0"/>
          </p:cNvCxnSpPr>
          <p:nvPr/>
        </p:nvCxnSpPr>
        <p:spPr>
          <a:xfrm flipH="1">
            <a:off x="830727" y="3335275"/>
            <a:ext cx="1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3" idx="6"/>
            <a:endCxn id="12" idx="2"/>
          </p:cNvCxnSpPr>
          <p:nvPr/>
        </p:nvCxnSpPr>
        <p:spPr>
          <a:xfrm>
            <a:off x="1059785" y="3106218"/>
            <a:ext cx="916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2" idx="4"/>
            <a:endCxn id="11" idx="0"/>
          </p:cNvCxnSpPr>
          <p:nvPr/>
        </p:nvCxnSpPr>
        <p:spPr>
          <a:xfrm>
            <a:off x="2205072" y="3335275"/>
            <a:ext cx="0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1" idx="1"/>
            <a:endCxn id="3" idx="5"/>
          </p:cNvCxnSpPr>
          <p:nvPr/>
        </p:nvCxnSpPr>
        <p:spPr>
          <a:xfrm flipH="1" flipV="1">
            <a:off x="992696" y="3268186"/>
            <a:ext cx="1050407" cy="89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1932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sz="2800" dirty="0"/>
              <a:t>Graph Model: Directed or Undirected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/>
              <a:t>Undirected graph</a:t>
            </a:r>
          </a:p>
          <a:p>
            <a:pPr lvl="1"/>
            <a:r>
              <a:rPr lang="en-HK" dirty="0"/>
              <a:t>The edges do not have a specific direction</a:t>
            </a:r>
          </a:p>
          <a:p>
            <a:pPr lvl="2"/>
            <a:r>
              <a:rPr lang="en-HK" dirty="0"/>
              <a:t>That means edges can travel in both ways</a:t>
            </a:r>
          </a:p>
          <a:p>
            <a:pPr lvl="2"/>
            <a:r>
              <a:rPr lang="en-HK" dirty="0"/>
              <a:t>E.g. Facebook friend relationship</a:t>
            </a:r>
          </a:p>
          <a:p>
            <a:endParaRPr lang="en-HK" dirty="0"/>
          </a:p>
          <a:p>
            <a:r>
              <a:rPr lang="en-HK" dirty="0"/>
              <a:t>Directed graph</a:t>
            </a:r>
          </a:p>
          <a:p>
            <a:pPr lvl="1"/>
            <a:r>
              <a:rPr lang="en-HK" dirty="0"/>
              <a:t>Edges have a specific direction</a:t>
            </a:r>
          </a:p>
          <a:p>
            <a:pPr lvl="2"/>
            <a:r>
              <a:rPr lang="en-HK" dirty="0"/>
              <a:t>Each edge can travel in one way</a:t>
            </a:r>
          </a:p>
          <a:p>
            <a:pPr lvl="2"/>
            <a:r>
              <a:rPr lang="en-HK" dirty="0"/>
              <a:t>E.g. Instagram follower relationship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819014" y="165552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819014" y="2648102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3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1823309" y="2648102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4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823310" y="165552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2</a:t>
            </a:r>
            <a:endParaRPr lang="en-US" dirty="0"/>
          </a:p>
        </p:txBody>
      </p:sp>
      <p:cxnSp>
        <p:nvCxnSpPr>
          <p:cNvPr id="23" name="Straight Connector 22"/>
          <p:cNvCxnSpPr>
            <a:stCxn id="7" idx="6"/>
            <a:endCxn id="10" idx="2"/>
          </p:cNvCxnSpPr>
          <p:nvPr/>
        </p:nvCxnSpPr>
        <p:spPr>
          <a:xfrm>
            <a:off x="1277129" y="1884578"/>
            <a:ext cx="5461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7" idx="4"/>
            <a:endCxn id="8" idx="0"/>
          </p:cNvCxnSpPr>
          <p:nvPr/>
        </p:nvCxnSpPr>
        <p:spPr>
          <a:xfrm>
            <a:off x="1048072" y="2113635"/>
            <a:ext cx="0" cy="534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8" idx="7"/>
            <a:endCxn id="10" idx="3"/>
          </p:cNvCxnSpPr>
          <p:nvPr/>
        </p:nvCxnSpPr>
        <p:spPr>
          <a:xfrm flipV="1">
            <a:off x="1210040" y="2046546"/>
            <a:ext cx="680359" cy="6686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0" idx="4"/>
            <a:endCxn id="9" idx="0"/>
          </p:cNvCxnSpPr>
          <p:nvPr/>
        </p:nvCxnSpPr>
        <p:spPr>
          <a:xfrm flipH="1">
            <a:off x="2052367" y="2113635"/>
            <a:ext cx="1" cy="534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00784" y="3346214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1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795276" y="4369701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3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1826095" y="4364879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4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1831543" y="3346214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2</a:t>
            </a:r>
            <a:endParaRPr lang="en-US" dirty="0"/>
          </a:p>
        </p:txBody>
      </p:sp>
      <p:cxnSp>
        <p:nvCxnSpPr>
          <p:cNvPr id="36" name="Straight Arrow Connector 35"/>
          <p:cNvCxnSpPr>
            <a:stCxn id="32" idx="4"/>
            <a:endCxn id="33" idx="0"/>
          </p:cNvCxnSpPr>
          <p:nvPr/>
        </p:nvCxnSpPr>
        <p:spPr>
          <a:xfrm flipH="1">
            <a:off x="1024334" y="3804329"/>
            <a:ext cx="5508" cy="565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6"/>
            <a:endCxn id="35" idx="2"/>
          </p:cNvCxnSpPr>
          <p:nvPr/>
        </p:nvCxnSpPr>
        <p:spPr>
          <a:xfrm>
            <a:off x="1258899" y="3575272"/>
            <a:ext cx="5726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5" idx="4"/>
            <a:endCxn id="34" idx="0"/>
          </p:cNvCxnSpPr>
          <p:nvPr/>
        </p:nvCxnSpPr>
        <p:spPr>
          <a:xfrm flipH="1">
            <a:off x="2055153" y="3804329"/>
            <a:ext cx="5448" cy="560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4" idx="1"/>
            <a:endCxn id="32" idx="5"/>
          </p:cNvCxnSpPr>
          <p:nvPr/>
        </p:nvCxnSpPr>
        <p:spPr>
          <a:xfrm flipH="1" flipV="1">
            <a:off x="1191810" y="3737240"/>
            <a:ext cx="701374" cy="694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1804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Adjacency Matrix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b="1" dirty="0">
                <a:solidFill>
                  <a:srgbClr val="C00000"/>
                </a:solidFill>
              </a:rPr>
              <a:t>Adjacency matrix: </a:t>
            </a:r>
            <a:r>
              <a:rPr lang="en-HK" dirty="0"/>
              <a:t>the data structure to express a graph</a:t>
            </a:r>
          </a:p>
          <a:p>
            <a:r>
              <a:rPr lang="en-HK" dirty="0"/>
              <a:t>It is a |</a:t>
            </a:r>
            <a:r>
              <a:rPr lang="en-HK" b="1" i="1" dirty="0"/>
              <a:t>V</a:t>
            </a:r>
            <a:r>
              <a:rPr lang="en-HK" dirty="0"/>
              <a:t>| X |</a:t>
            </a:r>
            <a:r>
              <a:rPr lang="en-HK" b="1" i="1" dirty="0"/>
              <a:t>V</a:t>
            </a:r>
            <a:r>
              <a:rPr lang="en-HK" dirty="0"/>
              <a:t>| matrix</a:t>
            </a:r>
          </a:p>
          <a:p>
            <a:r>
              <a:rPr lang="en-HK" dirty="0"/>
              <a:t>Example:</a:t>
            </a:r>
          </a:p>
          <a:p>
            <a:endParaRPr lang="en-HK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39540" y="3029865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739539" y="4251505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3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113884" y="4251505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4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113884" y="3029865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2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7" idx="4"/>
            <a:endCxn id="8" idx="0"/>
          </p:cNvCxnSpPr>
          <p:nvPr/>
        </p:nvCxnSpPr>
        <p:spPr>
          <a:xfrm flipH="1">
            <a:off x="2968597" y="3487980"/>
            <a:ext cx="1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7" idx="6"/>
            <a:endCxn id="10" idx="2"/>
          </p:cNvCxnSpPr>
          <p:nvPr/>
        </p:nvCxnSpPr>
        <p:spPr>
          <a:xfrm>
            <a:off x="3197655" y="3258923"/>
            <a:ext cx="916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0" idx="4"/>
            <a:endCxn id="9" idx="0"/>
          </p:cNvCxnSpPr>
          <p:nvPr/>
        </p:nvCxnSpPr>
        <p:spPr>
          <a:xfrm>
            <a:off x="4342942" y="3487980"/>
            <a:ext cx="0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1"/>
            <a:endCxn id="7" idx="5"/>
          </p:cNvCxnSpPr>
          <p:nvPr/>
        </p:nvCxnSpPr>
        <p:spPr>
          <a:xfrm flipH="1" flipV="1">
            <a:off x="3130566" y="3420891"/>
            <a:ext cx="1050407" cy="89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769333"/>
              </p:ext>
            </p:extLst>
          </p:nvPr>
        </p:nvGraphicFramePr>
        <p:xfrm>
          <a:off x="5640935" y="2909065"/>
          <a:ext cx="274869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9738">
                  <a:extLst>
                    <a:ext uri="{9D8B030D-6E8A-4147-A177-3AD203B41FA5}">
                      <a16:colId xmlns:a16="http://schemas.microsoft.com/office/drawing/2014/main" val="3541457247"/>
                    </a:ext>
                  </a:extLst>
                </a:gridCol>
                <a:gridCol w="549738">
                  <a:extLst>
                    <a:ext uri="{9D8B030D-6E8A-4147-A177-3AD203B41FA5}">
                      <a16:colId xmlns:a16="http://schemas.microsoft.com/office/drawing/2014/main" val="1589888498"/>
                    </a:ext>
                  </a:extLst>
                </a:gridCol>
                <a:gridCol w="549738">
                  <a:extLst>
                    <a:ext uri="{9D8B030D-6E8A-4147-A177-3AD203B41FA5}">
                      <a16:colId xmlns:a16="http://schemas.microsoft.com/office/drawing/2014/main" val="226324028"/>
                    </a:ext>
                  </a:extLst>
                </a:gridCol>
                <a:gridCol w="549738">
                  <a:extLst>
                    <a:ext uri="{9D8B030D-6E8A-4147-A177-3AD203B41FA5}">
                      <a16:colId xmlns:a16="http://schemas.microsoft.com/office/drawing/2014/main" val="2749561977"/>
                    </a:ext>
                  </a:extLst>
                </a:gridCol>
                <a:gridCol w="549738">
                  <a:extLst>
                    <a:ext uri="{9D8B030D-6E8A-4147-A177-3AD203B41FA5}">
                      <a16:colId xmlns:a16="http://schemas.microsoft.com/office/drawing/2014/main" val="371483642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85146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1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1</a:t>
                      </a:r>
                      <a:endParaRPr lang="en-US" b="1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47016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1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57438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08664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1</a:t>
                      </a:r>
                      <a:endParaRPr lang="en-US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1" dirty="0"/>
                        <a:t>0</a:t>
                      </a:r>
                      <a:endParaRPr lang="en-US" b="1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869588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CFF9480-415A-8BFA-3DB8-22BE6636D498}"/>
              </a:ext>
            </a:extLst>
          </p:cNvPr>
          <p:cNvCxnSpPr/>
          <p:nvPr/>
        </p:nvCxnSpPr>
        <p:spPr>
          <a:xfrm>
            <a:off x="6251755" y="3640685"/>
            <a:ext cx="1679755" cy="1067781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169FC0-B95D-7A20-FDA4-BFE9A643209F}"/>
              </a:ext>
            </a:extLst>
          </p:cNvPr>
          <p:cNvCxnSpPr/>
          <p:nvPr/>
        </p:nvCxnSpPr>
        <p:spPr>
          <a:xfrm>
            <a:off x="6404459" y="3335851"/>
            <a:ext cx="1679755" cy="1067781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351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HK" dirty="0"/>
              <a:t>Adjacency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sz="2000" b="1" dirty="0">
                <a:solidFill>
                  <a:srgbClr val="C79E37"/>
                </a:solidFill>
              </a:rPr>
              <a:t>Adjacency list: </a:t>
            </a:r>
            <a:r>
              <a:rPr lang="en-HK" sz="2000" dirty="0"/>
              <a:t>a list data structure to represent a graph</a:t>
            </a:r>
          </a:p>
          <a:p>
            <a:endParaRPr lang="en-HK" sz="2000" dirty="0"/>
          </a:p>
          <a:p>
            <a:r>
              <a:rPr lang="en-HK" sz="2000" dirty="0"/>
              <a:t>Vertex u has its adjacency list </a:t>
            </a:r>
            <a:r>
              <a:rPr lang="en-HK" sz="2000" dirty="0" err="1"/>
              <a:t>Adj</a:t>
            </a:r>
            <a:r>
              <a:rPr lang="en-HK" sz="2000" dirty="0"/>
              <a:t>[u], which contains each vertex v being adjacent to u</a:t>
            </a:r>
          </a:p>
          <a:p>
            <a:r>
              <a:rPr lang="en-HK" sz="2000" dirty="0"/>
              <a:t>E.g., </a:t>
            </a:r>
            <a:r>
              <a:rPr lang="en-HK" sz="2000" dirty="0" err="1"/>
              <a:t>Adj</a:t>
            </a:r>
            <a:r>
              <a:rPr lang="en-HK" sz="2000" dirty="0"/>
              <a:t>[4] = {1, 2}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702586" y="3106217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1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702585" y="4327857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3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4076930" y="4327857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4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076930" y="3106217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2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7" idx="4"/>
            <a:endCxn id="8" idx="0"/>
          </p:cNvCxnSpPr>
          <p:nvPr/>
        </p:nvCxnSpPr>
        <p:spPr>
          <a:xfrm flipH="1">
            <a:off x="2931643" y="3564332"/>
            <a:ext cx="1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2"/>
            <a:endCxn id="7" idx="6"/>
          </p:cNvCxnSpPr>
          <p:nvPr/>
        </p:nvCxnSpPr>
        <p:spPr>
          <a:xfrm flipH="1">
            <a:off x="3160701" y="3335275"/>
            <a:ext cx="9162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9" idx="0"/>
            <a:endCxn id="10" idx="4"/>
          </p:cNvCxnSpPr>
          <p:nvPr/>
        </p:nvCxnSpPr>
        <p:spPr>
          <a:xfrm flipV="1">
            <a:off x="4305988" y="3564332"/>
            <a:ext cx="0" cy="763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1"/>
            <a:endCxn id="7" idx="5"/>
          </p:cNvCxnSpPr>
          <p:nvPr/>
        </p:nvCxnSpPr>
        <p:spPr>
          <a:xfrm flipH="1" flipV="1">
            <a:off x="3093612" y="3497243"/>
            <a:ext cx="1050407" cy="8977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3934457"/>
              </p:ext>
            </p:extLst>
          </p:nvPr>
        </p:nvGraphicFramePr>
        <p:xfrm>
          <a:off x="4968676" y="3214574"/>
          <a:ext cx="396423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410">
                  <a:extLst>
                    <a:ext uri="{9D8B030D-6E8A-4147-A177-3AD203B41FA5}">
                      <a16:colId xmlns:a16="http://schemas.microsoft.com/office/drawing/2014/main" val="3501483883"/>
                    </a:ext>
                  </a:extLst>
                </a:gridCol>
                <a:gridCol w="1321410">
                  <a:extLst>
                    <a:ext uri="{9D8B030D-6E8A-4147-A177-3AD203B41FA5}">
                      <a16:colId xmlns:a16="http://schemas.microsoft.com/office/drawing/2014/main" val="190138730"/>
                    </a:ext>
                  </a:extLst>
                </a:gridCol>
                <a:gridCol w="1321410">
                  <a:extLst>
                    <a:ext uri="{9D8B030D-6E8A-4147-A177-3AD203B41FA5}">
                      <a16:colId xmlns:a16="http://schemas.microsoft.com/office/drawing/2014/main" val="1066306702"/>
                    </a:ext>
                  </a:extLst>
                </a:gridCol>
              </a:tblGrid>
              <a:tr h="359131"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Adjacent</a:t>
                      </a:r>
                      <a:r>
                        <a:rPr lang="en-HK" b="0" baseline="0" dirty="0">
                          <a:solidFill>
                            <a:schemeClr val="tx1"/>
                          </a:solidFill>
                        </a:rPr>
                        <a:t> to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715273"/>
                  </a:ext>
                </a:extLst>
              </a:tr>
              <a:tr h="359131"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Adjacent to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520110"/>
                  </a:ext>
                </a:extLst>
              </a:tr>
              <a:tr h="359131"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Adjacent</a:t>
                      </a:r>
                      <a:r>
                        <a:rPr lang="en-HK" b="0" baseline="0" dirty="0">
                          <a:solidFill>
                            <a:schemeClr val="tx1"/>
                          </a:solidFill>
                        </a:rPr>
                        <a:t> to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001016"/>
                  </a:ext>
                </a:extLst>
              </a:tr>
              <a:tr h="359131"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Adjacent</a:t>
                      </a:r>
                      <a:r>
                        <a:rPr lang="en-HK" b="0" baseline="0" dirty="0">
                          <a:solidFill>
                            <a:schemeClr val="tx1"/>
                          </a:solidFill>
                        </a:rPr>
                        <a:t> to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HK" b="0" dirty="0">
                          <a:solidFill>
                            <a:schemeClr val="tx1"/>
                          </a:solidFill>
                        </a:rPr>
                        <a:t>1, 2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31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28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Graph Analytics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Searching</a:t>
            </a:r>
          </a:p>
          <a:p>
            <a:r>
              <a:rPr lang="en-HK" dirty="0"/>
              <a:t>Clustering / Partitioning</a:t>
            </a:r>
          </a:p>
          <a:p>
            <a:r>
              <a:rPr lang="en-HK" dirty="0"/>
              <a:t>Shortest path</a:t>
            </a:r>
          </a:p>
          <a:p>
            <a:pPr lvl="1"/>
            <a:r>
              <a:rPr lang="en-HK" dirty="0"/>
              <a:t>The shortest path between two vertices</a:t>
            </a:r>
          </a:p>
          <a:p>
            <a:r>
              <a:rPr lang="en-HK" dirty="0"/>
              <a:t>Network analysis</a:t>
            </a:r>
          </a:p>
          <a:p>
            <a:r>
              <a:rPr lang="en-HK" dirty="0" err="1"/>
              <a:t>etc</a:t>
            </a:r>
            <a:endParaRPr lang="en-HK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3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b="1" i="1" dirty="0">
                <a:solidFill>
                  <a:srgbClr val="FFFF00"/>
                </a:solidFill>
              </a:rPr>
              <a:t>Graph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3044340" y="5072063"/>
            <a:ext cx="36649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448966" y="1655520"/>
            <a:ext cx="8246070" cy="3206803"/>
          </a:xfrm>
        </p:spPr>
        <p:txBody>
          <a:bodyPr/>
          <a:lstStyle/>
          <a:p>
            <a:r>
              <a:rPr lang="en-HK" b="1" dirty="0">
                <a:solidFill>
                  <a:srgbClr val="FF0000"/>
                </a:solidFill>
              </a:rPr>
              <a:t>Breadth-First Search (layer by layer)</a:t>
            </a:r>
          </a:p>
          <a:p>
            <a:r>
              <a:rPr lang="en-HK" dirty="0" err="1"/>
              <a:t>Dijkstra’s</a:t>
            </a:r>
            <a:r>
              <a:rPr lang="en-HK" dirty="0"/>
              <a:t> Algorithm and Uniform Cost Search</a:t>
            </a:r>
          </a:p>
          <a:p>
            <a:r>
              <a:rPr lang="en-HK" dirty="0"/>
              <a:t>Best-first Search</a:t>
            </a:r>
          </a:p>
          <a:p>
            <a:r>
              <a:rPr lang="en-HK" dirty="0"/>
              <a:t>A* Search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6093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79983"/>
            <a:ext cx="6413609" cy="725349"/>
          </a:xfrm>
        </p:spPr>
        <p:txBody>
          <a:bodyPr>
            <a:noAutofit/>
          </a:bodyPr>
          <a:lstStyle/>
          <a:p>
            <a:pPr algn="ctr"/>
            <a:r>
              <a:rPr lang="en-HK" sz="2400" dirty="0"/>
              <a:t>Uninformed Search &amp; Informed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HK" b="1" i="1" dirty="0">
                <a:solidFill>
                  <a:srgbClr val="CC0099"/>
                </a:solidFill>
              </a:rPr>
              <a:t>Uninformed Search:</a:t>
            </a:r>
          </a:p>
          <a:p>
            <a:pPr lvl="1"/>
            <a:r>
              <a:rPr lang="en-HK" dirty="0"/>
              <a:t>also known as blind search</a:t>
            </a:r>
          </a:p>
          <a:p>
            <a:pPr lvl="1"/>
            <a:r>
              <a:rPr lang="en-HK" dirty="0"/>
              <a:t>does not use any domain-specific </a:t>
            </a:r>
            <a:r>
              <a:rPr lang="en-US" dirty="0"/>
              <a:t>knowledge or information to guide the search</a:t>
            </a:r>
          </a:p>
          <a:p>
            <a:pPr lvl="2"/>
            <a:r>
              <a:rPr lang="en-US" dirty="0"/>
              <a:t>is often used when little or no information is available about the problem domain.</a:t>
            </a:r>
          </a:p>
          <a:p>
            <a:pPr lvl="2"/>
            <a:r>
              <a:rPr lang="en-HK" dirty="0"/>
              <a:t>E.g., Breadth-first search, </a:t>
            </a:r>
            <a:r>
              <a:rPr lang="en-HK" dirty="0" err="1"/>
              <a:t>Dijkstra’s</a:t>
            </a:r>
            <a:r>
              <a:rPr lang="en-HK" dirty="0"/>
              <a:t> Algorithm</a:t>
            </a:r>
            <a:endParaRPr lang="en-US" dirty="0"/>
          </a:p>
          <a:p>
            <a:r>
              <a:rPr lang="en-HK" b="1" i="1" dirty="0">
                <a:solidFill>
                  <a:srgbClr val="CC0099"/>
                </a:solidFill>
              </a:rPr>
              <a:t>Informed Search:</a:t>
            </a:r>
          </a:p>
          <a:p>
            <a:pPr lvl="1"/>
            <a:r>
              <a:rPr lang="en-HK" dirty="0"/>
              <a:t>known as heuristic search</a:t>
            </a:r>
          </a:p>
          <a:p>
            <a:pPr lvl="1"/>
            <a:r>
              <a:rPr lang="en-US" dirty="0"/>
              <a:t>uses domain-specific knowledge or information (usually heuristic functions) to guide the search</a:t>
            </a:r>
          </a:p>
          <a:p>
            <a:pPr lvl="2"/>
            <a:r>
              <a:rPr lang="en-HK" dirty="0"/>
              <a:t>E.g., A* search, greedy search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223292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Breadth-first Search (BFS)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0360" y="1197405"/>
            <a:ext cx="5497380" cy="3511061"/>
          </a:xfrm>
        </p:spPr>
        <p:txBody>
          <a:bodyPr>
            <a:normAutofit/>
          </a:bodyPr>
          <a:lstStyle/>
          <a:p>
            <a:r>
              <a:rPr lang="en-HK" sz="1600" b="1" dirty="0">
                <a:solidFill>
                  <a:schemeClr val="accent1"/>
                </a:solidFill>
              </a:rPr>
              <a:t>Problem: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</a:rPr>
              <a:t>Given a source vertex 𝑠 in a graph 𝐺=(𝑉,𝐸) the objective is to visit all vertices closer to 𝑠 before any farther vertices.</a:t>
            </a:r>
            <a:endParaRPr lang="en-HK" sz="1600" b="1" dirty="0">
              <a:solidFill>
                <a:schemeClr val="accent1"/>
              </a:solidFill>
            </a:endParaRPr>
          </a:p>
          <a:p>
            <a:r>
              <a:rPr lang="en-US" sz="1600" b="1" dirty="0">
                <a:highlight>
                  <a:srgbClr val="FFFF00"/>
                </a:highlight>
              </a:rPr>
              <a:t>Concept</a:t>
            </a:r>
            <a:r>
              <a:rPr lang="en-US" sz="1600" b="1" dirty="0"/>
              <a:t>:</a:t>
            </a:r>
            <a:r>
              <a:rPr lang="en-US" sz="1600" dirty="0"/>
              <a:t> BFS explores the graph layer by layer:</a:t>
            </a:r>
          </a:p>
          <a:p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Layer 0:</a:t>
            </a:r>
            <a:r>
              <a:rPr lang="en-US" sz="1600" dirty="0"/>
              <a:t> Consists of only the starting vertex </a:t>
            </a:r>
            <a:r>
              <a:rPr lang="en-US" sz="1600" i="1" dirty="0"/>
              <a:t>s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Layer 1:</a:t>
            </a:r>
            <a:r>
              <a:rPr lang="en-US" sz="1600" dirty="0"/>
              <a:t> Contains the neighbors of </a:t>
            </a:r>
            <a:r>
              <a:rPr lang="en-US" sz="1600" i="1" dirty="0"/>
              <a:t>s</a:t>
            </a:r>
            <a:r>
              <a:rPr lang="en-US" sz="1600" dirty="0"/>
              <a:t>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Layer 2:</a:t>
            </a:r>
            <a:r>
              <a:rPr lang="en-US" sz="1600" dirty="0"/>
              <a:t> Comprises the neighbors of Layer 1 vertices 	            that do not already belong to Layer 0 or 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Layer 3:</a:t>
            </a:r>
            <a:r>
              <a:rPr lang="en-US" sz="1600" dirty="0"/>
              <a:t> Follows the same process, and so on.</a:t>
            </a:r>
          </a:p>
          <a:p>
            <a:pPr lvl="1"/>
            <a:endParaRPr lang="en-H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026" name="Picture 2" descr="enter image description he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72" y="1655520"/>
            <a:ext cx="2987292" cy="1770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05772" y="3640685"/>
            <a:ext cx="304458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HK" sz="1400" dirty="0"/>
              <a:t>Source:</a:t>
            </a:r>
            <a:endParaRPr lang="en-US" sz="1400" dirty="0"/>
          </a:p>
          <a:p>
            <a:r>
              <a:rPr lang="en-US" sz="1400" dirty="0"/>
              <a:t>https://www.hackerearth.com/practice/algorithms/graphs/breadth-first-search/tutorial/</a:t>
            </a:r>
          </a:p>
        </p:txBody>
      </p:sp>
    </p:spTree>
    <p:extLst>
      <p:ext uri="{BB962C8B-B14F-4D97-AF65-F5344CB8AC3E}">
        <p14:creationId xmlns:p14="http://schemas.microsoft.com/office/powerpoint/2010/main" val="178818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Breadth First Search (BFS)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HK" dirty="0">
                <a:solidFill>
                  <a:srgbClr val="CC0099"/>
                </a:solidFill>
              </a:rPr>
              <a:t>Breadth First Search algorithm</a:t>
            </a:r>
          </a:p>
          <a:p>
            <a:r>
              <a:rPr lang="en-HK" dirty="0"/>
              <a:t>Mark all nodes as not visited</a:t>
            </a:r>
          </a:p>
          <a:p>
            <a:r>
              <a:rPr lang="en-HK" dirty="0"/>
              <a:t>Mark </a:t>
            </a:r>
            <a:r>
              <a:rPr lang="en-HK" dirty="0" err="1"/>
              <a:t>startNode</a:t>
            </a:r>
            <a:r>
              <a:rPr lang="en-HK" dirty="0"/>
              <a:t> visited</a:t>
            </a:r>
          </a:p>
          <a:p>
            <a:r>
              <a:rPr lang="en-HK" dirty="0"/>
              <a:t>Add </a:t>
            </a:r>
            <a:r>
              <a:rPr lang="en-HK" dirty="0" err="1"/>
              <a:t>startNode</a:t>
            </a:r>
            <a:r>
              <a:rPr lang="en-HK" dirty="0"/>
              <a:t> to the queue</a:t>
            </a:r>
          </a:p>
          <a:p>
            <a:r>
              <a:rPr lang="en-HK" dirty="0"/>
              <a:t>While (queue is not empty):</a:t>
            </a:r>
          </a:p>
          <a:p>
            <a:r>
              <a:rPr lang="en-HK" dirty="0"/>
              <a:t>Remove </a:t>
            </a:r>
            <a:r>
              <a:rPr lang="en-HK" dirty="0" err="1"/>
              <a:t>currentNode</a:t>
            </a:r>
            <a:r>
              <a:rPr lang="en-HK" dirty="0"/>
              <a:t> from queue</a:t>
            </a:r>
          </a:p>
          <a:p>
            <a:r>
              <a:rPr lang="en-HK" dirty="0"/>
              <a:t>For each </a:t>
            </a:r>
            <a:r>
              <a:rPr lang="en-HK" dirty="0" err="1"/>
              <a:t>nextNode</a:t>
            </a:r>
            <a:r>
              <a:rPr lang="en-HK" dirty="0"/>
              <a:t> connected to </a:t>
            </a:r>
            <a:r>
              <a:rPr lang="en-HK" dirty="0" err="1"/>
              <a:t>currentNode</a:t>
            </a:r>
            <a:r>
              <a:rPr lang="en-HK" dirty="0"/>
              <a:t>:</a:t>
            </a:r>
          </a:p>
          <a:p>
            <a:pPr lvl="1"/>
            <a:r>
              <a:rPr lang="en-HK" dirty="0"/>
              <a:t>If </a:t>
            </a:r>
            <a:r>
              <a:rPr lang="en-HK" dirty="0" err="1"/>
              <a:t>nextNode</a:t>
            </a:r>
            <a:r>
              <a:rPr lang="en-HK" dirty="0"/>
              <a:t> is not visited, </a:t>
            </a:r>
          </a:p>
          <a:p>
            <a:pPr lvl="1"/>
            <a:r>
              <a:rPr lang="en-HK" dirty="0"/>
              <a:t>Mark </a:t>
            </a:r>
            <a:r>
              <a:rPr lang="en-HK" dirty="0" err="1"/>
              <a:t>nextNode</a:t>
            </a:r>
            <a:r>
              <a:rPr lang="en-HK" dirty="0"/>
              <a:t> visited.</a:t>
            </a:r>
          </a:p>
          <a:p>
            <a:pPr lvl="1"/>
            <a:r>
              <a:rPr lang="en-HK" dirty="0"/>
              <a:t>If </a:t>
            </a:r>
            <a:r>
              <a:rPr lang="en-HK" dirty="0" err="1"/>
              <a:t>nextNode</a:t>
            </a:r>
            <a:r>
              <a:rPr lang="en-HK" dirty="0"/>
              <a:t> is </a:t>
            </a:r>
            <a:r>
              <a:rPr lang="en-HK" dirty="0" err="1"/>
              <a:t>goalNode</a:t>
            </a:r>
            <a:r>
              <a:rPr lang="en-HK" dirty="0"/>
              <a:t>, terminate with success</a:t>
            </a:r>
          </a:p>
          <a:p>
            <a:pPr lvl="1"/>
            <a:r>
              <a:rPr lang="en-HK" dirty="0"/>
              <a:t>Add </a:t>
            </a:r>
            <a:r>
              <a:rPr lang="en-HK" dirty="0" err="1"/>
              <a:t>nextNode</a:t>
            </a:r>
            <a:r>
              <a:rPr lang="en-HK" dirty="0"/>
              <a:t> to queue</a:t>
            </a:r>
          </a:p>
          <a:p>
            <a:r>
              <a:rPr lang="en-HK" dirty="0"/>
              <a:t>After all nodes in queue checked, terminate with failure</a:t>
            </a:r>
          </a:p>
          <a:p>
            <a:r>
              <a:rPr lang="en-HK" dirty="0"/>
              <a:t>If terminate with success, return the path found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3510967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1" y="89695"/>
            <a:ext cx="6413609" cy="725349"/>
          </a:xfrm>
        </p:spPr>
        <p:txBody>
          <a:bodyPr>
            <a:normAutofit/>
          </a:bodyPr>
          <a:lstStyle/>
          <a:p>
            <a:r>
              <a:rPr lang="en-HK" dirty="0"/>
              <a:t>Successful BFS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idx="1"/>
          </p:nvPr>
        </p:nvSpPr>
        <p:spPr>
          <a:xfrm>
            <a:off x="2128721" y="1197405"/>
            <a:ext cx="4428444" cy="3511061"/>
          </a:xfrm>
        </p:spPr>
        <p:txBody>
          <a:bodyPr>
            <a:normAutofit/>
          </a:bodyPr>
          <a:lstStyle/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zh-TW" sz="1425" dirty="0">
                <a:solidFill>
                  <a:srgbClr val="CC0099"/>
                </a:solidFill>
              </a:rPr>
              <a:t>Example: search from B to 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{B}, queue {B}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Removed B from queue, insert all connected nodes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{BC}, queue {C}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Removed C from queue, insert all connected nodes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{BCADE}, queue {ADE}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 A from queue, insert node H (not C, as it had been visited)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{BCADEH}, queue {DEH}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 D from queue, insert F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{BCADEHF}, queue {EHF}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 E, add nothing (no other nodes to go)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{BCADEHF}, queue {HF}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1425" dirty="0"/>
              <a:t>Remove H, add G, and the goal is found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1350" dirty="0"/>
              <a:t>Visited nodes {BCADEHFG}, queue {FG}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zh-TW" sz="1425" dirty="0">
                <a:solidFill>
                  <a:srgbClr val="CC0099"/>
                </a:solidFill>
              </a:rPr>
              <a:t>Path: B -&gt; C -&gt; D -&gt; F -&gt; G</a:t>
            </a:r>
            <a:endParaRPr lang="en-US" altLang="zh-TW" sz="1350" dirty="0">
              <a:solidFill>
                <a:srgbClr val="CC0099"/>
              </a:solidFill>
            </a:endParaRPr>
          </a:p>
          <a:p>
            <a:pPr lvl="1" eaLnBrk="1" hangingPunct="1">
              <a:lnSpc>
                <a:spcPct val="80000"/>
              </a:lnSpc>
            </a:pPr>
            <a:endParaRPr lang="en-US" altLang="zh-TW" sz="135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4460" y="1700830"/>
            <a:ext cx="2730078" cy="2970146"/>
          </a:xfrm>
          <a:prstGeom prst="rect">
            <a:avLst/>
          </a:prstGeom>
        </p:spPr>
      </p:pic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2992705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79983"/>
            <a:ext cx="6413609" cy="725349"/>
          </a:xfrm>
        </p:spPr>
        <p:txBody>
          <a:bodyPr>
            <a:normAutofit/>
          </a:bodyPr>
          <a:lstStyle/>
          <a:p>
            <a:r>
              <a:rPr lang="en-HK" dirty="0"/>
              <a:t>Unsuccessful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350359" y="1340514"/>
            <a:ext cx="5191969" cy="33691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HK" dirty="0">
                <a:solidFill>
                  <a:srgbClr val="CC0099"/>
                </a:solidFill>
              </a:rPr>
              <a:t>Search from B to J</a:t>
            </a:r>
          </a:p>
          <a:p>
            <a:r>
              <a:rPr lang="en-HK" dirty="0"/>
              <a:t>We start from the last iteration in the last example</a:t>
            </a:r>
          </a:p>
          <a:p>
            <a:r>
              <a:rPr lang="en-HK" dirty="0"/>
              <a:t>Visited nodes {BCADEHFG}, queue {FG}</a:t>
            </a:r>
          </a:p>
          <a:p>
            <a:r>
              <a:rPr lang="en-HK" dirty="0"/>
              <a:t>Remove F from queue, no additional node added</a:t>
            </a:r>
          </a:p>
          <a:p>
            <a:r>
              <a:rPr lang="en-HK" dirty="0"/>
              <a:t>Visited nodes {BCADEHFG}, queue {G}</a:t>
            </a:r>
          </a:p>
          <a:p>
            <a:r>
              <a:rPr lang="en-HK" dirty="0"/>
              <a:t>Remove G from queue, no additional node added</a:t>
            </a:r>
          </a:p>
          <a:p>
            <a:r>
              <a:rPr lang="en-HK" dirty="0"/>
              <a:t>Visited nodes {BCADEHFG}, queue {}</a:t>
            </a:r>
          </a:p>
          <a:p>
            <a:r>
              <a:rPr lang="en-HK" dirty="0"/>
              <a:t>The queue is now empty</a:t>
            </a:r>
          </a:p>
          <a:p>
            <a:pPr marL="0" indent="0">
              <a:buNone/>
            </a:pPr>
            <a:r>
              <a:rPr lang="en-HK" dirty="0">
                <a:solidFill>
                  <a:srgbClr val="CC0099"/>
                </a:solidFill>
              </a:rPr>
              <a:t>Therefore, no path exist from B to J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691" y="1672499"/>
            <a:ext cx="2019125" cy="66468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49" y="2334748"/>
            <a:ext cx="2231329" cy="2432515"/>
          </a:xfrm>
          <a:prstGeom prst="rect">
            <a:avLst/>
          </a:prstGeom>
        </p:spPr>
      </p:pic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38912022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BFS (3)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174374" y="1151527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 the BSF algorithm</a:t>
            </a:r>
          </a:p>
        </p:txBody>
      </p:sp>
      <p:sp>
        <p:nvSpPr>
          <p:cNvPr id="11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lab3.ipynb (Q.1)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208" y="1548070"/>
            <a:ext cx="2438740" cy="504895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128720" y="2444189"/>
            <a:ext cx="3206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374" y="2813521"/>
            <a:ext cx="1143160" cy="32389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765" y="2189546"/>
            <a:ext cx="1676634" cy="12479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679098-B173-4060-CD97-57800A9B3086}"/>
              </a:ext>
            </a:extLst>
          </p:cNvPr>
          <p:cNvSpPr txBox="1"/>
          <p:nvPr/>
        </p:nvSpPr>
        <p:spPr>
          <a:xfrm>
            <a:off x="1365195" y="3736851"/>
            <a:ext cx="67190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spcBef>
                <a:spcPts val="0"/>
              </a:spcBef>
              <a:spcAft>
                <a:spcPts val="0"/>
              </a:spcAft>
              <a:tabLst>
                <a:tab pos="571500" algn="l"/>
              </a:tabLst>
            </a:pPr>
            <a:r>
              <a:rPr lang="en-HK" sz="1800" dirty="0">
                <a:effectLst/>
                <a:latin typeface="CG Times"/>
                <a:ea typeface="PMingLiU" panose="02020500000000000000" pitchFamily="18" charset="-120"/>
              </a:rPr>
              <a:t> </a:t>
            </a:r>
            <a:r>
              <a:rPr lang="en-US" sz="1800" u="sng" dirty="0">
                <a:solidFill>
                  <a:srgbClr val="0000FF"/>
                </a:solidFill>
                <a:effectLst/>
                <a:latin typeface="CG Times"/>
                <a:ea typeface="PMingLiU" panose="02020500000000000000" pitchFamily="18" charset="-120"/>
                <a:hlinkClick r:id="rId5"/>
              </a:rPr>
              <a:t>https://www.educative.io/edpresso/how-to-implFement-a-breadth-first-search-in-python</a:t>
            </a:r>
            <a:r>
              <a:rPr lang="en-US" sz="1800" dirty="0">
                <a:effectLst/>
                <a:latin typeface="CG Times"/>
                <a:ea typeface="PMingLiU" panose="02020500000000000000" pitchFamily="18" charset="-120"/>
              </a:rPr>
              <a:t> ]</a:t>
            </a:r>
            <a:endParaRPr lang="en-HK" sz="1200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5413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Example: BFS (3)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1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lab3.ipynb (Q.1)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030" y="1838426"/>
            <a:ext cx="1676634" cy="12479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C64390-57C8-90E6-8A46-6B5CEE183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146" y="1197405"/>
            <a:ext cx="5423314" cy="3454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961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2975-E9BC-B342-56D9-C38CDC1D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AA617-62D5-5277-2DA7-E698BA03E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54855-AF95-225A-6296-B2C9EAE8B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B7E4B-6AB3-8C18-9128-CF1D5591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EB064-41F6-6727-7032-FB414CCDD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043EE3-DF30-FB42-15AA-3269AF2F8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0" y="1117057"/>
            <a:ext cx="7158835" cy="36717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DB34C8B-4C89-E396-B676-59B7FFDD8B99}"/>
              </a:ext>
            </a:extLst>
          </p:cNvPr>
          <p:cNvSpPr/>
          <p:nvPr/>
        </p:nvSpPr>
        <p:spPr>
          <a:xfrm>
            <a:off x="2739540" y="3364673"/>
            <a:ext cx="5039265" cy="1527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7195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128470"/>
            <a:ext cx="6719020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BFS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Simple algorithm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Not efficient</a:t>
            </a:r>
          </a:p>
          <a:p>
            <a:pPr lvl="1"/>
            <a:r>
              <a:rPr lang="en-HK" dirty="0"/>
              <a:t>Requires a lot of memory space</a:t>
            </a:r>
          </a:p>
          <a:p>
            <a:pPr lvl="1"/>
            <a:r>
              <a:rPr lang="en-HK" dirty="0"/>
              <a:t>Not always getting the best path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16279436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D26AC-8A31-A45C-1908-B5A62535B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5A7683-768F-D95D-998F-14C88EB24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1425" y="1197405"/>
            <a:ext cx="6413500" cy="3405016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CE084-79C8-1556-AC87-A9110E05B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DE996-6E75-1CD8-9065-09801985F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B83CF-A944-98C0-5767-A4EB2DA17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596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Graph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Breadth-First Search</a:t>
            </a:r>
          </a:p>
          <a:p>
            <a:r>
              <a:rPr lang="en-HK" b="1" dirty="0">
                <a:solidFill>
                  <a:srgbClr val="FF0000"/>
                </a:solidFill>
              </a:rPr>
              <a:t>Dijkstra’s Algorithm and Uniform Cost Search </a:t>
            </a:r>
            <a:r>
              <a:rPr lang="en-US" dirty="0">
                <a:solidFill>
                  <a:srgbClr val="FF0000"/>
                </a:solidFill>
              </a:rPr>
              <a:t>shortest path between nodes with different weights/costs.</a:t>
            </a:r>
            <a:endParaRPr lang="en-HK" b="1" dirty="0">
              <a:solidFill>
                <a:srgbClr val="FF0000"/>
              </a:solidFill>
            </a:endParaRPr>
          </a:p>
          <a:p>
            <a:r>
              <a:rPr lang="en-HK" dirty="0"/>
              <a:t>Best-first Search</a:t>
            </a:r>
          </a:p>
          <a:p>
            <a:r>
              <a:rPr lang="en-HK" dirty="0"/>
              <a:t>A* Search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859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Dijkstra’s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>
                <a:solidFill>
                  <a:srgbClr val="CC0099"/>
                </a:solidFill>
              </a:rPr>
              <a:t>Dijkstra's algorithm </a:t>
            </a:r>
            <a:r>
              <a:rPr lang="en-HK" dirty="0"/>
              <a:t>finds the shortest path by picking the unvisited node with the lowest distance/ cost from start, calculates the distance through it to each unvisited neighbour, and updates the neighbour's distance if smaller.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1726547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 err="1"/>
              <a:t>Dijkstra’s</a:t>
            </a:r>
            <a:r>
              <a:rPr lang="en-HK" dirty="0"/>
              <a:t> Algorithm Example (1)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Suppose we have the following undirected graph. The initial node is A; the goal node is 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044950" y="2189986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044949" y="362241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C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106465" y="3622410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5106466" y="2189986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B</a:t>
            </a:r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6862575" y="2952935"/>
            <a:ext cx="458115" cy="45811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E</a:t>
            </a:r>
            <a:endParaRPr lang="en-US" dirty="0"/>
          </a:p>
        </p:txBody>
      </p:sp>
      <p:cxnSp>
        <p:nvCxnSpPr>
          <p:cNvPr id="17" name="Straight Connector 16"/>
          <p:cNvCxnSpPr>
            <a:stCxn id="7" idx="6"/>
            <a:endCxn id="10" idx="2"/>
          </p:cNvCxnSpPr>
          <p:nvPr/>
        </p:nvCxnSpPr>
        <p:spPr>
          <a:xfrm>
            <a:off x="3503065" y="2419044"/>
            <a:ext cx="1603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stCxn id="7" idx="5"/>
            <a:endCxn id="9" idx="1"/>
          </p:cNvCxnSpPr>
          <p:nvPr/>
        </p:nvCxnSpPr>
        <p:spPr>
          <a:xfrm>
            <a:off x="3435976" y="2581012"/>
            <a:ext cx="1737578" cy="1108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7" idx="4"/>
            <a:endCxn id="8" idx="0"/>
          </p:cNvCxnSpPr>
          <p:nvPr/>
        </p:nvCxnSpPr>
        <p:spPr>
          <a:xfrm flipH="1">
            <a:off x="3274007" y="2648101"/>
            <a:ext cx="1" cy="974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stCxn id="8" idx="6"/>
            <a:endCxn id="9" idx="2"/>
          </p:cNvCxnSpPr>
          <p:nvPr/>
        </p:nvCxnSpPr>
        <p:spPr>
          <a:xfrm>
            <a:off x="3503064" y="3851468"/>
            <a:ext cx="1603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0" idx="6"/>
            <a:endCxn id="15" idx="1"/>
          </p:cNvCxnSpPr>
          <p:nvPr/>
        </p:nvCxnSpPr>
        <p:spPr>
          <a:xfrm>
            <a:off x="5564581" y="2419044"/>
            <a:ext cx="1365083" cy="600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stCxn id="9" idx="0"/>
            <a:endCxn id="10" idx="4"/>
          </p:cNvCxnSpPr>
          <p:nvPr/>
        </p:nvCxnSpPr>
        <p:spPr>
          <a:xfrm flipV="1">
            <a:off x="5335523" y="2648101"/>
            <a:ext cx="1" cy="974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9" idx="6"/>
            <a:endCxn id="15" idx="3"/>
          </p:cNvCxnSpPr>
          <p:nvPr/>
        </p:nvCxnSpPr>
        <p:spPr>
          <a:xfrm flipV="1">
            <a:off x="5564580" y="3343961"/>
            <a:ext cx="1365084" cy="507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147428" y="2028018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7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42372" y="3072496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4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355087" y="2968072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2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892247" y="3005407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2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133346" y="3512912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1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280668" y="2411735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2</a:t>
            </a:r>
            <a:endParaRPr lang="en-US" sz="1600" dirty="0">
              <a:latin typeface="Bell MT" panose="02020503060305020303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347756" y="3597714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6</a:t>
            </a:r>
            <a:endParaRPr lang="en-US" sz="1600" dirty="0">
              <a:latin typeface="Bell MT" panose="02020503060305020303" pitchFamily="18" charset="0"/>
            </a:endParaRPr>
          </a:p>
        </p:txBody>
      </p:sp>
      <p:cxnSp>
        <p:nvCxnSpPr>
          <p:cNvPr id="38" name="Straight Connector 37"/>
          <p:cNvCxnSpPr>
            <a:cxnSpLocks/>
            <a:stCxn id="8" idx="7"/>
            <a:endCxn id="10" idx="3"/>
          </p:cNvCxnSpPr>
          <p:nvPr/>
        </p:nvCxnSpPr>
        <p:spPr>
          <a:xfrm flipV="1">
            <a:off x="3435975" y="2581012"/>
            <a:ext cx="1737580" cy="11084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698579" y="3137349"/>
            <a:ext cx="314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sz="1600" dirty="0">
                <a:latin typeface="Bell MT" panose="02020503060305020303" pitchFamily="18" charset="0"/>
              </a:rPr>
              <a:t>2</a:t>
            </a:r>
            <a:endParaRPr lang="en-US" sz="16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4414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 err="1"/>
              <a:t>Dijkstra’s</a:t>
            </a:r>
            <a:r>
              <a:rPr lang="en-HK" dirty="0"/>
              <a:t> Algorithm Example (2)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Initialization</a:t>
            </a:r>
            <a:r>
              <a:rPr lang="en-US" sz="28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Start at node AAA, set the distance to AAA as 0.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Set the distance to all other nodes as ∞\</a:t>
            </a:r>
            <a:r>
              <a:rPr lang="en-US" sz="2000" dirty="0" err="1"/>
              <a:t>infty</a:t>
            </a:r>
            <a:r>
              <a:rPr lang="en-US" sz="2000" dirty="0"/>
              <a:t>∞ (infinity).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Current Node: A</a:t>
            </a:r>
          </a:p>
          <a:p>
            <a:endParaRPr lang="en-HK" sz="20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48" name="Table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361378"/>
              </p:ext>
            </p:extLst>
          </p:nvPr>
        </p:nvGraphicFramePr>
        <p:xfrm>
          <a:off x="3317187" y="3029865"/>
          <a:ext cx="5225142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</a:tbl>
          </a:graphicData>
        </a:graphic>
      </p:graphicFrame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50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 err="1"/>
              <a:t>Dijkstra’s</a:t>
            </a:r>
            <a:r>
              <a:rPr lang="en-HK" dirty="0"/>
              <a:t> Algorithm Example 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Explore Neighbors of A</a:t>
            </a:r>
            <a:r>
              <a:rPr lang="en-US" sz="2000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B: Distance = 0 + 7 = 7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D: Distance = 0 + 4 = 4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C: Distance = 0 + 2 = 2</a:t>
            </a:r>
          </a:p>
          <a:p>
            <a:pPr lvl="1"/>
            <a:r>
              <a:rPr lang="en-US" sz="1800" dirty="0"/>
              <a:t>Updated table:</a:t>
            </a:r>
          </a:p>
          <a:p>
            <a:pPr lvl="2"/>
            <a:endParaRPr lang="en-HK" sz="1600" dirty="0"/>
          </a:p>
          <a:p>
            <a:pPr lvl="1"/>
            <a:endParaRPr lang="en-HK" dirty="0"/>
          </a:p>
          <a:p>
            <a:pPr lvl="1"/>
            <a:endParaRPr lang="en-HK" dirty="0"/>
          </a:p>
          <a:p>
            <a:pPr lvl="1"/>
            <a:r>
              <a:rPr lang="en-US" sz="1600" dirty="0"/>
              <a:t>Move to the unvisited node with the smallest distance: 𝐶C (distance = 2)</a:t>
            </a:r>
            <a:endParaRPr lang="en-HK" sz="1600" dirty="0"/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1109495"/>
              </p:ext>
            </p:extLst>
          </p:nvPr>
        </p:nvGraphicFramePr>
        <p:xfrm>
          <a:off x="2945102" y="2952935"/>
          <a:ext cx="5225142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64783"/>
                  </a:ext>
                </a:extLst>
              </a:tr>
            </a:tbl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49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 err="1"/>
              <a:t>Dijkstra’s</a:t>
            </a:r>
            <a:r>
              <a:rPr lang="en-HK" dirty="0"/>
              <a:t> Algorithm Example (4)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871725" cy="3511061"/>
          </a:xfrm>
        </p:spPr>
        <p:txBody>
          <a:bodyPr>
            <a:normAutofit/>
          </a:bodyPr>
          <a:lstStyle/>
          <a:p>
            <a:r>
              <a:rPr lang="en-US" b="1" dirty="0"/>
              <a:t>Explore Neighbors of C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D: Distance = 2 + 1 = 3 (better than ∞)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/>
              <a:t>B: Distance = 2 + 2 = 4 (better than 7)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Move to the unvisited node with the smallest distance: </a:t>
            </a:r>
            <a:r>
              <a:rPr lang="en-US" sz="1600" b="1" dirty="0"/>
              <a:t>D (distance = 3)</a:t>
            </a:r>
            <a:endParaRPr lang="en-US" sz="1600" dirty="0"/>
          </a:p>
          <a:p>
            <a:pPr marL="457200" lvl="1" indent="0">
              <a:buNone/>
            </a:pPr>
            <a:endParaRPr lang="en-HK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25232"/>
              </p:ext>
            </p:extLst>
          </p:nvPr>
        </p:nvGraphicFramePr>
        <p:xfrm>
          <a:off x="3197655" y="2557685"/>
          <a:ext cx="5225142" cy="147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6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93610"/>
                  </a:ext>
                </a:extLst>
              </a:tr>
            </a:tbl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251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HK" dirty="0" err="1"/>
              <a:t>Dijkstra’s</a:t>
            </a:r>
            <a:r>
              <a:rPr lang="en-HK" dirty="0"/>
              <a:t> Algorithm Example (5)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Explore Neighbors of D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E: Distance = 3 + 6 = 9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612112"/>
              </p:ext>
            </p:extLst>
          </p:nvPr>
        </p:nvGraphicFramePr>
        <p:xfrm>
          <a:off x="2945102" y="2200765"/>
          <a:ext cx="522514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6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93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4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441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 err="1"/>
              <a:t>Dijkstra’s</a:t>
            </a:r>
            <a:r>
              <a:rPr lang="en-HK" dirty="0"/>
              <a:t> Algorithm Example (6)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Explore Neighbors of B</a:t>
            </a:r>
            <a:r>
              <a:rPr lang="en-US" dirty="0"/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E: Distance = 4 + 2 = 6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FBB8ACC-D711-CAC7-383A-DC1664FFE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155248"/>
              </p:ext>
            </p:extLst>
          </p:nvPr>
        </p:nvGraphicFramePr>
        <p:xfrm>
          <a:off x="2778603" y="2192585"/>
          <a:ext cx="5225142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6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93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41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9207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HK" dirty="0" err="1"/>
              <a:t>Dijkstra’s</a:t>
            </a:r>
            <a:r>
              <a:rPr lang="en-HK" dirty="0"/>
              <a:t> Algorithm Example (7)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413609" cy="3664920"/>
          </a:xfrm>
        </p:spPr>
        <p:txBody>
          <a:bodyPr>
            <a:normAutofit fontScale="85000" lnSpcReduction="10000"/>
          </a:bodyPr>
          <a:lstStyle/>
          <a:p>
            <a:r>
              <a:rPr lang="en-HK" sz="2100" dirty="0"/>
              <a:t>Update the path cost from B </a:t>
            </a:r>
            <a:r>
              <a:rPr lang="en-HK" sz="2100" dirty="0">
                <a:sym typeface="Wingdings" panose="05000000000000000000" pitchFamily="2" charset="2"/>
              </a:rPr>
              <a:t> E</a:t>
            </a:r>
          </a:p>
          <a:p>
            <a:r>
              <a:rPr lang="en-HK" sz="2100" dirty="0">
                <a:sym typeface="Wingdings" panose="05000000000000000000" pitchFamily="2" charset="2"/>
              </a:rPr>
              <a:t>Finally shortest path found</a:t>
            </a:r>
          </a:p>
          <a:p>
            <a:r>
              <a:rPr lang="en-HK" sz="2100" b="1" dirty="0">
                <a:sym typeface="Wingdings" panose="05000000000000000000" pitchFamily="2" charset="2"/>
              </a:rPr>
              <a:t>A  C  B  E, with path cost = 6</a:t>
            </a: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endParaRPr lang="en-HK" sz="1800" b="1" dirty="0">
              <a:sym typeface="Wingdings" panose="05000000000000000000" pitchFamily="2" charset="2"/>
            </a:endParaRPr>
          </a:p>
          <a:p>
            <a:r>
              <a:rPr lang="en-US" sz="1400" b="1" dirty="0">
                <a:hlinkClick r:id="rId2"/>
              </a:rPr>
              <a:t>https://algodaily.com/lessons/an-illustrated-guide-to-dijkstras-algorithm/python</a:t>
            </a:r>
            <a:endParaRPr lang="en-US" sz="1400" b="1" dirty="0"/>
          </a:p>
          <a:p>
            <a:endParaRPr lang="en-US" sz="1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27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584468"/>
              </p:ext>
            </p:extLst>
          </p:nvPr>
        </p:nvGraphicFramePr>
        <p:xfrm>
          <a:off x="2713078" y="2113635"/>
          <a:ext cx="5225142" cy="221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415292646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6856087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12854624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9592555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410704289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4191621440"/>
                    </a:ext>
                  </a:extLst>
                </a:gridCol>
              </a:tblGrid>
              <a:tr h="3555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0660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8372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7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164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4693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441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HK" dirty="0"/>
                        <a:t>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dirty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4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HK" b="0" dirty="0"/>
                        <a:t>3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b="1" dirty="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8707741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34067"/>
            <a:ext cx="2573017" cy="140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3367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19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Uniform Cost Search (Dijkstra’s algorithm for large graph)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HK" dirty="0">
                <a:solidFill>
                  <a:srgbClr val="CC0099"/>
                </a:solidFill>
              </a:rPr>
              <a:t>Uniform cost search </a:t>
            </a:r>
            <a:r>
              <a:rPr lang="en-HK" dirty="0"/>
              <a:t>is a variant of Dijkstra’s algorithm</a:t>
            </a:r>
          </a:p>
          <a:p>
            <a:r>
              <a:rPr lang="en-HK" dirty="0"/>
              <a:t>While Dijkstra's algorithm searches for </a:t>
            </a:r>
            <a:r>
              <a:rPr lang="en-HK" dirty="0">
                <a:solidFill>
                  <a:srgbClr val="990099"/>
                </a:solidFill>
              </a:rPr>
              <a:t>shortest paths from root to every other node </a:t>
            </a:r>
            <a:r>
              <a:rPr lang="en-HK" dirty="0"/>
              <a:t>in a graph, uniform cost searches for shortest paths in terms of </a:t>
            </a:r>
            <a:r>
              <a:rPr lang="en-HK" dirty="0">
                <a:solidFill>
                  <a:srgbClr val="990099"/>
                </a:solidFill>
              </a:rPr>
              <a:t>cost</a:t>
            </a:r>
            <a:r>
              <a:rPr lang="en-HK" dirty="0"/>
              <a:t> from root </a:t>
            </a:r>
            <a:r>
              <a:rPr lang="en-HK" dirty="0">
                <a:solidFill>
                  <a:srgbClr val="990099"/>
                </a:solidFill>
              </a:rPr>
              <a:t>to goal</a:t>
            </a:r>
          </a:p>
          <a:p>
            <a:r>
              <a:rPr lang="en-HK" dirty="0"/>
              <a:t>Uniform cost search is used in </a:t>
            </a:r>
            <a:r>
              <a:rPr lang="en-HK" dirty="0">
                <a:solidFill>
                  <a:srgbClr val="CC0099"/>
                </a:solidFill>
              </a:rPr>
              <a:t>large or infinite graphs</a:t>
            </a:r>
          </a:p>
          <a:p>
            <a:r>
              <a:rPr lang="en-HK" dirty="0"/>
              <a:t>Uniform cost search is commonly used in </a:t>
            </a:r>
            <a:r>
              <a:rPr lang="en-HK" dirty="0">
                <a:solidFill>
                  <a:srgbClr val="CC0099"/>
                </a:solidFill>
              </a:rPr>
              <a:t>artificial intelligence</a:t>
            </a:r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710645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HK" dirty="0"/>
              <a:t>Uniform Cost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HK" dirty="0">
                <a:solidFill>
                  <a:srgbClr val="CC0099"/>
                </a:solidFill>
              </a:rPr>
              <a:t>Uniform cost search algorithm</a:t>
            </a:r>
          </a:p>
          <a:p>
            <a:r>
              <a:rPr lang="en-HK" dirty="0"/>
              <a:t>Make use of priority queue</a:t>
            </a:r>
          </a:p>
          <a:p>
            <a:r>
              <a:rPr lang="en-HK" dirty="0"/>
              <a:t>Starting from starting node, add all adjacent nodes to the priority queue, remove one with least cost</a:t>
            </a:r>
          </a:p>
          <a:p>
            <a:r>
              <a:rPr lang="en-HK" dirty="0"/>
              <a:t>repeat for the node with the least cost</a:t>
            </a:r>
          </a:p>
          <a:p>
            <a:r>
              <a:rPr lang="en-HK" dirty="0"/>
              <a:t>When the goal is reached, continue (as there may be alternative paths with lower costs)</a:t>
            </a:r>
          </a:p>
          <a:p>
            <a:r>
              <a:rPr lang="en-HK" dirty="0"/>
              <a:t>Stop when the goal node is removed</a:t>
            </a:r>
          </a:p>
          <a:p>
            <a:r>
              <a:rPr lang="en-HK" dirty="0"/>
              <a:t>Obtain the optimal path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25344770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89695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Uniform Cost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Optimal path obtained (with minimum cost)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Not efficient, often need more steps to find a path</a:t>
            </a:r>
          </a:p>
          <a:p>
            <a:pPr lvl="1"/>
            <a:r>
              <a:rPr lang="en-HK" dirty="0"/>
              <a:t>May stick to an infinite loop if there is a path with infinite zero cost sequence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7926341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Graph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Breadth-First Search</a:t>
            </a:r>
          </a:p>
          <a:p>
            <a:r>
              <a:rPr lang="en-HK" dirty="0" err="1"/>
              <a:t>Dijkstra’s</a:t>
            </a:r>
            <a:r>
              <a:rPr lang="en-HK" dirty="0"/>
              <a:t> Algorithm and Uniform Cost Search</a:t>
            </a:r>
          </a:p>
          <a:p>
            <a:r>
              <a:rPr lang="en-HK" b="1" dirty="0">
                <a:solidFill>
                  <a:srgbClr val="FF0000"/>
                </a:solidFill>
              </a:rPr>
              <a:t>Best-first Search (</a:t>
            </a:r>
            <a:r>
              <a:rPr lang="en-US" dirty="0">
                <a:solidFill>
                  <a:srgbClr val="FF0000"/>
                </a:solidFill>
              </a:rPr>
              <a:t>heuristic function min h(n) )</a:t>
            </a:r>
            <a:endParaRPr lang="en-HK" b="1" dirty="0">
              <a:solidFill>
                <a:srgbClr val="FF0000"/>
              </a:solidFill>
            </a:endParaRPr>
          </a:p>
          <a:p>
            <a:r>
              <a:rPr lang="en-HK" dirty="0"/>
              <a:t>A* Search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67B4A-3FE9-CBD4-FED8-21C5493BA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115" y="2499796"/>
            <a:ext cx="3196083" cy="236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7299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Best First search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>
                <a:solidFill>
                  <a:srgbClr val="C79E37"/>
                </a:solidFill>
              </a:rPr>
              <a:t>Best first search (Greedy algorithm) </a:t>
            </a:r>
            <a:r>
              <a:rPr lang="en-US" dirty="0"/>
              <a:t>is a search algorithm which explores a graph by expanding the most promising node chosen according to a specified rule.</a:t>
            </a:r>
          </a:p>
          <a:p>
            <a:endParaRPr lang="en-US" dirty="0"/>
          </a:p>
          <a:p>
            <a:r>
              <a:rPr lang="en-US" dirty="0"/>
              <a:t>In Best first search, node selection on every step is based on minimizing a heuristic function h(n)</a:t>
            </a:r>
          </a:p>
          <a:p>
            <a:r>
              <a:rPr lang="en-US" dirty="0"/>
              <a:t>The heuristic function h(n) is a </a:t>
            </a:r>
            <a:r>
              <a:rPr lang="en-US" b="1" i="1" dirty="0">
                <a:solidFill>
                  <a:srgbClr val="CC0099"/>
                </a:solidFill>
              </a:rPr>
              <a:t>cost estimate</a:t>
            </a:r>
            <a:r>
              <a:rPr lang="en-US" dirty="0"/>
              <a:t>. E.g. it may represent the physical distance/  time/ expenditure required, or the energy consumed when a monster in a game move from the node to the goal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2143018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19" y="281175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Best First search (2)</a:t>
            </a:r>
            <a:endParaRPr lang="en-HK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28720" y="1250743"/>
            <a:ext cx="6413609" cy="3511061"/>
          </a:xfrm>
        </p:spPr>
        <p:txBody>
          <a:bodyPr>
            <a:normAutofit fontScale="92500"/>
          </a:bodyPr>
          <a:lstStyle/>
          <a:p>
            <a:r>
              <a:rPr lang="en-HK" dirty="0"/>
              <a:t>Best First Search uses distance to goal not distance from start</a:t>
            </a:r>
          </a:p>
          <a:p>
            <a:r>
              <a:rPr lang="en-HK" dirty="0"/>
              <a:t>Best first search uses the estimated distance to goal instead of the distance from the starting point in searching</a:t>
            </a:r>
          </a:p>
          <a:p>
            <a:r>
              <a:rPr lang="en-HK" dirty="0"/>
              <a:t>Obstacles can cause a best first search to double back. It does not always return the best path</a:t>
            </a:r>
          </a:p>
          <a:p>
            <a:r>
              <a:rPr lang="en-HK" dirty="0"/>
              <a:t>In games, it is suitable for hand-held game with limited processing power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40432681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Autofit/>
          </a:bodyPr>
          <a:lstStyle/>
          <a:p>
            <a:pPr algn="ctr"/>
            <a:r>
              <a:rPr lang="en-HK" sz="2800" dirty="0"/>
              <a:t>Problem (1)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07445" y="2877160"/>
            <a:ext cx="244505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Source:</a:t>
            </a:r>
          </a:p>
          <a:p>
            <a:r>
              <a:rPr lang="en-US" dirty="0">
                <a:hlinkClick r:id="rId2"/>
              </a:rPr>
              <a:t>https://www.javatpoint.com/ai-informed-search-algorithms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586835" y="1082332"/>
            <a:ext cx="5570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Problem: Find a good path from S to G.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7B219-C587-3CD8-8CAA-828472C71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08"/>
          <a:stretch/>
        </p:blipFill>
        <p:spPr>
          <a:xfrm>
            <a:off x="5793640" y="1715453"/>
            <a:ext cx="2608406" cy="292176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D0FF85-D6DE-99B6-EA12-0514F3B549B6}"/>
              </a:ext>
            </a:extLst>
          </p:cNvPr>
          <p:cNvSpPr txBox="1"/>
          <p:nvPr/>
        </p:nvSpPr>
        <p:spPr>
          <a:xfrm>
            <a:off x="1365195" y="1894997"/>
            <a:ext cx="458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Uniform cost search, g(n) refers to the actual cost from the start node S to a given node n.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5573077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Autofit/>
          </a:bodyPr>
          <a:lstStyle/>
          <a:p>
            <a:pPr algn="ctr"/>
            <a:r>
              <a:rPr lang="en-HK" sz="2800" dirty="0"/>
              <a:t>Problem (2)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281425" y="1197405"/>
            <a:ext cx="52647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the follow heuristic cost information: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230" y="1655520"/>
            <a:ext cx="1457528" cy="267689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F677680-58E0-CAB5-CF16-57D69785B534}"/>
              </a:ext>
            </a:extLst>
          </p:cNvPr>
          <p:cNvSpPr txBox="1"/>
          <p:nvPr/>
        </p:nvSpPr>
        <p:spPr>
          <a:xfrm>
            <a:off x="754797" y="2520668"/>
            <a:ext cx="45878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Greedy best-first search, the algorithm only considers the heuristic cost, denoted as h(n)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35193874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/>
          </a:bodyPr>
          <a:lstStyle/>
          <a:p>
            <a:pPr algn="ctr"/>
            <a:r>
              <a:rPr lang="en-HK" dirty="0"/>
              <a:t>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HK" dirty="0">
                <a:solidFill>
                  <a:srgbClr val="990099"/>
                </a:solidFill>
              </a:rPr>
              <a:t>Best first search algorithm:</a:t>
            </a:r>
          </a:p>
          <a:p>
            <a:r>
              <a:rPr lang="en-HK" dirty="0"/>
              <a:t>Make use of priority queue</a:t>
            </a:r>
          </a:p>
          <a:p>
            <a:r>
              <a:rPr lang="en-HK" dirty="0"/>
              <a:t>Starting from starting node, add all adjacent nodes to the priority queue, calculate the distance from goal, remove one with least value for the heuristic function</a:t>
            </a:r>
          </a:p>
          <a:p>
            <a:r>
              <a:rPr lang="en-HK" dirty="0"/>
              <a:t>repeat for the node just removed</a:t>
            </a:r>
          </a:p>
          <a:p>
            <a:r>
              <a:rPr lang="en-HK" dirty="0"/>
              <a:t>Stop when the goal is reached</a:t>
            </a:r>
          </a:p>
          <a:p>
            <a:r>
              <a:rPr lang="en-HK" dirty="0"/>
              <a:t>Obtain the path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3790333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37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260" y="1743570"/>
            <a:ext cx="3832365" cy="2271031"/>
          </a:xfrm>
          <a:prstGeom prst="rect">
            <a:avLst/>
          </a:prstGeom>
        </p:spPr>
      </p:pic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935" y="1350110"/>
            <a:ext cx="3362794" cy="3057952"/>
          </a:xfrm>
          <a:prstGeom prst="rect">
            <a:avLst/>
          </a:prstGeom>
        </p:spPr>
      </p:pic>
      <p:sp>
        <p:nvSpPr>
          <p:cNvPr id="10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Autofit/>
          </a:bodyPr>
          <a:lstStyle/>
          <a:p>
            <a:pPr algn="ctr"/>
            <a:r>
              <a:rPr lang="en-HK" sz="2800" dirty="0"/>
              <a:t>Best-First Search Complete Solution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590" y="1507479"/>
            <a:ext cx="1493635" cy="274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3636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Advantages and Disadvantages of Best First Search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HK" dirty="0"/>
              <a:t>Advantages</a:t>
            </a:r>
          </a:p>
          <a:p>
            <a:pPr lvl="1"/>
            <a:r>
              <a:rPr lang="en-HK" dirty="0"/>
              <a:t>Very efficient, fast exploration of nodes to reach the goal</a:t>
            </a:r>
          </a:p>
          <a:p>
            <a:pPr lvl="1"/>
            <a:r>
              <a:rPr lang="en-HK" dirty="0"/>
              <a:t>Having low memory requirements</a:t>
            </a:r>
          </a:p>
          <a:p>
            <a:r>
              <a:rPr lang="en-HK" dirty="0"/>
              <a:t>Disadvantages</a:t>
            </a:r>
          </a:p>
          <a:p>
            <a:pPr lvl="1"/>
            <a:r>
              <a:rPr lang="en-HK" dirty="0"/>
              <a:t>Does not guarantee the best path, but often return a best path under certain conditions, e.g. in games with convex obstacles only</a:t>
            </a:r>
          </a:p>
          <a:p>
            <a:pPr lvl="1"/>
            <a:r>
              <a:rPr lang="en-HK" dirty="0"/>
              <a:t>Likely to have inaccurate results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38</a:t>
            </a:fld>
            <a:endParaRPr 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23761933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Graph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Breadth-First Search</a:t>
            </a:r>
          </a:p>
          <a:p>
            <a:r>
              <a:rPr lang="en-HK" dirty="0" err="1"/>
              <a:t>Dijkstra’s</a:t>
            </a:r>
            <a:r>
              <a:rPr lang="en-HK" dirty="0"/>
              <a:t> Algorithm and Uniform Cost Search</a:t>
            </a:r>
          </a:p>
          <a:p>
            <a:r>
              <a:rPr lang="en-HK" dirty="0"/>
              <a:t>Best-first Search</a:t>
            </a:r>
          </a:p>
          <a:p>
            <a:r>
              <a:rPr lang="en-HK" b="1" dirty="0">
                <a:solidFill>
                  <a:srgbClr val="FF0000"/>
                </a:solidFill>
              </a:rPr>
              <a:t>A* Search (cost + h(n))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60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8B56-68C9-E20F-194B-9A003890D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C0989-62FA-E40B-C12A-D34AE5E0B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89FCF-6DE5-B7BB-3057-A71DCF700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856405-36E6-23A5-C361-0D3B48388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5C6BBF-ADA1-0B86-9084-451845C4D6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720" y="3147067"/>
            <a:ext cx="5352722" cy="15596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AA7BFE-1128-53FB-2615-CB7C6DA5A959}"/>
              </a:ext>
            </a:extLst>
          </p:cNvPr>
          <p:cNvSpPr txBox="1"/>
          <p:nvPr/>
        </p:nvSpPr>
        <p:spPr>
          <a:xfrm>
            <a:off x="1976014" y="1299910"/>
            <a:ext cx="71679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A* search algorithm</a:t>
            </a:r>
            <a:r>
              <a:rPr lang="en-US" dirty="0"/>
              <a:t> combines both </a:t>
            </a:r>
            <a:r>
              <a:rPr lang="en-US" b="1" dirty="0"/>
              <a:t>heuristic h(n)</a:t>
            </a:r>
            <a:r>
              <a:rPr lang="en-US" dirty="0"/>
              <a:t> and the </a:t>
            </a:r>
            <a:r>
              <a:rPr lang="en-US" b="1" dirty="0"/>
              <a:t>actual cost g(n)</a:t>
            </a:r>
            <a:r>
              <a:rPr lang="en-US" dirty="0"/>
              <a:t>, making it more efficient than UCS and greedy search. By minimizing the </a:t>
            </a:r>
            <a:r>
              <a:rPr lang="en-US" b="1" dirty="0"/>
              <a:t>total cost</a:t>
            </a:r>
            <a:r>
              <a:rPr lang="en-US" dirty="0"/>
              <a:t> and </a:t>
            </a:r>
            <a:r>
              <a:rPr lang="en-US" b="1" dirty="0"/>
              <a:t>heuristic estimates</a:t>
            </a:r>
            <a:r>
              <a:rPr lang="en-US" dirty="0"/>
              <a:t>, it expands fewer nodes and provides an </a:t>
            </a:r>
            <a:r>
              <a:rPr lang="en-US" b="1" dirty="0"/>
              <a:t>optimal solution</a:t>
            </a:r>
            <a:r>
              <a:rPr lang="en-US" dirty="0"/>
              <a:t> faster. This approach ensures that the search finds the shortest path while considering both </a:t>
            </a:r>
            <a:r>
              <a:rPr lang="en-US" b="1" dirty="0"/>
              <a:t>cost to reach a node</a:t>
            </a:r>
            <a:r>
              <a:rPr lang="en-US" dirty="0"/>
              <a:t> and the </a:t>
            </a:r>
            <a:r>
              <a:rPr lang="en-US" b="1" dirty="0"/>
              <a:t>estimated distance to the goal</a:t>
            </a:r>
            <a:r>
              <a:rPr lang="en-US" dirty="0"/>
              <a:t>.</a:t>
            </a:r>
            <a:endParaRPr lang="en-HK" dirty="0"/>
          </a:p>
        </p:txBody>
      </p:sp>
    </p:spTree>
    <p:extLst>
      <p:ext uri="{BB962C8B-B14F-4D97-AF65-F5344CB8AC3E}">
        <p14:creationId xmlns:p14="http://schemas.microsoft.com/office/powerpoint/2010/main" val="10514942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BAF0F-E7EF-7C2E-A544-08DBF4941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B0289-2E06-1578-4145-044B98338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47E65-F969-E5AD-D2A1-A46A57F0C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19E22D-8642-5D79-6410-8C11A7250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722E00-A89D-B451-C756-1BE097818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188" y="170767"/>
            <a:ext cx="4681307" cy="473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359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75450-F896-4790-382C-A7EC2F32F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C9E785-69DB-2169-50D2-ED55D3017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92566-FF8B-C8B8-22B1-545EB5200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156269-1E35-60E3-876D-2075C197A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B886E-979D-DF5D-EA08-6FFC0FA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C3CF39-964D-168A-1BE2-4A51620BC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55" y="1214198"/>
            <a:ext cx="2486372" cy="28102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9F2EBE-BEAF-F873-DD66-BE34583C4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805" y="1214198"/>
            <a:ext cx="5134692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795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7AA4-DF46-000A-9762-18A514D5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988F0-6749-5834-CD81-074E4551A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8265" y="1141318"/>
            <a:ext cx="6413609" cy="3511061"/>
          </a:xfrm>
        </p:spPr>
        <p:txBody>
          <a:bodyPr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Points to remember:</a:t>
            </a:r>
          </a:p>
          <a:p>
            <a:pPr algn="l"/>
            <a:endParaRPr lang="en-US" b="0" i="0" dirty="0">
              <a:solidFill>
                <a:srgbClr val="3A4F66"/>
              </a:solidFill>
              <a:effectLst/>
              <a:latin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A* algorithm returns the path which occurred first, and it does not search for all remaining paths.</a:t>
            </a:r>
          </a:p>
          <a:p>
            <a:pPr lvl="1"/>
            <a:endParaRPr lang="en-US" b="0" i="0" dirty="0">
              <a:solidFill>
                <a:srgbClr val="3A4F66"/>
              </a:solidFill>
              <a:effectLst/>
              <a:latin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The efficiency of A* algorithm depends on the quality of heuristic.</a:t>
            </a:r>
          </a:p>
          <a:p>
            <a:pPr lvl="1"/>
            <a:endParaRPr lang="en-US" b="0" i="0" dirty="0">
              <a:solidFill>
                <a:srgbClr val="3A4F66"/>
              </a:solidFill>
              <a:effectLst/>
              <a:latin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A* algorithm expands all nodes which satisfy the condition </a:t>
            </a:r>
            <a:r>
              <a:rPr lang="en-HK" b="1" dirty="0"/>
              <a:t>f(n) ≤ f(goal)</a:t>
            </a:r>
          </a:p>
          <a:p>
            <a:pPr lvl="1"/>
            <a:endParaRPr lang="en-HK" b="1" i="0" dirty="0">
              <a:solidFill>
                <a:srgbClr val="3A4F66"/>
              </a:solidFill>
              <a:effectLst/>
              <a:latin typeface="Times New Roman" panose="02020603050405020304" pitchFamily="18" charset="0"/>
            </a:endParaRPr>
          </a:p>
          <a:p>
            <a:pPr lvl="1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Complete: A* algorithm is complete as long as:</a:t>
            </a:r>
          </a:p>
          <a:p>
            <a:pPr lvl="2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Branching factor is finite.</a:t>
            </a:r>
          </a:p>
          <a:p>
            <a:pPr lvl="2"/>
            <a:r>
              <a:rPr lang="en-US" b="0" i="0" dirty="0">
                <a:solidFill>
                  <a:srgbClr val="3A4F66"/>
                </a:solidFill>
                <a:effectLst/>
                <a:latin typeface="Times New Roman" panose="02020603050405020304" pitchFamily="18" charset="0"/>
              </a:rPr>
              <a:t>Cost at every action is fixed.</a:t>
            </a:r>
          </a:p>
          <a:p>
            <a:endParaRPr lang="en-H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A3CB1-5129-5081-8CCD-05C935C6C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13B5E-F42C-1937-F673-4FD2DCDD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73F4-8CE8-5876-7456-F024F2F67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315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A*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HK" dirty="0"/>
              <a:t>A* search was created as part of the </a:t>
            </a:r>
            <a:r>
              <a:rPr lang="en-HK" dirty="0" err="1"/>
              <a:t>Shakey</a:t>
            </a:r>
            <a:r>
              <a:rPr lang="en-HK" dirty="0"/>
              <a:t> project, which had the aim of building a mobile robot that could plan its own actions. Nils Nilsson originally proposed using the Graph Traverser algorithm for </a:t>
            </a:r>
            <a:r>
              <a:rPr lang="en-HK" dirty="0" err="1"/>
              <a:t>Shakey's</a:t>
            </a:r>
            <a:r>
              <a:rPr lang="en-HK" dirty="0"/>
              <a:t> path planning.</a:t>
            </a:r>
            <a:endParaRPr lang="en-US" dirty="0"/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682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Autofit/>
          </a:bodyPr>
          <a:lstStyle/>
          <a:p>
            <a:r>
              <a:rPr lang="en-HK" sz="2800" dirty="0"/>
              <a:t>A* Search makes use of both distance from start and distance to goal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86" y="1664672"/>
            <a:ext cx="3703190" cy="32068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89006" y="1033794"/>
            <a:ext cx="5078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</a:t>
            </a:r>
          </a:p>
          <a:p>
            <a:r>
              <a:rPr lang="en-US" dirty="0">
                <a:hlinkClick r:id="rId3"/>
              </a:rPr>
              <a:t>https://en.wikipedia.org/wiki/A*_search_algorithm</a:t>
            </a:r>
            <a:endParaRPr lang="en-US" dirty="0"/>
          </a:p>
          <a:p>
            <a:endParaRPr lang="en-US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882" y="1933495"/>
            <a:ext cx="2581635" cy="2686425"/>
          </a:xfrm>
          <a:prstGeom prst="rect">
            <a:avLst/>
          </a:prstGeom>
        </p:spPr>
      </p:pic>
      <p:sp>
        <p:nvSpPr>
          <p:cNvPr id="11" name="Rectangular Callout 10"/>
          <p:cNvSpPr/>
          <p:nvPr/>
        </p:nvSpPr>
        <p:spPr>
          <a:xfrm>
            <a:off x="7381623" y="1186195"/>
            <a:ext cx="1072476" cy="603637"/>
          </a:xfrm>
          <a:prstGeom prst="wedgeRectCallout">
            <a:avLst>
              <a:gd name="adj1" fmla="val -83263"/>
              <a:gd name="adj2" fmla="val 407"/>
            </a:avLst>
          </a:prstGeom>
          <a:solidFill>
            <a:srgbClr val="CCFFFF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E701FF"/>
                </a:solidFill>
              </a:rPr>
              <a:t>Click for Demo</a:t>
            </a:r>
          </a:p>
        </p:txBody>
      </p:sp>
    </p:spTree>
    <p:extLst>
      <p:ext uri="{BB962C8B-B14F-4D97-AF65-F5344CB8AC3E}">
        <p14:creationId xmlns:p14="http://schemas.microsoft.com/office/powerpoint/2010/main" val="1211451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HK" dirty="0"/>
              <a:t>Example (1)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197655" y="180822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A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2202564" y="272445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S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3350360" y="364068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</a:t>
            </a: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4812518" y="1803992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B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7931510" y="272445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G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4478697" y="364068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E</a:t>
            </a:r>
            <a:endParaRPr lang="en-US" dirty="0"/>
          </a:p>
        </p:txBody>
      </p:sp>
      <p:sp>
        <p:nvSpPr>
          <p:cNvPr id="13" name="Oval 12"/>
          <p:cNvSpPr/>
          <p:nvPr/>
        </p:nvSpPr>
        <p:spPr>
          <a:xfrm>
            <a:off x="6835520" y="3640685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F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6835520" y="1807121"/>
            <a:ext cx="610820" cy="6108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C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8" idx="7"/>
            <a:endCxn id="7" idx="3"/>
          </p:cNvCxnSpPr>
          <p:nvPr/>
        </p:nvCxnSpPr>
        <p:spPr>
          <a:xfrm flipV="1">
            <a:off x="2723931" y="2329592"/>
            <a:ext cx="563177" cy="484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8" idx="5"/>
            <a:endCxn id="9" idx="2"/>
          </p:cNvCxnSpPr>
          <p:nvPr/>
        </p:nvCxnSpPr>
        <p:spPr>
          <a:xfrm>
            <a:off x="2723931" y="3245822"/>
            <a:ext cx="626429" cy="700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7" idx="6"/>
            <a:endCxn id="10" idx="2"/>
          </p:cNvCxnSpPr>
          <p:nvPr/>
        </p:nvCxnSpPr>
        <p:spPr>
          <a:xfrm flipV="1">
            <a:off x="3808475" y="2109402"/>
            <a:ext cx="1004043" cy="4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6"/>
            <a:endCxn id="12" idx="2"/>
          </p:cNvCxnSpPr>
          <p:nvPr/>
        </p:nvCxnSpPr>
        <p:spPr>
          <a:xfrm>
            <a:off x="3961180" y="3946095"/>
            <a:ext cx="517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0" idx="6"/>
            <a:endCxn id="14" idx="2"/>
          </p:cNvCxnSpPr>
          <p:nvPr/>
        </p:nvCxnSpPr>
        <p:spPr>
          <a:xfrm>
            <a:off x="5423338" y="2109402"/>
            <a:ext cx="1412182" cy="3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4"/>
            <a:endCxn id="9" idx="0"/>
          </p:cNvCxnSpPr>
          <p:nvPr/>
        </p:nvCxnSpPr>
        <p:spPr>
          <a:xfrm>
            <a:off x="3503065" y="2419045"/>
            <a:ext cx="152705" cy="122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0" idx="4"/>
            <a:endCxn id="12" idx="0"/>
          </p:cNvCxnSpPr>
          <p:nvPr/>
        </p:nvCxnSpPr>
        <p:spPr>
          <a:xfrm flipH="1">
            <a:off x="4784107" y="2414812"/>
            <a:ext cx="333821" cy="1225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2" idx="6"/>
            <a:endCxn id="13" idx="2"/>
          </p:cNvCxnSpPr>
          <p:nvPr/>
        </p:nvCxnSpPr>
        <p:spPr>
          <a:xfrm>
            <a:off x="5089517" y="3946095"/>
            <a:ext cx="174600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3" idx="7"/>
            <a:endCxn id="11" idx="3"/>
          </p:cNvCxnSpPr>
          <p:nvPr/>
        </p:nvCxnSpPr>
        <p:spPr>
          <a:xfrm flipV="1">
            <a:off x="7356887" y="3245822"/>
            <a:ext cx="664076" cy="484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545074" y="2665658"/>
            <a:ext cx="29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0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7320690" y="3119318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</a:t>
            </a:r>
            <a:endParaRPr lang="en-US" dirty="0"/>
          </a:p>
        </p:txBody>
      </p:sp>
      <p:sp>
        <p:nvSpPr>
          <p:cNvPr id="47" name="TextBox 46"/>
          <p:cNvSpPr txBox="1"/>
          <p:nvPr/>
        </p:nvSpPr>
        <p:spPr>
          <a:xfrm>
            <a:off x="7133163" y="4154870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</a:t>
            </a:r>
            <a:endParaRPr lang="en-US" dirty="0"/>
          </a:p>
        </p:txBody>
      </p:sp>
      <p:sp>
        <p:nvSpPr>
          <p:cNvPr id="48" name="TextBox 47"/>
          <p:cNvSpPr txBox="1"/>
          <p:nvPr/>
        </p:nvSpPr>
        <p:spPr>
          <a:xfrm>
            <a:off x="5788158" y="3576128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4686136" y="4170675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7</a:t>
            </a:r>
            <a:endParaRPr 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3935036" y="3576128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2</a:t>
            </a:r>
            <a:endParaRPr lang="en-US" dirty="0"/>
          </a:p>
        </p:txBody>
      </p:sp>
      <p:sp>
        <p:nvSpPr>
          <p:cNvPr id="52" name="TextBox 51"/>
          <p:cNvSpPr txBox="1"/>
          <p:nvPr/>
        </p:nvSpPr>
        <p:spPr>
          <a:xfrm>
            <a:off x="6892359" y="1470737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3</a:t>
            </a:r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5842391" y="1714876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</a:t>
            </a:r>
            <a:endParaRPr 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4152622" y="1739435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</a:t>
            </a:r>
            <a:endParaRPr lang="en-US" dirty="0"/>
          </a:p>
        </p:txBody>
      </p:sp>
      <p:sp>
        <p:nvSpPr>
          <p:cNvPr id="55" name="TextBox 54"/>
          <p:cNvSpPr txBox="1"/>
          <p:nvPr/>
        </p:nvSpPr>
        <p:spPr>
          <a:xfrm>
            <a:off x="4951017" y="1504436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6</a:t>
            </a:r>
            <a:endParaRPr lang="en-US" dirty="0"/>
          </a:p>
        </p:txBody>
      </p:sp>
      <p:sp>
        <p:nvSpPr>
          <p:cNvPr id="56" name="TextBox 55"/>
          <p:cNvSpPr txBox="1"/>
          <p:nvPr/>
        </p:nvSpPr>
        <p:spPr>
          <a:xfrm>
            <a:off x="1825109" y="2571750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12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3132259" y="1549944"/>
            <a:ext cx="601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10.2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3492685" y="4170674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9</a:t>
            </a:r>
            <a:endParaRPr lang="en-US" dirty="0"/>
          </a:p>
        </p:txBody>
      </p:sp>
      <p:sp>
        <p:nvSpPr>
          <p:cNvPr id="59" name="TextBox 58"/>
          <p:cNvSpPr txBox="1"/>
          <p:nvPr/>
        </p:nvSpPr>
        <p:spPr>
          <a:xfrm>
            <a:off x="4984525" y="2850324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5</a:t>
            </a:r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3589069" y="2771584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5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642270" y="2354488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3</a:t>
            </a:r>
            <a:endParaRPr lang="en-US" dirty="0"/>
          </a:p>
        </p:txBody>
      </p:sp>
      <p:sp>
        <p:nvSpPr>
          <p:cNvPr id="62" name="TextBox 61"/>
          <p:cNvSpPr txBox="1"/>
          <p:nvPr/>
        </p:nvSpPr>
        <p:spPr>
          <a:xfrm>
            <a:off x="2634183" y="3444758"/>
            <a:ext cx="553982" cy="36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dirty="0"/>
              <a:t>4.8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9689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347E1-072F-3C7E-CD78-2E3BE101A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pic>
        <p:nvPicPr>
          <p:cNvPr id="8" name="Content Placeholder 7" descr="A diagram of a network&#10;&#10;Description automatically generated">
            <a:extLst>
              <a:ext uri="{FF2B5EF4-FFF2-40B4-BE49-F238E27FC236}">
                <a16:creationId xmlns:a16="http://schemas.microsoft.com/office/drawing/2014/main" id="{D32DF0F5-E2C3-0605-B998-6B1246C68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49" y="27840"/>
            <a:ext cx="2336196" cy="102653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A61C-A05E-2FF8-1801-9701C388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3C32B-E920-7C2D-FE75-6A069C603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03DEE-FEE4-DC3A-EEE9-C41B9FFDB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47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D861B22-C07A-B5B1-C3BF-38087891E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6014" y="31448"/>
            <a:ext cx="4753638" cy="101931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2ED478-4F49-BE3F-CCA2-1EB5638F6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0605" y="1088865"/>
            <a:ext cx="2676899" cy="35437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7F9A92A-C216-F9EA-C430-A8A2209581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5639" y="1249058"/>
            <a:ext cx="2095792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8812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45D4-A2DD-96EA-669E-62DC14BA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AFA0-6FBD-8D03-99DA-6DA62E5C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1216-AAD3-A6E5-9524-83B502DD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4AB6-F70F-4AD9-603F-959B3088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48</a:t>
            </a:fld>
            <a:endParaRPr lang="en-US"/>
          </a:p>
        </p:txBody>
      </p:sp>
      <p:pic>
        <p:nvPicPr>
          <p:cNvPr id="7" name="Content Placeholder 7" descr="A diagram of a network&#10;&#10;Description automatically generated">
            <a:extLst>
              <a:ext uri="{FF2B5EF4-FFF2-40B4-BE49-F238E27FC236}">
                <a16:creationId xmlns:a16="http://schemas.microsoft.com/office/drawing/2014/main" id="{40A75116-464A-CB0E-E61B-F96CB12039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49" y="27840"/>
            <a:ext cx="2336196" cy="10265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D06B8-A640-5000-157C-3601A11FD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3" y="156279"/>
            <a:ext cx="2539901" cy="1417327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13D49D-FF3D-3487-4219-6A494EFD20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080" y="1745386"/>
            <a:ext cx="3357890" cy="2678317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0B2A3E-9F76-82DB-4092-B3026F1C79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7143" y="1190618"/>
            <a:ext cx="3902481" cy="3374099"/>
          </a:xfrm>
          <a:prstGeom prst="rect">
            <a:avLst/>
          </a:prstGeom>
          <a:ln>
            <a:solidFill>
              <a:srgbClr val="92D050"/>
            </a:solidFill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532D636-65B0-3445-1A1D-CF3AB358A452}"/>
              </a:ext>
            </a:extLst>
          </p:cNvPr>
          <p:cNvSpPr/>
          <p:nvPr/>
        </p:nvSpPr>
        <p:spPr>
          <a:xfrm>
            <a:off x="5335525" y="3793390"/>
            <a:ext cx="2748690" cy="1594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7918327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45D4-A2DD-96EA-669E-62DC14BA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AFA0-6FBD-8D03-99DA-6DA62E5C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1216-AAD3-A6E5-9524-83B502DD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4AB6-F70F-4AD9-603F-959B3088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49</a:t>
            </a:fld>
            <a:endParaRPr lang="en-US"/>
          </a:p>
        </p:txBody>
      </p:sp>
      <p:pic>
        <p:nvPicPr>
          <p:cNvPr id="7" name="Content Placeholder 7" descr="A diagram of a network&#10;&#10;Description automatically generated">
            <a:extLst>
              <a:ext uri="{FF2B5EF4-FFF2-40B4-BE49-F238E27FC236}">
                <a16:creationId xmlns:a16="http://schemas.microsoft.com/office/drawing/2014/main" id="{40A75116-464A-CB0E-E61B-F96CB12039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49" y="27840"/>
            <a:ext cx="2336196" cy="10265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77CCB84-70FF-25FF-8478-A4F570BE6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53" y="1054374"/>
            <a:ext cx="3756133" cy="3464841"/>
          </a:xfrm>
          <a:prstGeom prst="rect">
            <a:avLst/>
          </a:prstGeom>
          <a:ln>
            <a:solidFill>
              <a:srgbClr val="92D050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E7E0F56-18F1-C8B7-6083-7005E6E19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295" y="1209980"/>
            <a:ext cx="4381146" cy="3346935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F91FDAA-D525-B4AE-7904-593D194ECAE5}"/>
              </a:ext>
            </a:extLst>
          </p:cNvPr>
          <p:cNvSpPr/>
          <p:nvPr/>
        </p:nvSpPr>
        <p:spPr>
          <a:xfrm>
            <a:off x="5274159" y="3029865"/>
            <a:ext cx="2810055" cy="305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59370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75826BD-5217-F46C-28A2-DCF957B9B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479" y="2113635"/>
            <a:ext cx="3553321" cy="1838582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3345D4-A2DD-96EA-669E-62DC14BA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AFA0-6FBD-8D03-99DA-6DA62E5C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1216-AAD3-A6E5-9524-83B502DD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4AB6-F70F-4AD9-603F-959B3088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50</a:t>
            </a:fld>
            <a:endParaRPr lang="en-US"/>
          </a:p>
        </p:txBody>
      </p:sp>
      <p:pic>
        <p:nvPicPr>
          <p:cNvPr id="7" name="Content Placeholder 7" descr="A diagram of a network&#10;&#10;Description automatically generated">
            <a:extLst>
              <a:ext uri="{FF2B5EF4-FFF2-40B4-BE49-F238E27FC236}">
                <a16:creationId xmlns:a16="http://schemas.microsoft.com/office/drawing/2014/main" id="{40A75116-464A-CB0E-E61B-F96CB12039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449" y="27840"/>
            <a:ext cx="2336196" cy="102653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F91FDAA-D525-B4AE-7904-593D194ECAE5}"/>
              </a:ext>
            </a:extLst>
          </p:cNvPr>
          <p:cNvSpPr/>
          <p:nvPr/>
        </p:nvSpPr>
        <p:spPr>
          <a:xfrm>
            <a:off x="5881679" y="3246070"/>
            <a:ext cx="1609851" cy="305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>
              <a:noFill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9A1059-F4C3-E8EE-4FE6-349BBA187B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55" y="1259859"/>
            <a:ext cx="4782217" cy="3172268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35682512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45D4-A2DD-96EA-669E-62DC14BA7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6AFA0-6FBD-8D03-99DA-6DA62E5C4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91216-AAD3-A6E5-9524-83B502DD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24AB6-F70F-4AD9-603F-959B3088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51</a:t>
            </a:fld>
            <a:endParaRPr lang="en-US"/>
          </a:p>
        </p:txBody>
      </p:sp>
      <p:pic>
        <p:nvPicPr>
          <p:cNvPr id="7" name="Content Placeholder 7" descr="A diagram of a network&#10;&#10;Description automatically generated">
            <a:extLst>
              <a:ext uri="{FF2B5EF4-FFF2-40B4-BE49-F238E27FC236}">
                <a16:creationId xmlns:a16="http://schemas.microsoft.com/office/drawing/2014/main" id="{40A75116-464A-CB0E-E61B-F96CB12039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820" y="1243387"/>
            <a:ext cx="3704290" cy="16276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783DED-F0A4-A0E8-4366-D86FF998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75" y="1110984"/>
            <a:ext cx="4180559" cy="3445932"/>
          </a:xfrm>
          <a:prstGeom prst="rect">
            <a:avLst/>
          </a:prstGeom>
          <a:ln>
            <a:solidFill>
              <a:srgbClr val="7030A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73FFD4C-F3F6-BB2C-9F7C-B71431061E27}"/>
              </a:ext>
            </a:extLst>
          </p:cNvPr>
          <p:cNvSpPr txBox="1"/>
          <p:nvPr/>
        </p:nvSpPr>
        <p:spPr>
          <a:xfrm>
            <a:off x="5784168" y="3335275"/>
            <a:ext cx="2902632" cy="923330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b="1" dirty="0"/>
              <a:t>Reconstructed Path: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 → D → E → F →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cost from S to G:</a:t>
            </a:r>
            <a:r>
              <a:rPr lang="en-US" dirty="0"/>
              <a:t> 14.8</a:t>
            </a:r>
          </a:p>
        </p:txBody>
      </p:sp>
    </p:spTree>
    <p:extLst>
      <p:ext uri="{BB962C8B-B14F-4D97-AF65-F5344CB8AC3E}">
        <p14:creationId xmlns:p14="http://schemas.microsoft.com/office/powerpoint/2010/main" val="38971789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724705" y="1350110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S</a:t>
            </a:r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3808475" y="1992727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A</a:t>
            </a:r>
            <a:endParaRPr lang="en-US" dirty="0"/>
          </a:p>
        </p:txBody>
      </p:sp>
      <p:sp>
        <p:nvSpPr>
          <p:cNvPr id="9" name="Oval 8"/>
          <p:cNvSpPr/>
          <p:nvPr/>
        </p:nvSpPr>
        <p:spPr>
          <a:xfrm>
            <a:off x="5724238" y="1992727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</a:t>
            </a:r>
            <a:endParaRPr lang="en-US" dirty="0"/>
          </a:p>
        </p:txBody>
      </p:sp>
      <p:cxnSp>
        <p:nvCxnSpPr>
          <p:cNvPr id="10" name="Straight Connector 9"/>
          <p:cNvCxnSpPr>
            <a:stCxn id="7" idx="3"/>
            <a:endCxn id="8" idx="7"/>
          </p:cNvCxnSpPr>
          <p:nvPr/>
        </p:nvCxnSpPr>
        <p:spPr>
          <a:xfrm flipH="1">
            <a:off x="4211367" y="1716846"/>
            <a:ext cx="582463" cy="338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7" idx="5"/>
            <a:endCxn id="9" idx="1"/>
          </p:cNvCxnSpPr>
          <p:nvPr/>
        </p:nvCxnSpPr>
        <p:spPr>
          <a:xfrm>
            <a:off x="5127597" y="1716846"/>
            <a:ext cx="665766" cy="3388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3503065" y="2390680"/>
            <a:ext cx="438644" cy="5622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/>
            <a:endCxn id="8" idx="5"/>
          </p:cNvCxnSpPr>
          <p:nvPr/>
        </p:nvCxnSpPr>
        <p:spPr>
          <a:xfrm flipH="1" flipV="1">
            <a:off x="4211367" y="2359463"/>
            <a:ext cx="55223" cy="593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3233407" y="2952935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B</a:t>
            </a:r>
            <a:endParaRPr lang="en-US" dirty="0"/>
          </a:p>
        </p:txBody>
      </p:sp>
      <p:sp>
        <p:nvSpPr>
          <p:cNvPr id="20" name="Oval 19"/>
          <p:cNvSpPr/>
          <p:nvPr/>
        </p:nvSpPr>
        <p:spPr>
          <a:xfrm>
            <a:off x="4100599" y="2952399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D</a:t>
            </a:r>
            <a:endParaRPr lang="en-US" dirty="0"/>
          </a:p>
        </p:txBody>
      </p:sp>
      <p:cxnSp>
        <p:nvCxnSpPr>
          <p:cNvPr id="16" name="Straight Connector 15"/>
          <p:cNvCxnSpPr>
            <a:stCxn id="19" idx="3"/>
          </p:cNvCxnSpPr>
          <p:nvPr/>
        </p:nvCxnSpPr>
        <p:spPr>
          <a:xfrm flipH="1">
            <a:off x="2892245" y="3319671"/>
            <a:ext cx="410287" cy="473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stCxn id="19" idx="5"/>
          </p:cNvCxnSpPr>
          <p:nvPr/>
        </p:nvCxnSpPr>
        <p:spPr>
          <a:xfrm>
            <a:off x="3636299" y="3319671"/>
            <a:ext cx="172176" cy="4737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2656236" y="3769442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C</a:t>
            </a:r>
            <a:endParaRPr lang="en-US" dirty="0"/>
          </a:p>
        </p:txBody>
      </p:sp>
      <p:sp>
        <p:nvSpPr>
          <p:cNvPr id="23" name="Oval 22"/>
          <p:cNvSpPr/>
          <p:nvPr/>
        </p:nvSpPr>
        <p:spPr>
          <a:xfrm>
            <a:off x="3594040" y="3793390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E</a:t>
            </a:r>
            <a:endParaRPr lang="en-US" dirty="0"/>
          </a:p>
        </p:txBody>
      </p:sp>
      <p:cxnSp>
        <p:nvCxnSpPr>
          <p:cNvPr id="24" name="Straight Connector 23"/>
          <p:cNvCxnSpPr>
            <a:endCxn id="9" idx="3"/>
          </p:cNvCxnSpPr>
          <p:nvPr/>
        </p:nvCxnSpPr>
        <p:spPr>
          <a:xfrm flipV="1">
            <a:off x="5503024" y="2359463"/>
            <a:ext cx="290339" cy="670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9" idx="5"/>
          </p:cNvCxnSpPr>
          <p:nvPr/>
        </p:nvCxnSpPr>
        <p:spPr>
          <a:xfrm flipH="1" flipV="1">
            <a:off x="6127130" y="2359463"/>
            <a:ext cx="290339" cy="670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218263" y="3029865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A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6207626" y="3029865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E</a:t>
            </a:r>
            <a:endParaRPr lang="en-US" dirty="0"/>
          </a:p>
        </p:txBody>
      </p:sp>
      <p:cxnSp>
        <p:nvCxnSpPr>
          <p:cNvPr id="26" name="Straight Connector 25"/>
          <p:cNvCxnSpPr>
            <a:endCxn id="30" idx="4"/>
          </p:cNvCxnSpPr>
          <p:nvPr/>
        </p:nvCxnSpPr>
        <p:spPr>
          <a:xfrm flipV="1">
            <a:off x="6196255" y="3459523"/>
            <a:ext cx="247380" cy="486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30" idx="5"/>
          </p:cNvCxnSpPr>
          <p:nvPr/>
        </p:nvCxnSpPr>
        <p:spPr>
          <a:xfrm flipH="1" flipV="1">
            <a:off x="6610518" y="3396601"/>
            <a:ext cx="456850" cy="5494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971617" y="3937344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B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6851285" y="3946095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F</a:t>
            </a:r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284969" y="2153945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13.2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464" y="2207556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13.8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66596" y="297392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2154" y="2952399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69066" y="4183867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08475" y="4160126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87370" y="340073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19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0771" y="3089307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>
                <a:solidFill>
                  <a:srgbClr val="FF0000"/>
                </a:solidFill>
              </a:rPr>
              <a:t>13.8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08426" y="423172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/>
              <a:t>17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51274" y="3848137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>
                <a:solidFill>
                  <a:srgbClr val="FF0000"/>
                </a:solidFill>
              </a:rPr>
              <a:t>14.8</a:t>
            </a:r>
          </a:p>
        </p:txBody>
      </p:sp>
      <p:cxnSp>
        <p:nvCxnSpPr>
          <p:cNvPr id="43" name="Straight Connector 42"/>
          <p:cNvCxnSpPr>
            <a:stCxn id="44" idx="1"/>
          </p:cNvCxnSpPr>
          <p:nvPr/>
        </p:nvCxnSpPr>
        <p:spPr>
          <a:xfrm flipH="1" flipV="1">
            <a:off x="7247540" y="4325330"/>
            <a:ext cx="324970" cy="349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7503385" y="4611449"/>
            <a:ext cx="472017" cy="42965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HK" dirty="0"/>
              <a:t>G</a:t>
            </a:r>
            <a:endParaRPr lang="en-US" dirty="0"/>
          </a:p>
        </p:txBody>
      </p:sp>
      <p:sp>
        <p:nvSpPr>
          <p:cNvPr id="45" name="Rectangle 44"/>
          <p:cNvSpPr/>
          <p:nvPr/>
        </p:nvSpPr>
        <p:spPr>
          <a:xfrm>
            <a:off x="7799345" y="4387360"/>
            <a:ext cx="5934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HK" dirty="0">
                <a:solidFill>
                  <a:srgbClr val="FF0000"/>
                </a:solidFill>
              </a:rPr>
              <a:t>14.8</a:t>
            </a:r>
          </a:p>
        </p:txBody>
      </p:sp>
      <p:sp>
        <p:nvSpPr>
          <p:cNvPr id="17" name="Multiplication Sign 16">
            <a:extLst>
              <a:ext uri="{FF2B5EF4-FFF2-40B4-BE49-F238E27FC236}">
                <a16:creationId xmlns:a16="http://schemas.microsoft.com/office/drawing/2014/main" id="{68B620D1-609B-0DDA-54B0-D589204E305A}"/>
              </a:ext>
            </a:extLst>
          </p:cNvPr>
          <p:cNvSpPr/>
          <p:nvPr/>
        </p:nvSpPr>
        <p:spPr>
          <a:xfrm>
            <a:off x="3933655" y="2288008"/>
            <a:ext cx="683642" cy="879220"/>
          </a:xfrm>
          <a:prstGeom prst="mathMultiply">
            <a:avLst/>
          </a:prstGeom>
          <a:solidFill>
            <a:srgbClr val="FF25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18" name="Multiplication Sign 17">
            <a:extLst>
              <a:ext uri="{FF2B5EF4-FFF2-40B4-BE49-F238E27FC236}">
                <a16:creationId xmlns:a16="http://schemas.microsoft.com/office/drawing/2014/main" id="{CBDC9E77-22B3-8CDC-F176-639B46888CAC}"/>
              </a:ext>
            </a:extLst>
          </p:cNvPr>
          <p:cNvSpPr/>
          <p:nvPr/>
        </p:nvSpPr>
        <p:spPr>
          <a:xfrm>
            <a:off x="5244684" y="2286515"/>
            <a:ext cx="683642" cy="879220"/>
          </a:xfrm>
          <a:prstGeom prst="mathMultiply">
            <a:avLst/>
          </a:prstGeom>
          <a:solidFill>
            <a:srgbClr val="FF25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E369F6DF-76AC-9EFF-F8F9-F92C9922BD75}"/>
              </a:ext>
            </a:extLst>
          </p:cNvPr>
          <p:cNvSpPr/>
          <p:nvPr/>
        </p:nvSpPr>
        <p:spPr>
          <a:xfrm>
            <a:off x="5901327" y="3390702"/>
            <a:ext cx="683642" cy="879220"/>
          </a:xfrm>
          <a:prstGeom prst="mathMultiply">
            <a:avLst/>
          </a:prstGeom>
          <a:solidFill>
            <a:srgbClr val="FF25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HK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D53778-8C35-9012-9167-89E04B346D05}"/>
              </a:ext>
            </a:extLst>
          </p:cNvPr>
          <p:cNvSpPr txBox="1"/>
          <p:nvPr/>
        </p:nvSpPr>
        <p:spPr>
          <a:xfrm>
            <a:off x="1687" y="2286515"/>
            <a:ext cx="2902632" cy="923330"/>
          </a:xfrm>
          <a:prstGeom prst="rect">
            <a:avLst/>
          </a:prstGeom>
          <a:solidFill>
            <a:srgbClr val="00B050"/>
          </a:solidFill>
        </p:spPr>
        <p:txBody>
          <a:bodyPr wrap="square">
            <a:spAutoFit/>
          </a:bodyPr>
          <a:lstStyle/>
          <a:p>
            <a:r>
              <a:rPr lang="en-US" b="1" dirty="0"/>
              <a:t>Reconstructed Path: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 → D → E → F → 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Total cost from S to G:</a:t>
            </a:r>
            <a:r>
              <a:rPr lang="en-US" dirty="0"/>
              <a:t> 14.8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82E6357-78C4-CECF-54F8-9C48CBADC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24726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28720" y="281175"/>
            <a:ext cx="6719020" cy="725349"/>
          </a:xfrm>
        </p:spPr>
        <p:txBody>
          <a:bodyPr>
            <a:normAutofit/>
          </a:bodyPr>
          <a:lstStyle/>
          <a:p>
            <a:r>
              <a:rPr lang="en-US" dirty="0"/>
              <a:t>Example 2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28720" y="1090851"/>
            <a:ext cx="412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Define the grid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49282" y="1615100"/>
            <a:ext cx="3755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Define the heuristics and parameters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064" y="4125458"/>
            <a:ext cx="39620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>
                <a:hlinkClick r:id="rId2"/>
              </a:rPr>
              <a:t>https://github.com/ninopereira/A_Star_Python/blob/master/A_star.py</a:t>
            </a: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5833" y="2024316"/>
            <a:ext cx="2379374" cy="2420682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845514" y="2120084"/>
            <a:ext cx="2443280" cy="923330"/>
          </a:xfrm>
          <a:prstGeom prst="rect">
            <a:avLst/>
          </a:prstGeom>
          <a:solidFill>
            <a:srgbClr val="CCFFFF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Note: same as Best First Search except:</a:t>
            </a:r>
          </a:p>
          <a:p>
            <a:r>
              <a:rPr lang="en-US" dirty="0">
                <a:solidFill>
                  <a:srgbClr val="E701FF"/>
                </a:solidFill>
              </a:rPr>
              <a:t>cost = 0   -&gt;   cost = 1</a:t>
            </a:r>
          </a:p>
        </p:txBody>
      </p:sp>
      <p:cxnSp>
        <p:nvCxnSpPr>
          <p:cNvPr id="10" name="Straight Arrow Connector 9"/>
          <p:cNvCxnSpPr>
            <a:stCxn id="8" idx="2"/>
            <a:endCxn id="13" idx="2"/>
          </p:cNvCxnSpPr>
          <p:nvPr/>
        </p:nvCxnSpPr>
        <p:spPr>
          <a:xfrm>
            <a:off x="5067154" y="3043414"/>
            <a:ext cx="1184601" cy="239203"/>
          </a:xfrm>
          <a:prstGeom prst="straightConnector1">
            <a:avLst/>
          </a:prstGeom>
          <a:ln w="12700">
            <a:solidFill>
              <a:srgbClr val="FF25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251755" y="3181700"/>
            <a:ext cx="691653" cy="201833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5709" y="1508115"/>
            <a:ext cx="2048161" cy="952633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58950" y="2636848"/>
            <a:ext cx="3220638" cy="1477328"/>
          </a:xfrm>
          <a:prstGeom prst="rect">
            <a:avLst/>
          </a:prstGeom>
          <a:solidFill>
            <a:srgbClr val="FFFF00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Problem: a 5*6 maze:</a:t>
            </a:r>
          </a:p>
          <a:p>
            <a:r>
              <a:rPr lang="en-US" dirty="0"/>
              <a:t>In the grid, 1 represents barrier e.g. wall in the maze</a:t>
            </a:r>
          </a:p>
          <a:p>
            <a:r>
              <a:rPr lang="en-US" dirty="0"/>
              <a:t>                1 : cannot go through</a:t>
            </a:r>
          </a:p>
          <a:p>
            <a:r>
              <a:rPr lang="en-US" dirty="0"/>
              <a:t>                0 : can go through]</a:t>
            </a:r>
          </a:p>
        </p:txBody>
      </p:sp>
      <p:sp>
        <p:nvSpPr>
          <p:cNvPr id="27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lab3.ipynb (Q.3a)</a:t>
            </a:r>
          </a:p>
        </p:txBody>
      </p:sp>
    </p:spTree>
    <p:extLst>
      <p:ext uri="{BB962C8B-B14F-4D97-AF65-F5344CB8AC3E}">
        <p14:creationId xmlns:p14="http://schemas.microsoft.com/office/powerpoint/2010/main" val="2631616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55" y="1846399"/>
            <a:ext cx="5763429" cy="2772162"/>
          </a:xfrm>
          <a:prstGeom prst="rect">
            <a:avLst/>
          </a:prstGeom>
          <a:ln>
            <a:solidFill>
              <a:schemeClr val="accent4">
                <a:lumMod val="40000"/>
                <a:lumOff val="60000"/>
              </a:schemeClr>
            </a:solidFill>
          </a:ln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25855" y="1142973"/>
            <a:ext cx="4123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Define the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0" y="2770815"/>
            <a:ext cx="2443280" cy="923330"/>
          </a:xfrm>
          <a:prstGeom prst="rect">
            <a:avLst/>
          </a:prstGeom>
          <a:solidFill>
            <a:srgbClr val="CCFFFF"/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Note: same as Best First Search except:</a:t>
            </a:r>
          </a:p>
          <a:p>
            <a:r>
              <a:rPr lang="en-US" dirty="0">
                <a:solidFill>
                  <a:srgbClr val="E701FF"/>
                </a:solidFill>
              </a:rPr>
              <a:t>g2 = g -&gt;   g2 = g + cost</a:t>
            </a:r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>
            <a:off x="3044950" y="3232480"/>
            <a:ext cx="1985165" cy="237514"/>
          </a:xfrm>
          <a:prstGeom prst="straightConnector1">
            <a:avLst/>
          </a:prstGeom>
          <a:ln w="12700">
            <a:solidFill>
              <a:srgbClr val="FF254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030115" y="3339046"/>
            <a:ext cx="1068935" cy="301639"/>
          </a:xfrm>
          <a:prstGeom prst="ellipse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57164" y="1197405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lab3.ipynb (Q.3a)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2F332E0A-C578-9259-F87B-5FBD7BC0E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2022473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2437" y="1166015"/>
            <a:ext cx="412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Run and display results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666" y="1608885"/>
            <a:ext cx="4308114" cy="1014411"/>
          </a:xfrm>
          <a:prstGeom prst="rect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2200514" y="2770789"/>
            <a:ext cx="4123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1405" y="3135696"/>
            <a:ext cx="1733792" cy="885949"/>
          </a:xfrm>
          <a:prstGeom prst="rect">
            <a:avLst/>
          </a:prstGeom>
        </p:spPr>
      </p:pic>
      <p:sp>
        <p:nvSpPr>
          <p:cNvPr id="13" name="Rectangle: Diagonal Corners Rounded 8">
            <a:extLst>
              <a:ext uri="{FF2B5EF4-FFF2-40B4-BE49-F238E27FC236}">
                <a16:creationId xmlns:a16="http://schemas.microsoft.com/office/drawing/2014/main" id="{9B7FE169-C6AF-4944-A188-609F60F253A9}"/>
              </a:ext>
            </a:extLst>
          </p:cNvPr>
          <p:cNvSpPr/>
          <p:nvPr/>
        </p:nvSpPr>
        <p:spPr>
          <a:xfrm>
            <a:off x="6540894" y="1101964"/>
            <a:ext cx="2129635" cy="41148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/>
              <a:t>lab3.ipynb (Q.3a)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AD335C1-54DB-73F5-F3A5-AB5FEA788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4554148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HK" sz="2000" dirty="0"/>
              <a:t>Comparisons on Best-first search and A-Star Search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8720" y="1197405"/>
            <a:ext cx="6558080" cy="351106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Similarities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Evaluation Strategy: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Both algorithms use an evaluation function to select the most promising node to expand next.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Both maintain a </a:t>
            </a:r>
            <a:r>
              <a:rPr lang="en-US" b="1" dirty="0"/>
              <a:t>priority queue (Open list)</a:t>
            </a:r>
            <a:r>
              <a:rPr lang="en-US" dirty="0"/>
              <a:t> to manage nodes based on their evaluation.</a:t>
            </a:r>
          </a:p>
          <a:p>
            <a:pPr marL="0" indent="0">
              <a:buNone/>
            </a:pPr>
            <a:r>
              <a:rPr lang="en-US" b="1" dirty="0"/>
              <a:t>Differences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Evaluation Function Components: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Greedy Best-first Search:</a:t>
            </a:r>
            <a:endParaRPr lang="en-US" dirty="0"/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Uses only the heuristic function h(n) to select nodes.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Prioritizes nodes that appear closest to the goal based on h(n).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i="1" dirty="0"/>
              <a:t>A Search:</a:t>
            </a:r>
            <a:r>
              <a:rPr lang="en-US" b="1" dirty="0"/>
              <a:t>*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Uses the combined function f(n) = g(n) + h(n).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Considers both the actual cost from the start g(n) and the heuristic estimate to the goal h(n).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11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000" dirty="0"/>
              <a:t>Optimality, Completeness, and Key Refinements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04F219E-E01E-0CC5-6C5B-98D0CB15E8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70605" y="1227833"/>
            <a:ext cx="7635251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Optimality Guarantee: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Search: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</a:t>
            </a:r>
          </a:p>
          <a:p>
            <a:pPr marL="971550" lvl="2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Guarantees an optimal solution if the heuristic h(n) is admissible (does not overestimate the true cost) and consistent.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Greedy Best-first Search:</a:t>
            </a:r>
          </a:p>
          <a:p>
            <a:pPr marL="971550" lvl="2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Arial" panose="020B0604020202020204" pitchFamily="34" charset="0"/>
              </a:rPr>
              <a:t> Does not guarantee optimality due to reliance solely on h(n).</a:t>
            </a:r>
          </a:p>
          <a:p>
            <a:pPr mar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Completeness: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latin typeface="Arial" panose="020B0604020202020204" pitchFamily="34" charset="0"/>
              </a:rPr>
              <a:t> A Search:*</a:t>
            </a:r>
          </a:p>
          <a:p>
            <a:pPr marL="971550" lvl="2" indent="-1714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 conditions like finite branching and positive step costs.</a:t>
            </a:r>
          </a:p>
          <a:p>
            <a:pPr marL="40005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i="1" dirty="0">
                <a:latin typeface="Arial" panose="020B0604020202020204" pitchFamily="34" charset="0"/>
              </a:rPr>
              <a:t> Greedy Best-first Search:</a:t>
            </a:r>
          </a:p>
          <a:p>
            <a:pPr marL="971550" marR="0" lvl="2" indent="-1714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" panose="020B0604020202020204" pitchFamily="34" charset="0"/>
              </a:rPr>
              <a:t>May not be complete; can get stuck in loops or miss existing solutions</a:t>
            </a:r>
            <a:r>
              <a:rPr lang="en-US" altLang="en-US" sz="1600" i="1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5684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6952774"/>
              </p:ext>
            </p:extLst>
          </p:nvPr>
        </p:nvGraphicFramePr>
        <p:xfrm>
          <a:off x="1059785" y="1350110"/>
          <a:ext cx="762701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8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0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34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764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Breadth First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Dijkstra’s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Best First</a:t>
                      </a:r>
                      <a:r>
                        <a:rPr lang="en-US" baseline="0" dirty="0"/>
                        <a:t> Search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A* Search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Priority queue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Distance from start </a:t>
                      </a:r>
                      <a:r>
                        <a:rPr lang="en-US" baseline="0" dirty="0"/>
                        <a:t>d(n)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Heuristic function h(n)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Optimal</a:t>
                      </a:r>
                      <a:r>
                        <a:rPr lang="en-US" baseline="0" dirty="0"/>
                        <a:t> path ?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</a:t>
                      </a:r>
                      <a:r>
                        <a:rPr lang="en-US" sz="1400" baseline="0" dirty="0"/>
                        <a:t> (but </a:t>
                      </a:r>
                      <a:r>
                        <a:rPr lang="en-US" sz="1400" dirty="0"/>
                        <a:t>often yes)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Computer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quite 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132262" y="79983"/>
            <a:ext cx="6413609" cy="725349"/>
          </a:xfrm>
        </p:spPr>
        <p:txBody>
          <a:bodyPr>
            <a:normAutofit fontScale="90000"/>
          </a:bodyPr>
          <a:lstStyle/>
          <a:p>
            <a:r>
              <a:rPr lang="en-HK" dirty="0"/>
              <a:t>Comparison of the </a:t>
            </a:r>
            <a:r>
              <a:rPr lang="en-HK"/>
              <a:t>Search Algorithms</a:t>
            </a:r>
            <a:endParaRPr lang="en-HK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L3 – AI Search Techniques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3788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800"/>
            <a:ext cx="9140400" cy="4200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52424" y="2093506"/>
            <a:ext cx="4134376" cy="763526"/>
          </a:xfrm>
        </p:spPr>
        <p:txBody>
          <a:bodyPr>
            <a:normAutofit/>
          </a:bodyPr>
          <a:lstStyle/>
          <a:p>
            <a:pPr algn="r"/>
            <a:r>
              <a:rPr lang="en-US" sz="4000" b="1" i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Self Study Guide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r>
              <a:rPr lang="en-US"/>
              <a:t>ITP4514 – AI &amp; ML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59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739540" y="4767263"/>
            <a:ext cx="3664920" cy="273844"/>
          </a:xfrm>
        </p:spPr>
        <p:txBody>
          <a:bodyPr/>
          <a:lstStyle/>
          <a:p>
            <a:r>
              <a:rPr lang="en-US" dirty="0"/>
              <a:t>L3 – AI Search Techniques</a:t>
            </a:r>
          </a:p>
        </p:txBody>
      </p:sp>
    </p:spTree>
    <p:extLst>
      <p:ext uri="{BB962C8B-B14F-4D97-AF65-F5344CB8AC3E}">
        <p14:creationId xmlns:p14="http://schemas.microsoft.com/office/powerpoint/2010/main" val="37034532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/>
              <a:t>Russell, S. and </a:t>
            </a:r>
            <a:r>
              <a:rPr lang="en-US" altLang="zh-HK" sz="2000" dirty="0" err="1"/>
              <a:t>Norvig</a:t>
            </a:r>
            <a:r>
              <a:rPr lang="en-US" altLang="zh-HK" sz="2000" dirty="0"/>
              <a:t>, P. (2020).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Intelligence: A Modern Approach</a:t>
            </a:r>
            <a:r>
              <a:rPr lang="en-US" altLang="zh-HK" sz="2000" dirty="0"/>
              <a:t> (4th ed.). Upper Saddle River, NJ: Pearson.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zh-HK" sz="2000" dirty="0" err="1"/>
              <a:t>Joshir</a:t>
            </a:r>
            <a:r>
              <a:rPr lang="en-US" altLang="zh-HK" sz="2000" dirty="0"/>
              <a:t>, P. (2017). </a:t>
            </a:r>
            <a:r>
              <a:rPr lang="en-US" altLang="zh-HK" sz="2000" i="1" dirty="0">
                <a:solidFill>
                  <a:srgbClr val="7030A0"/>
                </a:solidFill>
              </a:rPr>
              <a:t>Artificial Intelligence with Python</a:t>
            </a:r>
            <a:r>
              <a:rPr lang="en-US" altLang="zh-HK" sz="2000" dirty="0"/>
              <a:t> (1st ed.). Birmingham: </a:t>
            </a:r>
            <a:r>
              <a:rPr lang="en-US" altLang="zh-HK" sz="2000" dirty="0" err="1"/>
              <a:t>Packt</a:t>
            </a:r>
            <a:r>
              <a:rPr lang="en-US" altLang="zh-HK" sz="2000" dirty="0"/>
              <a:t> Publishing.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52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07451" y="171247"/>
            <a:ext cx="6413609" cy="828000"/>
          </a:xfrm>
        </p:spPr>
        <p:txBody>
          <a:bodyPr>
            <a:normAutofit/>
          </a:bodyPr>
          <a:lstStyle/>
          <a:p>
            <a:r>
              <a:rPr lang="en-US" dirty="0"/>
              <a:t>Self Study Guide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2184704" y="1197406"/>
            <a:ext cx="6413609" cy="3563614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HK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Sites</a:t>
            </a:r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000" u="sng" dirty="0">
                <a:hlinkClick r:id="rId3"/>
              </a:rPr>
              <a:t>https://www.educative.io/edpresso/how-to-implement-a-breadth-first-search-in-python</a:t>
            </a:r>
            <a:endParaRPr lang="en-US" sz="20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000" u="sng" dirty="0">
                <a:hlinkClick r:id="rId4"/>
              </a:rPr>
              <a:t>https://gist.github.com/Kautenja/29f13b543ecd210202417dfc9e328249</a:t>
            </a:r>
            <a:endParaRPr lang="en-US" sz="2000" u="sng" dirty="0"/>
          </a:p>
          <a:p>
            <a:pPr>
              <a:spcBef>
                <a:spcPts val="400"/>
              </a:spcBef>
              <a:buFont typeface="Wingdings" panose="05000000000000000000" pitchFamily="2" charset="2"/>
              <a:buChar char="ü"/>
            </a:pPr>
            <a:r>
              <a:rPr lang="en-US" sz="2000" u="sng" dirty="0">
                <a:hlinkClick r:id="rId5"/>
              </a:rPr>
              <a:t>https://github.com/ninopereira/A_Star_Python/blob/master/A_star.py</a:t>
            </a:r>
            <a:endParaRPr lang="en-US" sz="2000" u="sng" dirty="0"/>
          </a:p>
          <a:p>
            <a:pPr marL="0" indent="0">
              <a:spcBef>
                <a:spcPts val="400"/>
              </a:spcBef>
              <a:buNone/>
            </a:pPr>
            <a:endParaRPr lang="en-US" altLang="zh-HK" sz="2000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ITP4514 – AI &amp; ML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L3 – AI Search Techniques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9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27679</TotalTime>
  <Words>3482</Words>
  <Application>Microsoft Office PowerPoint</Application>
  <PresentationFormat>On-screen Show (16:9)</PresentationFormat>
  <Paragraphs>790</Paragraphs>
  <Slides>61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9" baseType="lpstr">
      <vt:lpstr>CG Times</vt:lpstr>
      <vt:lpstr>Arial</vt:lpstr>
      <vt:lpstr>Bell MT</vt:lpstr>
      <vt:lpstr>Calibri</vt:lpstr>
      <vt:lpstr>Cambria</vt:lpstr>
      <vt:lpstr>Times New Roman</vt:lpstr>
      <vt:lpstr>Wingdings</vt:lpstr>
      <vt:lpstr>Office Theme</vt:lpstr>
      <vt:lpstr>Lecture 3 – AI Search Techniques</vt:lpstr>
      <vt:lpstr>Lesson Outline</vt:lpstr>
      <vt:lpstr>Graph Model</vt:lpstr>
      <vt:lpstr>Graph Model: Directed or Undirected</vt:lpstr>
      <vt:lpstr>Adjacency Matrix</vt:lpstr>
      <vt:lpstr>Adjacency List</vt:lpstr>
      <vt:lpstr>Graph Analytics</vt:lpstr>
      <vt:lpstr>2. Graph Algorithms</vt:lpstr>
      <vt:lpstr>Uninformed Search &amp; Informed Search</vt:lpstr>
      <vt:lpstr>Breadth-first Search (BFS)</vt:lpstr>
      <vt:lpstr>Breadth First Search (BFS)</vt:lpstr>
      <vt:lpstr>Successful BFS</vt:lpstr>
      <vt:lpstr>Unsuccessful BFS</vt:lpstr>
      <vt:lpstr>Example: BFS (3)</vt:lpstr>
      <vt:lpstr>Example: BFS (3)</vt:lpstr>
      <vt:lpstr>PowerPoint Presentation</vt:lpstr>
      <vt:lpstr>Advantages and Disadvantages of BFS</vt:lpstr>
      <vt:lpstr>PowerPoint Presentation</vt:lpstr>
      <vt:lpstr>Graph Algorithms</vt:lpstr>
      <vt:lpstr>Dijkstra’s algorithm</vt:lpstr>
      <vt:lpstr>Dijkstra’s Algorithm Example (1)</vt:lpstr>
      <vt:lpstr>Dijkstra’s Algorithm Example (2)</vt:lpstr>
      <vt:lpstr>Dijkstra’s Algorithm Example (3)</vt:lpstr>
      <vt:lpstr>Dijkstra’s Algorithm Example (4)</vt:lpstr>
      <vt:lpstr>Dijkstra’s Algorithm Example (5)</vt:lpstr>
      <vt:lpstr>Dijkstra’s Algorithm Example (6)</vt:lpstr>
      <vt:lpstr>Dijkstra’s Algorithm Example (7)</vt:lpstr>
      <vt:lpstr>Uniform Cost Search (Dijkstra’s algorithm for large graph)</vt:lpstr>
      <vt:lpstr>Uniform Cost Search</vt:lpstr>
      <vt:lpstr>Advantages and Disadvantages of Uniform Cost Search</vt:lpstr>
      <vt:lpstr>Graph Algorithms</vt:lpstr>
      <vt:lpstr>Best First search (1)</vt:lpstr>
      <vt:lpstr>Best First search (2)</vt:lpstr>
      <vt:lpstr>Problem (1)</vt:lpstr>
      <vt:lpstr>Problem (2)</vt:lpstr>
      <vt:lpstr>Algorithm</vt:lpstr>
      <vt:lpstr>Best-First Search Complete Solution</vt:lpstr>
      <vt:lpstr>Advantages and Disadvantages of Best First Search</vt:lpstr>
      <vt:lpstr>Graph Algorithms</vt:lpstr>
      <vt:lpstr>PowerPoint Presentation</vt:lpstr>
      <vt:lpstr>PowerPoint Presentation</vt:lpstr>
      <vt:lpstr>PowerPoint Presentation</vt:lpstr>
      <vt:lpstr>PowerPoint Presentation</vt:lpstr>
      <vt:lpstr>A* Search</vt:lpstr>
      <vt:lpstr>A* Search makes use of both distance from start and distance to goal</vt:lpstr>
      <vt:lpstr>Example (1)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</vt:lpstr>
      <vt:lpstr>PowerPoint Presentation</vt:lpstr>
      <vt:lpstr>PowerPoint Presentation</vt:lpstr>
      <vt:lpstr>Comparisons on Best-first search and A-Star Search</vt:lpstr>
      <vt:lpstr>Optimality, Completeness, and Key Refinements</vt:lpstr>
      <vt:lpstr>Comparison of the Search Algorithms</vt:lpstr>
      <vt:lpstr>Self Study Guide</vt:lpstr>
      <vt:lpstr>Self Study Guide</vt:lpstr>
      <vt:lpstr>Self Study Guide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ITP4514 - Lecture 3</dc:title>
  <dc:creator>Miss Cindy Leung</dc:creator>
  <cp:lastModifiedBy>David HO</cp:lastModifiedBy>
  <cp:revision>129</cp:revision>
  <dcterms:created xsi:type="dcterms:W3CDTF">2017-08-01T15:40:51Z</dcterms:created>
  <dcterms:modified xsi:type="dcterms:W3CDTF">2025-09-16T17:47:19Z</dcterms:modified>
</cp:coreProperties>
</file>